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 and hackathon judges. Today I am presenting FileMind — an autonomous, high-throughput PDF vault and multimodal knowledge retrieval engine.</a:t>
            </a:r>
          </a:p>
          <a:p/>
          <a:p>
            <a:r>
              <a:t>Static PDF archives represent an impenetrable operational bottleneck in corporate and academic domains. FileMind re-engineers this experience from the ground up: combining sliding-window bulk ingestion for 150 documents, direct Google Gemini 3.6 multimodal analysis, and PostgreSQL vector embeddings.</a:t>
            </a:r>
          </a:p>
          <a:p/>
          <a:p>
            <a:r>
              <a:t>Our system enforces enterprise standards: atomic PostgreSQL advisory locks for quota integrity, strict Row-Level Security, and sub-200ms semantic 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FileMind is essential, look at how institutions manage documents today. Over 80% of institutional data is trapped in static, unstructured PDFs.</a:t>
            </a:r>
          </a:p>
          <a:p/>
          <a:p>
            <a:r>
              <a:t>When professors, researchers, or legal analysts search their file system, they are limited to matching file names. If a PDF is an image scan, a two-column research paper, or a complex financial sheet, the operating system is completely blind.</a:t>
            </a:r>
          </a:p>
          <a:p/>
          <a:p>
            <a:r>
              <a:t>Furthermore, existing desktop tools crash under heavy batches, and standard cloud folders lack granular row-level security. FileMind was engineered specifically to solve all three layers of this crisis.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highlights the fundamental architectural shift FileMind delivers.</a:t>
            </a:r>
          </a:p>
          <a:p/>
          <a:p>
            <a:r>
              <a:t>Traditional file systems treat documents as passive storage bins. If you don't recall the exact filename, the file is virtually lost. Traditional OCR also chokes on multi-column academic layouts or scanned contracts.</a:t>
            </a:r>
          </a:p>
          <a:p/>
          <a:p>
            <a:r>
              <a:t>With FileMind, the moment a PDF is uploaded, our pipeline transforms it into an active intelligence vault. Google Gemini 3.6 inspects the visual document natively, while our 768-dimensional embedding model indexes the text semantically. Users can ask natural questions and find answers in sub-200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numbers define the production engineering standards of FileMind.</a:t>
            </a:r>
          </a:p>
          <a:p/>
          <a:p>
            <a:r>
              <a:t>First, 150 files: users can drop up to 150 PDFs simultaneously without crashing the browser or exhausting serverless functions. Our sliding-window batch upload manager maintains at most 4 active uploads and 2 parallel AI worker threads.</a:t>
            </a:r>
          </a:p>
          <a:p/>
          <a:p>
            <a:r>
              <a:t>Second, Gemini 3.6: we ingest full PDFs into Google's Multimodal Files API to extract structured JSON metadata, including document category, topic tags, and key entities.</a:t>
            </a:r>
          </a:p>
          <a:p/>
          <a:p>
            <a:r>
              <a:t>Third, sub-200ms semantic search: our 768-dimensional vector engine is paired with an in-memory 500-entry LRU cache to eliminate cache stampedes and return instant answers.</a:t>
            </a:r>
          </a:p>
          <a:p/>
          <a:p>
            <a:r>
              <a:t>Fourth, 100% RLS: data isolation is enforced at the database level with PostgreSQL Row-Level Security and transactional advisory locks.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deterministic execution pipeline powering FileMind.</a:t>
            </a:r>
          </a:p>
          <a:p/>
          <a:p>
            <a:r>
              <a:t>Stage 1 is Ingest: the client validates magic bytes and streams files directly to private S3 storage with presigned URLs.</a:t>
            </a:r>
          </a:p>
          <a:p/>
          <a:p>
            <a:r>
              <a:t>Stage 2 is Verify: our database procedure executes pg_advisory_xact_lock to verify storage existence and enforce the user's 2 GB quota atomically.</a:t>
            </a:r>
          </a:p>
          <a:p/>
          <a:p>
            <a:r>
              <a:t>Stage 3 is Lock: distributed workers claim jobs with FOR UPDATE SKIP LOCKED and a cryptographic UUID fencing token to eliminate race conditions.</a:t>
            </a:r>
          </a:p>
          <a:p/>
          <a:p>
            <a:r>
              <a:t>Stage 4 is Understand: the PDF is passed to Google Gemini 3.6 Flash. If transient 503 errors occur, our cascade backs off and falls back seamlessly.</a:t>
            </a:r>
          </a:p>
          <a:p/>
          <a:p>
            <a:r>
              <a:t>Stage 5 is Index: results are validated against the fencing lease, 768-dimensional embeddings are generated and stored in pgvector, and the document is ready for instant retrieval.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screenshots show the actual, running FileMind interface captured directly from our production deployment.</a:t>
            </a:r>
          </a:p>
          <a:p/>
          <a:p>
            <a:r>
              <a:t>On the left is our Dashboard. It presents a clean, responsive workspace displaying real-time quota metrics — here showing 8.1 MB of our 2 GB quota utilized — alongside our drag-and-drop batch ingestion area.</a:t>
            </a:r>
          </a:p>
          <a:p/>
          <a:p>
            <a:r>
              <a:t>On the right is the Document Vault. As you can see, documents are not simply listed by file name. Google Gemini has categorized them into Financial Reports, Contracts, and Research Papers, and assigned semantic tags like #Finance, #Q3, and #Attention. Users can filter by status and launch the embedded viewer directly.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was chosen strictly for performance, type safety, and multi-tenant security.</a:t>
            </a:r>
          </a:p>
          <a:p/>
          <a:p>
            <a:r>
              <a:t>On the frontend, we run Next.js 16.3 with React 19.2 and Tailwind CSS v4. Next.js 16's after() function allows us to trigger asynchronous background processing without delaying client HTTP responses.</a:t>
            </a:r>
          </a:p>
          <a:p/>
          <a:p>
            <a:r>
              <a:t>On the backend, Supabase PostgreSQL acts as our single source of truth. We enforce Row-Level Security on every table. Storage quotas and queue claiming are executed inside PL/pgSQL stored procedures using transactional advisory locks to eliminate race conditions.</a:t>
            </a:r>
          </a:p>
          <a:p/>
          <a:p>
            <a:r>
              <a:t>For AI, we use Google Gemini 3.6 Flash. Unlike legacy OCR pipelines, Gemini parses visual layouts, tables, and images directly. We pair this with 768-dimensional pgvector embeddings and an in-memory 500-capacity LRU query cache.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FileMind's four-tier decoupled architecture.</a:t>
            </a:r>
          </a:p>
          <a:p/>
          <a:p>
            <a:r>
              <a:t>At the top, the Client Presentation Layer manages the interactive UI and our sliding-window upload manager. It controls concurrency directly in the browser, preventing server overload.</a:t>
            </a:r>
          </a:p>
          <a:p/>
          <a:p>
            <a:r>
              <a:t>Second, the Application Gateway handles routing and authentication via Supabase Auth JWT tokens. Using Next.js 16's after() API, long-running AI jobs continue processing even after HTTP responses are closed.</a:t>
            </a:r>
          </a:p>
          <a:p/>
          <a:p>
            <a:r>
              <a:t>Third, the Database &amp; Storage Tier provides our security perimeter. Row-Level Security prevents users from reading or mutating other tenants' records. Storage verification and quota checks run inside atomic database transactions.</a:t>
            </a:r>
          </a:p>
          <a:p/>
          <a:p>
            <a:r>
              <a:t>Finally, the AI Intelligence Tier handles Gemini multimodal analysis and vector embedding generation, supported by an in-memory LRU cache to eliminate redundant compute.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demonstrates why FileMind represents a distinct technological upgrade over traditional solutions.</a:t>
            </a:r>
          </a:p>
          <a:p/>
          <a:p>
            <a:r>
              <a:t>Local folders and generic cloud drives rely on filename matches or crude OCR that fails completely on multi-column papers and scanned invoices. FileMind understands documents natively via Google Gemini's multimodal vision and indexes their semantic meaning into 768-dimensional vector space.</a:t>
            </a:r>
          </a:p>
          <a:p/>
          <a:p>
            <a:r>
              <a:t>From a systems engineering standpoint, FileMind introduces client-side sliding-window concurrency handling 150 files, atomic database quotas, and strict multi-tenant Row-Level Security. It bridges the gap between raw file storage and production document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the engineering rigor behind FileMind. We solved four real-world engineering hurdles.</a:t>
            </a:r>
          </a:p>
          <a:p/>
          <a:p>
            <a:r>
              <a:t>First, model resilience: Gemini's public API occasionally spikes with 503 errors during high traffic. We engineered a 3-tier fallback cascade that shifts from Gemini 3.6 to 3.8 to flash-preview with exponential backoff.</a:t>
            </a:r>
          </a:p>
          <a:p/>
          <a:p>
            <a:r>
              <a:t>Second, serverless timeouts: processing 150 documents synchronously would easily exceed Next.js's 60-second limit. We split processing into a client sliding-window queue combined with Next.js after() background execution.</a:t>
            </a:r>
          </a:p>
          <a:p/>
          <a:p>
            <a:r>
              <a:t>Third, concurrency race conditions: when 4 uploads finish simultaneously, users could exceed their 2 GB quota. We implemented transactional PostgreSQL advisory locks to serialize confirmations atomically.</a:t>
            </a:r>
          </a:p>
          <a:p/>
          <a:p>
            <a:r>
              <a:t>Fourth, PDF optimization: aggressive compression can corrupt signed or encrypted PDFs. Our pipeline detects ByteRange signatures and Encrypt dictionaries to safely skip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we have established a clear 4-phase architectural roadmap.</a:t>
            </a:r>
          </a:p>
          <a:p/>
          <a:p>
            <a:r>
              <a:t>In Phase 2, we will enable multi-document synthesis, allowing users to query across their entire library to compare reports and identify trends.</a:t>
            </a:r>
          </a:p>
          <a:p/>
          <a:p>
            <a:r>
              <a:t>In Phase 3, we will add visual bounding-box citations directly on our PDF.js canvas, highlighting the exact sentence where an answer originated.</a:t>
            </a:r>
          </a:p>
          <a:p/>
          <a:p>
            <a:r>
              <a:t>In Phase 4, we plan to integrate local inference with Ollama and vLLM, making FileMind completely air-gapped for defense and healthcare compliance.</a:t>
            </a:r>
          </a:p>
          <a:p/>
          <a:p>
            <a:r>
              <a:t>Finally, in Phase 5, we will add multi-tenant team workspaces with role-based access control and cryptographic audit logging.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presentation: FileMind takes the friction out of document management. By bridging the gap between secure cloud storage and state-of-the-art multimodal AI, we transform dead PDF archives into dynamic knowledge bases.</a:t>
            </a:r>
          </a:p>
          <a:p/>
          <a:p>
            <a:r>
              <a:t>We have verified our implementation through automated test suites covering bulk upload concurrency, model fallbacks, and database security invariants.</a:t>
            </a:r>
          </a:p>
          <a:p/>
          <a:p>
            <a:r>
              <a:t>At this point, we would love to invite you to our live demonstration where we will drop a sample batch of documents and demonstrate real-time extraction and semantic search.</a:t>
            </a:r>
          </a:p>
          <a:p/>
          <a:p>
            <a:r>
              <a:t>Thank you for your time and guidance. We are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868680"/>
            <a:ext cx="4389120" cy="310896"/>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96112"/>
            <a:ext cx="4389120" cy="274320"/>
          </a:xfrm>
          <a:prstGeom prst="rect">
            <a:avLst/>
          </a:prstGeom>
          <a:noFill/>
        </p:spPr>
        <p:txBody>
          <a:bodyPr wrap="none">
            <a:spAutoFit/>
          </a:bodyPr>
          <a:lstStyle/>
          <a:p>
            <a:pPr algn="ctr">
              <a:defRPr sz="950" b="1">
                <a:solidFill>
                  <a:srgbClr val="C2410C"/>
                </a:solidFill>
                <a:latin typeface="Trebuchet MS"/>
              </a:defRPr>
            </a:pPr>
            <a:r>
              <a:t>ACADEMIC CAPSTONE  •  ANNUAL HACKATHON 2026</a:t>
            </a:r>
          </a:p>
        </p:txBody>
      </p:sp>
      <p:sp>
        <p:nvSpPr>
          <p:cNvPr id="5" name="TextBox 4"/>
          <p:cNvSpPr txBox="1"/>
          <p:nvPr/>
        </p:nvSpPr>
        <p:spPr>
          <a:xfrm>
            <a:off x="731520" y="1325880"/>
            <a:ext cx="10728655" cy="2103120"/>
          </a:xfrm>
          <a:prstGeom prst="rect">
            <a:avLst/>
          </a:prstGeom>
          <a:noFill/>
        </p:spPr>
        <p:txBody>
          <a:bodyPr wrap="square" lIns="0" tIns="0" rIns="0" bIns="0">
            <a:spAutoFit/>
          </a:bodyPr>
          <a:lstStyle/>
          <a:p>
            <a:pPr>
              <a:defRPr sz="5600" b="1">
                <a:solidFill>
                  <a:srgbClr val="0F172A"/>
                </a:solidFill>
                <a:latin typeface="Trebuchet MS"/>
              </a:defRPr>
            </a:pPr>
            <a:r>
              <a:t>FileMind</a:t>
            </a:r>
          </a:p>
          <a:p>
            <a:pPr>
              <a:spcBef>
                <a:spcPts val="400"/>
              </a:spcBef>
              <a:defRPr sz="2100" b="1">
                <a:solidFill>
                  <a:srgbClr val="C2410C"/>
                </a:solidFill>
                <a:latin typeface="Trebuchet MS"/>
              </a:defRPr>
            </a:pPr>
            <a:r>
              <a:t>Autonomous Multimodal PDF Vault &amp; High-Throughput Retrieval Engine</a:t>
            </a:r>
          </a:p>
          <a:p>
            <a:pPr>
              <a:spcBef>
                <a:spcPts val="800"/>
              </a:spcBef>
              <a:defRPr sz="1300">
                <a:solidFill>
                  <a:srgbClr val="475569"/>
                </a:solidFill>
                <a:latin typeface="Calibri"/>
              </a:defRPr>
            </a:pPr>
            <a:r>
              <a:t>An enterprise document intelligence architecture that transforms static, fragmented PDF archives into a secure, semantically searchable knowledge vault using Google Gemini 3.6 multimodal vision and PostgreSQL pgvector.</a:t>
            </a:r>
          </a:p>
        </p:txBody>
      </p:sp>
      <p:sp>
        <p:nvSpPr>
          <p:cNvPr id="6" name="Rectangle 5"/>
          <p:cNvSpPr/>
          <p:nvPr/>
        </p:nvSpPr>
        <p:spPr>
          <a:xfrm>
            <a:off x="731520" y="3794760"/>
            <a:ext cx="2468880" cy="13716"/>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931920"/>
            <a:ext cx="2468880" cy="1371600"/>
          </a:xfrm>
          <a:prstGeom prst="rect">
            <a:avLst/>
          </a:prstGeom>
          <a:noFill/>
        </p:spPr>
        <p:txBody>
          <a:bodyPr wrap="square" lIns="0" tIns="0" rIns="0" bIns="0">
            <a:spAutoFit/>
          </a:bodyPr>
          <a:lstStyle/>
          <a:p>
            <a:pPr>
              <a:defRPr sz="2200" b="1">
                <a:solidFill>
                  <a:srgbClr val="0F172A"/>
                </a:solidFill>
                <a:latin typeface="Trebuchet MS"/>
              </a:defRPr>
            </a:pPr>
            <a:r>
              <a:t>150 Files</a:t>
            </a:r>
          </a:p>
          <a:p>
            <a:pPr>
              <a:spcBef>
                <a:spcPts val="200"/>
              </a:spcBef>
              <a:defRPr sz="950" b="1">
                <a:solidFill>
                  <a:srgbClr val="C2410C"/>
                </a:solidFill>
                <a:latin typeface="Trebuchet MS"/>
              </a:defRPr>
            </a:pPr>
            <a:r>
              <a:t>CONCURRENT BATCHING</a:t>
            </a:r>
          </a:p>
          <a:p>
            <a:pPr>
              <a:spcBef>
                <a:spcPts val="400"/>
              </a:spcBef>
              <a:defRPr sz="1000">
                <a:solidFill>
                  <a:srgbClr val="475569"/>
                </a:solidFill>
                <a:latin typeface="Calibri"/>
              </a:defRPr>
            </a:pPr>
            <a:r>
              <a:t>Client-side sliding window; 4 uploads, 2 parallel AI worker threads.</a:t>
            </a:r>
          </a:p>
        </p:txBody>
      </p:sp>
      <p:sp>
        <p:nvSpPr>
          <p:cNvPr id="8" name="Rectangle 7"/>
          <p:cNvSpPr/>
          <p:nvPr/>
        </p:nvSpPr>
        <p:spPr>
          <a:xfrm>
            <a:off x="3483864" y="3794760"/>
            <a:ext cx="246888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83864" y="3931920"/>
            <a:ext cx="2468880" cy="1371600"/>
          </a:xfrm>
          <a:prstGeom prst="rect">
            <a:avLst/>
          </a:prstGeom>
          <a:noFill/>
        </p:spPr>
        <p:txBody>
          <a:bodyPr wrap="square" lIns="0" tIns="0" rIns="0" bIns="0">
            <a:spAutoFit/>
          </a:bodyPr>
          <a:lstStyle/>
          <a:p>
            <a:pPr>
              <a:defRPr sz="2200" b="1">
                <a:solidFill>
                  <a:srgbClr val="0F172A"/>
                </a:solidFill>
                <a:latin typeface="Trebuchet MS"/>
              </a:defRPr>
            </a:pPr>
            <a:r>
              <a:t>49 MiB</a:t>
            </a:r>
          </a:p>
          <a:p>
            <a:pPr>
              <a:spcBef>
                <a:spcPts val="200"/>
              </a:spcBef>
              <a:defRPr sz="950" b="1">
                <a:solidFill>
                  <a:srgbClr val="94A3B8"/>
                </a:solidFill>
                <a:latin typeface="Trebuchet MS"/>
              </a:defRPr>
            </a:pPr>
            <a:r>
              <a:t>MAX FILE LIMIT</a:t>
            </a:r>
          </a:p>
          <a:p>
            <a:pPr>
              <a:spcBef>
                <a:spcPts val="400"/>
              </a:spcBef>
              <a:defRPr sz="1000">
                <a:solidFill>
                  <a:srgbClr val="475569"/>
                </a:solidFill>
                <a:latin typeface="Calibri"/>
              </a:defRPr>
            </a:pPr>
            <a:r>
              <a:t>Direct-to-S3 streaming bypassing serverless memory limits.</a:t>
            </a:r>
          </a:p>
        </p:txBody>
      </p:sp>
      <p:sp>
        <p:nvSpPr>
          <p:cNvPr id="10" name="Rectangle 9"/>
          <p:cNvSpPr/>
          <p:nvPr/>
        </p:nvSpPr>
        <p:spPr>
          <a:xfrm>
            <a:off x="6236208" y="3794760"/>
            <a:ext cx="246888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3931920"/>
            <a:ext cx="2468880" cy="1371600"/>
          </a:xfrm>
          <a:prstGeom prst="rect">
            <a:avLst/>
          </a:prstGeom>
          <a:noFill/>
        </p:spPr>
        <p:txBody>
          <a:bodyPr wrap="square" lIns="0" tIns="0" rIns="0" bIns="0">
            <a:spAutoFit/>
          </a:bodyPr>
          <a:lstStyle/>
          <a:p>
            <a:pPr>
              <a:defRPr sz="2200" b="1">
                <a:solidFill>
                  <a:srgbClr val="0F172A"/>
                </a:solidFill>
                <a:latin typeface="Trebuchet MS"/>
              </a:defRPr>
            </a:pPr>
            <a:r>
              <a:t>&lt; 200 ms</a:t>
            </a:r>
          </a:p>
          <a:p>
            <a:pPr>
              <a:spcBef>
                <a:spcPts val="200"/>
              </a:spcBef>
              <a:defRPr sz="950" b="1">
                <a:solidFill>
                  <a:srgbClr val="94A3B8"/>
                </a:solidFill>
                <a:latin typeface="Trebuchet MS"/>
              </a:defRPr>
            </a:pPr>
            <a:r>
              <a:t>SEMANTIC RETRIEVAL</a:t>
            </a:r>
          </a:p>
          <a:p>
            <a:pPr>
              <a:spcBef>
                <a:spcPts val="400"/>
              </a:spcBef>
              <a:defRPr sz="1000">
                <a:solidFill>
                  <a:srgbClr val="475569"/>
                </a:solidFill>
                <a:latin typeface="Calibri"/>
              </a:defRPr>
            </a:pPr>
            <a:r>
              <a:t>768-dim vector embeddings paired with an in-memory 500-LRU cache.</a:t>
            </a:r>
          </a:p>
        </p:txBody>
      </p:sp>
      <p:sp>
        <p:nvSpPr>
          <p:cNvPr id="12" name="Rectangle 11"/>
          <p:cNvSpPr/>
          <p:nvPr/>
        </p:nvSpPr>
        <p:spPr>
          <a:xfrm>
            <a:off x="8988552" y="3794760"/>
            <a:ext cx="246888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88552" y="3931920"/>
            <a:ext cx="2468880" cy="1371600"/>
          </a:xfrm>
          <a:prstGeom prst="rect">
            <a:avLst/>
          </a:prstGeom>
          <a:noFill/>
        </p:spPr>
        <p:txBody>
          <a:bodyPr wrap="square" lIns="0" tIns="0" rIns="0" bIns="0">
            <a:spAutoFit/>
          </a:bodyPr>
          <a:lstStyle/>
          <a:p>
            <a:pPr>
              <a:defRPr sz="2200" b="1">
                <a:solidFill>
                  <a:srgbClr val="0F172A"/>
                </a:solidFill>
                <a:latin typeface="Trebuchet MS"/>
              </a:defRPr>
            </a:pPr>
            <a:r>
              <a:t>100% RLS</a:t>
            </a:r>
          </a:p>
          <a:p>
            <a:pPr>
              <a:spcBef>
                <a:spcPts val="200"/>
              </a:spcBef>
              <a:defRPr sz="950" b="1">
                <a:solidFill>
                  <a:srgbClr val="94A3B8"/>
                </a:solidFill>
                <a:latin typeface="Trebuchet MS"/>
              </a:defRPr>
            </a:pPr>
            <a:r>
              <a:t>DATABASE ISOLATION</a:t>
            </a:r>
          </a:p>
          <a:p>
            <a:pPr>
              <a:spcBef>
                <a:spcPts val="400"/>
              </a:spcBef>
              <a:defRPr sz="1000">
                <a:solidFill>
                  <a:srgbClr val="475569"/>
                </a:solidFill>
                <a:latin typeface="Calibri"/>
              </a:defRPr>
            </a:pPr>
            <a:r>
              <a:t>PostgreSQL Row-Level Security with transactional advisory locks.</a:t>
            </a:r>
          </a:p>
        </p:txBody>
      </p:sp>
      <p:sp>
        <p:nvSpPr>
          <p:cNvPr id="14" name="Rectangle 13"/>
          <p:cNvSpPr/>
          <p:nvPr/>
        </p:nvSpPr>
        <p:spPr>
          <a:xfrm>
            <a:off x="731520" y="5486400"/>
            <a:ext cx="10728655" cy="65836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650992"/>
            <a:ext cx="10241280" cy="365760"/>
          </a:xfrm>
          <a:prstGeom prst="rect">
            <a:avLst/>
          </a:prstGeom>
          <a:noFill/>
        </p:spPr>
        <p:txBody>
          <a:bodyPr wrap="none">
            <a:spAutoFit/>
          </a:bodyPr>
          <a:lstStyle/>
          <a:p>
            <a:pPr>
              <a:defRPr sz="1000">
                <a:solidFill>
                  <a:srgbClr val="475569"/>
                </a:solidFill>
                <a:latin typeface="Calibri"/>
              </a:defRPr>
            </a:pPr>
            <a:r>
              <a:t>Lead Architect: Computer Science Capstone Team   |   Evaluation Track: Academic Project &amp; Hackathon 2026   |   Demo: http://localhost:3000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01  /  CONTEXT &amp; PROBLEM DISCOVERY</a:t>
            </a:r>
          </a:p>
          <a:p>
            <a:pPr>
              <a:spcBef>
                <a:spcPts val="300"/>
              </a:spcBef>
              <a:defRPr sz="2400" b="1">
                <a:solidFill>
                  <a:srgbClr val="0F172A"/>
                </a:solidFill>
                <a:latin typeface="Trebuchet MS"/>
              </a:defRPr>
            </a:pPr>
            <a:r>
              <a:t>The Crisis of Unstructured Document Management</a:t>
            </a:r>
          </a:p>
          <a:p>
            <a:pPr>
              <a:spcBef>
                <a:spcPts val="200"/>
              </a:spcBef>
              <a:defRPr sz="1150">
                <a:solidFill>
                  <a:srgbClr val="475569"/>
                </a:solidFill>
                <a:latin typeface="Calibri"/>
              </a:defRPr>
            </a:pPr>
            <a:r>
              <a:t>Standard file systems treat PDFs as opaque binary blobs, creating severe knowledge fragmentation.</a:t>
            </a:r>
          </a:p>
        </p:txBody>
      </p:sp>
      <p:sp>
        <p:nvSpPr>
          <p:cNvPr id="4" name="Rectangle 3"/>
          <p:cNvSpPr/>
          <p:nvPr/>
        </p:nvSpPr>
        <p:spPr>
          <a:xfrm>
            <a:off x="731520" y="1920240"/>
            <a:ext cx="402336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194560"/>
            <a:ext cx="3383280" cy="3840480"/>
          </a:xfrm>
          <a:prstGeom prst="rect">
            <a:avLst/>
          </a:prstGeom>
          <a:noFill/>
        </p:spPr>
        <p:txBody>
          <a:bodyPr wrap="square" lIns="0" tIns="0" rIns="0" bIns="0">
            <a:spAutoFit/>
          </a:bodyPr>
          <a:lstStyle/>
          <a:p>
            <a:pPr>
              <a:defRPr sz="950" b="1">
                <a:solidFill>
                  <a:srgbClr val="C2410C"/>
                </a:solidFill>
                <a:latin typeface="Trebuchet MS"/>
              </a:defRPr>
            </a:pPr>
            <a:r>
              <a:t>THE ENTERPRISE DATA SILO</a:t>
            </a:r>
          </a:p>
          <a:p>
            <a:pPr>
              <a:spcBef>
                <a:spcPts val="200"/>
              </a:spcBef>
              <a:defRPr sz="6400" b="1">
                <a:solidFill>
                  <a:srgbClr val="0F172A"/>
                </a:solidFill>
                <a:latin typeface="Trebuchet MS"/>
              </a:defRPr>
            </a:pPr>
            <a:r>
              <a:t>80%</a:t>
            </a:r>
          </a:p>
          <a:p>
            <a:pPr>
              <a:spcBef>
                <a:spcPts val="200"/>
              </a:spcBef>
              <a:defRPr sz="1300" b="1">
                <a:solidFill>
                  <a:srgbClr val="C2410C"/>
                </a:solidFill>
                <a:latin typeface="Trebuchet MS"/>
              </a:defRPr>
            </a:pPr>
            <a:r>
              <a:t>of institutional knowledge is trapped inside unstructured documents (IDC / Gartner).</a:t>
            </a:r>
          </a:p>
          <a:p>
            <a:pPr>
              <a:spcBef>
                <a:spcPts val="1000"/>
              </a:spcBef>
              <a:defRPr sz="1100">
                <a:solidFill>
                  <a:srgbClr val="475569"/>
                </a:solidFill>
                <a:latin typeface="Calibri"/>
              </a:defRPr>
            </a:pPr>
            <a:r>
              <a:t>Knowledge workers lose 2.5 hours every day — nearly 20% of their work week — searching through disconnected folders just to locate contract clauses, invoice line items, and research tables.</a:t>
            </a:r>
          </a:p>
        </p:txBody>
      </p:sp>
      <p:sp>
        <p:nvSpPr>
          <p:cNvPr id="6" name="Rectangle 5"/>
          <p:cNvSpPr/>
          <p:nvPr/>
        </p:nvSpPr>
        <p:spPr>
          <a:xfrm>
            <a:off x="5029200" y="1920240"/>
            <a:ext cx="6430975" cy="13533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0" y="1920240"/>
            <a:ext cx="54864" cy="135331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49240" y="2103120"/>
            <a:ext cx="5928055" cy="1005840"/>
          </a:xfrm>
          <a:prstGeom prst="rect">
            <a:avLst/>
          </a:prstGeom>
          <a:noFill/>
        </p:spPr>
        <p:txBody>
          <a:bodyPr wrap="square" lIns="0" tIns="0" rIns="0" bIns="0">
            <a:spAutoFit/>
          </a:bodyPr>
          <a:lstStyle/>
          <a:p>
            <a:r>
              <a:rPr sz="1200" b="1">
                <a:solidFill>
                  <a:srgbClr val="C2410C"/>
                </a:solidFill>
                <a:latin typeface="Trebuchet MS"/>
              </a:rPr>
              <a:t>01  •  </a:t>
            </a:r>
            <a:r>
              <a:rPr sz="1300" b="1">
                <a:solidFill>
                  <a:srgbClr val="0F172A"/>
                </a:solidFill>
                <a:latin typeface="Trebuchet MS"/>
              </a:rPr>
              <a:t>Opaque Binary Files &amp; Keyword Blindness</a:t>
            </a:r>
          </a:p>
          <a:p>
            <a:pPr>
              <a:spcBef>
                <a:spcPts val="400"/>
              </a:spcBef>
              <a:defRPr sz="1050">
                <a:solidFill>
                  <a:srgbClr val="475569"/>
                </a:solidFill>
                <a:latin typeface="Calibri"/>
              </a:defRPr>
            </a:pPr>
            <a:r>
              <a:t>Operating systems index file titles only. Image PDFs, two-column papers, and scanned invoices remain completely invisible to traditional searches.</a:t>
            </a:r>
          </a:p>
        </p:txBody>
      </p:sp>
      <p:sp>
        <p:nvSpPr>
          <p:cNvPr id="9" name="Rectangle 8"/>
          <p:cNvSpPr/>
          <p:nvPr/>
        </p:nvSpPr>
        <p:spPr>
          <a:xfrm>
            <a:off x="5029200" y="3438144"/>
            <a:ext cx="6430975" cy="13533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0" y="3438144"/>
            <a:ext cx="54864" cy="135331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621024"/>
            <a:ext cx="5928055" cy="1005840"/>
          </a:xfrm>
          <a:prstGeom prst="rect">
            <a:avLst/>
          </a:prstGeom>
          <a:noFill/>
        </p:spPr>
        <p:txBody>
          <a:bodyPr wrap="square" lIns="0" tIns="0" rIns="0" bIns="0">
            <a:spAutoFit/>
          </a:bodyPr>
          <a:lstStyle/>
          <a:p>
            <a:r>
              <a:rPr sz="1200" b="1">
                <a:solidFill>
                  <a:srgbClr val="C2410C"/>
                </a:solidFill>
                <a:latin typeface="Trebuchet MS"/>
              </a:rPr>
              <a:t>02  •  </a:t>
            </a:r>
            <a:r>
              <a:rPr sz="1300" b="1">
                <a:solidFill>
                  <a:srgbClr val="0F172A"/>
                </a:solidFill>
                <a:latin typeface="Trebuchet MS"/>
              </a:rPr>
              <a:t>Manual Skimming &amp; Data Extraction Fatigue</a:t>
            </a:r>
          </a:p>
          <a:p>
            <a:pPr>
              <a:spcBef>
                <a:spcPts val="400"/>
              </a:spcBef>
              <a:defRPr sz="1050">
                <a:solidFill>
                  <a:srgbClr val="475569"/>
                </a:solidFill>
                <a:latin typeface="Calibri"/>
              </a:defRPr>
            </a:pPr>
            <a:r>
              <a:t>Locating specific facts (e.g. renewal dates, indemnity clauses, totals) forces manual file opening, repetitive skimming, and error-prone copy-pasting.</a:t>
            </a:r>
          </a:p>
        </p:txBody>
      </p:sp>
      <p:sp>
        <p:nvSpPr>
          <p:cNvPr id="12" name="Rectangle 11"/>
          <p:cNvSpPr/>
          <p:nvPr/>
        </p:nvSpPr>
        <p:spPr>
          <a:xfrm>
            <a:off x="5029200" y="4956048"/>
            <a:ext cx="6430975" cy="13533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0" y="4956048"/>
            <a:ext cx="54864" cy="135331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5138928"/>
            <a:ext cx="5928055" cy="1005840"/>
          </a:xfrm>
          <a:prstGeom prst="rect">
            <a:avLst/>
          </a:prstGeom>
          <a:noFill/>
        </p:spPr>
        <p:txBody>
          <a:bodyPr wrap="square" lIns="0" tIns="0" rIns="0" bIns="0">
            <a:spAutoFit/>
          </a:bodyPr>
          <a:lstStyle/>
          <a:p>
            <a:r>
              <a:rPr sz="1200" b="1">
                <a:solidFill>
                  <a:srgbClr val="C2410C"/>
                </a:solidFill>
                <a:latin typeface="Trebuchet MS"/>
              </a:rPr>
              <a:t>03  •  </a:t>
            </a:r>
            <a:r>
              <a:rPr sz="1300" b="1">
                <a:solidFill>
                  <a:srgbClr val="0F172A"/>
                </a:solidFill>
                <a:latin typeface="Trebuchet MS"/>
              </a:rPr>
              <a:t>Concurrency, Scale &amp; Security Vulnerabilities</a:t>
            </a:r>
          </a:p>
          <a:p>
            <a:pPr>
              <a:spcBef>
                <a:spcPts val="400"/>
              </a:spcBef>
              <a:defRPr sz="1050">
                <a:solidFill>
                  <a:srgbClr val="475569"/>
                </a:solidFill>
                <a:latin typeface="Calibri"/>
              </a:defRPr>
            </a:pPr>
            <a:r>
              <a:t>Desktop OCR tools crash on batches exceeding 50 files. Consumer cloud drives lack multi-tenant Row-Level Security, risking cross-tenant data leakage.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02  /  SOLUTION ARCHITECTURE</a:t>
            </a:r>
          </a:p>
          <a:p>
            <a:pPr>
              <a:spcBef>
                <a:spcPts val="300"/>
              </a:spcBef>
              <a:defRPr sz="2400" b="1">
                <a:solidFill>
                  <a:srgbClr val="0F172A"/>
                </a:solidFill>
                <a:latin typeface="Trebuchet MS"/>
              </a:defRPr>
            </a:pPr>
            <a:r>
              <a:t>The Paradigm Shift: From Passive Files to Active AI Vault</a:t>
            </a:r>
          </a:p>
          <a:p>
            <a:pPr>
              <a:spcBef>
                <a:spcPts val="200"/>
              </a:spcBef>
              <a:defRPr sz="1150">
                <a:solidFill>
                  <a:srgbClr val="475569"/>
                </a:solidFill>
                <a:latin typeface="Calibri"/>
              </a:defRPr>
            </a:pPr>
            <a:r>
              <a:t>How FileMind replaces fragile file trees with an autonomous, semantically searchable intelligence vault.</a:t>
            </a:r>
          </a:p>
        </p:txBody>
      </p:sp>
      <p:sp>
        <p:nvSpPr>
          <p:cNvPr id="4" name="Rectangle 3"/>
          <p:cNvSpPr/>
          <p:nvPr/>
        </p:nvSpPr>
        <p:spPr>
          <a:xfrm>
            <a:off x="731520" y="1920240"/>
            <a:ext cx="516636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920240"/>
            <a:ext cx="5166360" cy="54864"/>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94560"/>
            <a:ext cx="4526280" cy="3931920"/>
          </a:xfrm>
          <a:prstGeom prst="rect">
            <a:avLst/>
          </a:prstGeom>
          <a:noFill/>
        </p:spPr>
        <p:txBody>
          <a:bodyPr wrap="square" lIns="0" tIns="0" rIns="0" bIns="0">
            <a:spAutoFit/>
          </a:bodyPr>
          <a:lstStyle/>
          <a:p>
            <a:pPr>
              <a:defRPr sz="950" b="1">
                <a:solidFill>
                  <a:srgbClr val="B91C1C"/>
                </a:solidFill>
                <a:latin typeface="Trebuchet MS"/>
              </a:defRPr>
            </a:pPr>
            <a:r>
              <a:t>TRADITIONAL PDF STORAGE</a:t>
            </a:r>
          </a:p>
          <a:p>
            <a:pPr>
              <a:spcBef>
                <a:spcPts val="300"/>
              </a:spcBef>
              <a:defRPr sz="1550" b="1">
                <a:solidFill>
                  <a:srgbClr val="0F172A"/>
                </a:solidFill>
                <a:latin typeface="Trebuchet MS"/>
              </a:defRPr>
            </a:pPr>
            <a:r>
              <a:t>Passive, dumb folders with manual maintenance</a:t>
            </a:r>
          </a:p>
          <a:p>
            <a:pPr>
              <a:spcBef>
                <a:spcPts val="1200"/>
              </a:spcBef>
            </a:pPr>
            <a:r>
              <a:rPr sz="1100" b="1">
                <a:solidFill>
                  <a:srgbClr val="B91C1C"/>
                </a:solidFill>
                <a:latin typeface="Trebuchet MS"/>
              </a:rPr>
              <a:t>✕  </a:t>
            </a:r>
            <a:r>
              <a:rPr sz="1100" b="1">
                <a:solidFill>
                  <a:srgbClr val="0F172A"/>
                </a:solidFill>
                <a:latin typeface="Trebuchet MS"/>
              </a:rPr>
              <a:t>Exact Filename Search: </a:t>
            </a:r>
            <a:r>
              <a:rPr sz="1000">
                <a:solidFill>
                  <a:srgbClr val="475569"/>
                </a:solidFill>
                <a:latin typeface="Calibri"/>
              </a:rPr>
              <a:t>Fails if you don't recall the exact file title (e.g. 'report_final_v2.pdf').</a:t>
            </a:r>
          </a:p>
          <a:p>
            <a:pPr>
              <a:spcBef>
                <a:spcPts val="1200"/>
              </a:spcBef>
            </a:pPr>
            <a:r>
              <a:rPr sz="1100" b="1">
                <a:solidFill>
                  <a:srgbClr val="B91C1C"/>
                </a:solidFill>
                <a:latin typeface="Trebuchet MS"/>
              </a:rPr>
              <a:t>✕  </a:t>
            </a:r>
            <a:r>
              <a:rPr sz="1100" b="1">
                <a:solidFill>
                  <a:srgbClr val="0F172A"/>
                </a:solidFill>
                <a:latin typeface="Trebuchet MS"/>
              </a:rPr>
              <a:t>Blind to Scanned Text: </a:t>
            </a:r>
            <a:r>
              <a:rPr sz="1000">
                <a:solidFill>
                  <a:srgbClr val="475569"/>
                </a:solidFill>
                <a:latin typeface="Calibri"/>
              </a:rPr>
              <a:t>Image-based PDFs and scanned invoices cannot be parsed or indexed.</a:t>
            </a:r>
          </a:p>
          <a:p>
            <a:pPr>
              <a:spcBef>
                <a:spcPts val="1200"/>
              </a:spcBef>
            </a:pPr>
            <a:r>
              <a:rPr sz="1100" b="1">
                <a:solidFill>
                  <a:srgbClr val="B91C1C"/>
                </a:solidFill>
                <a:latin typeface="Trebuchet MS"/>
              </a:rPr>
              <a:t>✕  </a:t>
            </a:r>
            <a:r>
              <a:rPr sz="1100" b="1">
                <a:solidFill>
                  <a:srgbClr val="0F172A"/>
                </a:solidFill>
                <a:latin typeface="Trebuchet MS"/>
              </a:rPr>
              <a:t>Manual Fact Extraction: </a:t>
            </a:r>
            <a:r>
              <a:rPr sz="1000">
                <a:solidFill>
                  <a:srgbClr val="475569"/>
                </a:solidFill>
                <a:latin typeface="Calibri"/>
              </a:rPr>
              <a:t>Key numbers, renewal dates, and vendors must be typed out by hand.</a:t>
            </a:r>
          </a:p>
          <a:p>
            <a:pPr>
              <a:spcBef>
                <a:spcPts val="1200"/>
              </a:spcBef>
            </a:pPr>
            <a:r>
              <a:rPr sz="1100" b="1">
                <a:solidFill>
                  <a:srgbClr val="B91C1C"/>
                </a:solidFill>
                <a:latin typeface="Trebuchet MS"/>
              </a:rPr>
              <a:t>✕  </a:t>
            </a:r>
            <a:r>
              <a:rPr sz="1100" b="1">
                <a:solidFill>
                  <a:srgbClr val="0F172A"/>
                </a:solidFill>
                <a:latin typeface="Trebuchet MS"/>
              </a:rPr>
              <a:t>Zero Tenant Isolation: </a:t>
            </a:r>
            <a:r>
              <a:rPr sz="1000">
                <a:solidFill>
                  <a:srgbClr val="475569"/>
                </a:solidFill>
                <a:latin typeface="Calibri"/>
              </a:rPr>
              <a:t>Shared network folders risk accidental data leakage without database RLS.</a:t>
            </a:r>
          </a:p>
        </p:txBody>
      </p:sp>
      <p:sp>
        <p:nvSpPr>
          <p:cNvPr id="7" name="Rectangle 6"/>
          <p:cNvSpPr/>
          <p:nvPr/>
        </p:nvSpPr>
        <p:spPr>
          <a:xfrm>
            <a:off x="6263640" y="1920240"/>
            <a:ext cx="516636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63640" y="1920240"/>
            <a:ext cx="5166360" cy="54864"/>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194560"/>
            <a:ext cx="4526280" cy="3931920"/>
          </a:xfrm>
          <a:prstGeom prst="rect">
            <a:avLst/>
          </a:prstGeom>
          <a:noFill/>
        </p:spPr>
        <p:txBody>
          <a:bodyPr wrap="square" lIns="0" tIns="0" rIns="0" bIns="0">
            <a:spAutoFit/>
          </a:bodyPr>
          <a:lstStyle/>
          <a:p>
            <a:pPr>
              <a:defRPr sz="950" b="1">
                <a:solidFill>
                  <a:srgbClr val="C2410C"/>
                </a:solidFill>
                <a:latin typeface="Trebuchet MS"/>
              </a:defRPr>
            </a:pPr>
            <a:r>
              <a:t>THE FILEMIND INTELLIGENCE VAULT</a:t>
            </a:r>
          </a:p>
          <a:p>
            <a:pPr>
              <a:spcBef>
                <a:spcPts val="300"/>
              </a:spcBef>
              <a:defRPr sz="1550" b="1">
                <a:solidFill>
                  <a:srgbClr val="0F172A"/>
                </a:solidFill>
                <a:latin typeface="Trebuchet MS"/>
              </a:defRPr>
            </a:pPr>
            <a:r>
              <a:t>Autonomous multimodal indexing &amp; instant semantic answers</a:t>
            </a:r>
          </a:p>
          <a:p>
            <a:pPr>
              <a:spcBef>
                <a:spcPts val="1200"/>
              </a:spcBef>
            </a:pPr>
            <a:r>
              <a:rPr sz="1100" b="1">
                <a:solidFill>
                  <a:srgbClr val="047857"/>
                </a:solidFill>
                <a:latin typeface="Trebuchet MS"/>
              </a:rPr>
              <a:t>✓  </a:t>
            </a:r>
            <a:r>
              <a:rPr sz="1100" b="1">
                <a:solidFill>
                  <a:srgbClr val="0F172A"/>
                </a:solidFill>
                <a:latin typeface="Trebuchet MS"/>
              </a:rPr>
              <a:t>Semantic Concept Search: </a:t>
            </a:r>
            <a:r>
              <a:rPr sz="1000">
                <a:solidFill>
                  <a:srgbClr val="475569"/>
                </a:solidFill>
                <a:latin typeface="Calibri"/>
              </a:rPr>
              <a:t>Search by concept (e.g. 'server billing terms') without matching exact words.</a:t>
            </a:r>
          </a:p>
          <a:p>
            <a:pPr>
              <a:spcBef>
                <a:spcPts val="1200"/>
              </a:spcBef>
            </a:pPr>
            <a:r>
              <a:rPr sz="1100" b="1">
                <a:solidFill>
                  <a:srgbClr val="047857"/>
                </a:solidFill>
                <a:latin typeface="Trebuchet MS"/>
              </a:rPr>
              <a:t>✓  </a:t>
            </a:r>
            <a:r>
              <a:rPr sz="1100" b="1">
                <a:solidFill>
                  <a:srgbClr val="0F172A"/>
                </a:solidFill>
                <a:latin typeface="Trebuchet MS"/>
              </a:rPr>
              <a:t>Native Multimodal Vision: </a:t>
            </a:r>
            <a:r>
              <a:rPr sz="1000">
                <a:solidFill>
                  <a:srgbClr val="475569"/>
                </a:solidFill>
                <a:latin typeface="Calibri"/>
              </a:rPr>
              <a:t>Google Gemini 3.6 extracts category, semantic topic tags, and text from complex layouts.</a:t>
            </a:r>
          </a:p>
          <a:p>
            <a:pPr>
              <a:spcBef>
                <a:spcPts val="1200"/>
              </a:spcBef>
            </a:pPr>
            <a:r>
              <a:rPr sz="1100" b="1">
                <a:solidFill>
                  <a:srgbClr val="047857"/>
                </a:solidFill>
                <a:latin typeface="Trebuchet MS"/>
              </a:rPr>
              <a:t>✓  </a:t>
            </a:r>
            <a:r>
              <a:rPr sz="1100" b="1">
                <a:solidFill>
                  <a:srgbClr val="0F172A"/>
                </a:solidFill>
                <a:latin typeface="Trebuchet MS"/>
              </a:rPr>
              <a:t>Structured Schema Output: </a:t>
            </a:r>
            <a:r>
              <a:rPr sz="1000">
                <a:solidFill>
                  <a:srgbClr val="475569"/>
                </a:solidFill>
                <a:latin typeface="Calibri"/>
              </a:rPr>
              <a:t>Automatically outputs verified JSON metadata (invoice totals, contract parties, dates).</a:t>
            </a:r>
          </a:p>
          <a:p>
            <a:pPr>
              <a:spcBef>
                <a:spcPts val="1200"/>
              </a:spcBef>
            </a:pPr>
            <a:r>
              <a:rPr sz="1100" b="1">
                <a:solidFill>
                  <a:srgbClr val="047857"/>
                </a:solidFill>
                <a:latin typeface="Trebuchet MS"/>
              </a:rPr>
              <a:t>✓  </a:t>
            </a:r>
            <a:r>
              <a:rPr sz="1100" b="1">
                <a:solidFill>
                  <a:srgbClr val="0F172A"/>
                </a:solidFill>
                <a:latin typeface="Trebuchet MS"/>
              </a:rPr>
              <a:t>Database-Level RLS Security: </a:t>
            </a:r>
            <a:r>
              <a:rPr sz="1000">
                <a:solidFill>
                  <a:srgbClr val="475569"/>
                </a:solidFill>
                <a:latin typeface="Calibri"/>
              </a:rPr>
              <a:t>PostgreSQL Row-Level Security and transactional advisory locks prevent tenant cross-bleed.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03  /  SYSTEM CAPABILITIES</a:t>
            </a:r>
          </a:p>
          <a:p>
            <a:pPr>
              <a:spcBef>
                <a:spcPts val="300"/>
              </a:spcBef>
              <a:defRPr sz="2400" b="1">
                <a:solidFill>
                  <a:srgbClr val="0F172A"/>
                </a:solidFill>
                <a:latin typeface="Trebuchet MS"/>
              </a:defRPr>
            </a:pPr>
            <a:r>
              <a:t>Engineered for Scale, Security, and Sub-Second Retrieval</a:t>
            </a:r>
          </a:p>
          <a:p>
            <a:pPr>
              <a:spcBef>
                <a:spcPts val="200"/>
              </a:spcBef>
              <a:defRPr sz="1150">
                <a:solidFill>
                  <a:srgbClr val="475569"/>
                </a:solidFill>
                <a:latin typeface="Calibri"/>
              </a:defRPr>
            </a:pPr>
            <a:r>
              <a:t>Battle-tested architectural metrics verified in automated test suites and live deployments.</a:t>
            </a:r>
          </a:p>
        </p:txBody>
      </p:sp>
      <p:sp>
        <p:nvSpPr>
          <p:cNvPr id="4" name="Rectangle 3"/>
          <p:cNvSpPr/>
          <p:nvPr/>
        </p:nvSpPr>
        <p:spPr>
          <a:xfrm>
            <a:off x="731520" y="1920240"/>
            <a:ext cx="5166360" cy="208483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920240"/>
            <a:ext cx="54864" cy="2084831"/>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03120"/>
            <a:ext cx="4663440" cy="1764791"/>
          </a:xfrm>
          <a:prstGeom prst="rect">
            <a:avLst/>
          </a:prstGeom>
          <a:noFill/>
        </p:spPr>
        <p:txBody>
          <a:bodyPr wrap="square" lIns="0" tIns="0" rIns="0" bIns="0">
            <a:spAutoFit/>
          </a:bodyPr>
          <a:lstStyle/>
          <a:p>
            <a:r>
              <a:rPr sz="2000" b="1">
                <a:solidFill>
                  <a:srgbClr val="C2410C"/>
                </a:solidFill>
                <a:latin typeface="Trebuchet MS"/>
              </a:rPr>
              <a:t>150 Files  </a:t>
            </a:r>
            <a:r>
              <a:rPr sz="950" b="1">
                <a:solidFill>
                  <a:srgbClr val="94A3B8"/>
                </a:solidFill>
                <a:latin typeface="Trebuchet MS"/>
              </a:rPr>
              <a:t>•  BULK INGESTION ENGINE</a:t>
            </a:r>
          </a:p>
          <a:p>
            <a:pPr>
              <a:spcBef>
                <a:spcPts val="300"/>
              </a:spcBef>
              <a:defRPr sz="1300" b="1">
                <a:solidFill>
                  <a:srgbClr val="0F172A"/>
                </a:solidFill>
                <a:latin typeface="Trebuchet MS"/>
              </a:defRPr>
            </a:pPr>
            <a:r>
              <a:t>Sliding-Window Batch Concurrency</a:t>
            </a:r>
          </a:p>
          <a:p>
            <a:pPr>
              <a:spcBef>
                <a:spcPts val="400"/>
              </a:spcBef>
              <a:defRPr sz="1050">
                <a:solidFill>
                  <a:srgbClr val="475569"/>
                </a:solidFill>
                <a:latin typeface="Calibri"/>
              </a:defRPr>
            </a:pPr>
            <a:r>
              <a:t>Handles up to 150 PDFs per batch (up to 49 MiB each). Client-side sliding-window queue maintains 4 parallel upload streams and 2 parallel AI worker threads with per-file error isolation.</a:t>
            </a:r>
          </a:p>
        </p:txBody>
      </p:sp>
      <p:sp>
        <p:nvSpPr>
          <p:cNvPr id="7" name="Rectangle 6"/>
          <p:cNvSpPr/>
          <p:nvPr/>
        </p:nvSpPr>
        <p:spPr>
          <a:xfrm>
            <a:off x="6263640" y="1920240"/>
            <a:ext cx="5166360" cy="208483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63640" y="1920240"/>
            <a:ext cx="54864" cy="2084831"/>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103120"/>
            <a:ext cx="4663440" cy="1764791"/>
          </a:xfrm>
          <a:prstGeom prst="rect">
            <a:avLst/>
          </a:prstGeom>
          <a:noFill/>
        </p:spPr>
        <p:txBody>
          <a:bodyPr wrap="square" lIns="0" tIns="0" rIns="0" bIns="0">
            <a:spAutoFit/>
          </a:bodyPr>
          <a:lstStyle/>
          <a:p>
            <a:r>
              <a:rPr sz="2000" b="1">
                <a:solidFill>
                  <a:srgbClr val="0F172A"/>
                </a:solidFill>
                <a:latin typeface="Trebuchet MS"/>
              </a:rPr>
              <a:t>Gemini 3.6  </a:t>
            </a:r>
            <a:r>
              <a:rPr sz="950" b="1">
                <a:solidFill>
                  <a:srgbClr val="94A3B8"/>
                </a:solidFill>
                <a:latin typeface="Trebuchet MS"/>
              </a:rPr>
              <a:t>•  MULTIMODAL INTELLIGENCE</a:t>
            </a:r>
          </a:p>
          <a:p>
            <a:pPr>
              <a:spcBef>
                <a:spcPts val="300"/>
              </a:spcBef>
              <a:defRPr sz="1300" b="1">
                <a:solidFill>
                  <a:srgbClr val="0F172A"/>
                </a:solidFill>
                <a:latin typeface="Trebuchet MS"/>
              </a:defRPr>
            </a:pPr>
            <a:r>
              <a:t>Structured Schema Extraction</a:t>
            </a:r>
          </a:p>
          <a:p>
            <a:pPr>
              <a:spcBef>
                <a:spcPts val="400"/>
              </a:spcBef>
              <a:defRPr sz="1050">
                <a:solidFill>
                  <a:srgbClr val="475569"/>
                </a:solidFill>
                <a:latin typeface="Calibri"/>
              </a:defRPr>
            </a:pPr>
            <a:r>
              <a:t>Multimodal ingestion classifies documents (Invoice, Contract, Research, Report), parses complex tables, generates semantic topic tags, and enforces prompt injection defense via strict schemas.</a:t>
            </a:r>
          </a:p>
        </p:txBody>
      </p:sp>
      <p:sp>
        <p:nvSpPr>
          <p:cNvPr id="10" name="Rectangle 9"/>
          <p:cNvSpPr/>
          <p:nvPr/>
        </p:nvSpPr>
        <p:spPr>
          <a:xfrm>
            <a:off x="731520" y="4206240"/>
            <a:ext cx="5166360" cy="208483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206240"/>
            <a:ext cx="54864" cy="2084831"/>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389120"/>
            <a:ext cx="4663440" cy="1764791"/>
          </a:xfrm>
          <a:prstGeom prst="rect">
            <a:avLst/>
          </a:prstGeom>
          <a:noFill/>
        </p:spPr>
        <p:txBody>
          <a:bodyPr wrap="square" lIns="0" tIns="0" rIns="0" bIns="0">
            <a:spAutoFit/>
          </a:bodyPr>
          <a:lstStyle/>
          <a:p>
            <a:r>
              <a:rPr sz="2000" b="1">
                <a:solidFill>
                  <a:srgbClr val="047857"/>
                </a:solidFill>
                <a:latin typeface="Trebuchet MS"/>
              </a:rPr>
              <a:t>&lt; 200 ms  </a:t>
            </a:r>
            <a:r>
              <a:rPr sz="950" b="1">
                <a:solidFill>
                  <a:srgbClr val="94A3B8"/>
                </a:solidFill>
                <a:latin typeface="Trebuchet MS"/>
              </a:rPr>
              <a:t>•  SEARCH ACCELERATION</a:t>
            </a:r>
          </a:p>
          <a:p>
            <a:pPr>
              <a:spcBef>
                <a:spcPts val="300"/>
              </a:spcBef>
              <a:defRPr sz="1300" b="1">
                <a:solidFill>
                  <a:srgbClr val="0F172A"/>
                </a:solidFill>
                <a:latin typeface="Trebuchet MS"/>
              </a:defRPr>
            </a:pPr>
            <a:r>
              <a:t>Hybrid Semantic Vector Engine</a:t>
            </a:r>
          </a:p>
          <a:p>
            <a:pPr>
              <a:spcBef>
                <a:spcPts val="400"/>
              </a:spcBef>
              <a:defRPr sz="1050">
                <a:solidFill>
                  <a:srgbClr val="475569"/>
                </a:solidFill>
                <a:latin typeface="Calibri"/>
              </a:defRPr>
            </a:pPr>
            <a:r>
              <a:t>Cosine similarity search over 768-dimensional document embeddings paired with an in-memory 500-capacity LRU cache. Normalizes queries and collapses duplicate in-flight requests.</a:t>
            </a:r>
          </a:p>
        </p:txBody>
      </p:sp>
      <p:sp>
        <p:nvSpPr>
          <p:cNvPr id="13" name="Rectangle 12"/>
          <p:cNvSpPr/>
          <p:nvPr/>
        </p:nvSpPr>
        <p:spPr>
          <a:xfrm>
            <a:off x="6263640" y="4206240"/>
            <a:ext cx="5166360" cy="208483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206240"/>
            <a:ext cx="54864" cy="2084831"/>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389120"/>
            <a:ext cx="4663440" cy="1764791"/>
          </a:xfrm>
          <a:prstGeom prst="rect">
            <a:avLst/>
          </a:prstGeom>
          <a:noFill/>
        </p:spPr>
        <p:txBody>
          <a:bodyPr wrap="square" lIns="0" tIns="0" rIns="0" bIns="0">
            <a:spAutoFit/>
          </a:bodyPr>
          <a:lstStyle/>
          <a:p>
            <a:r>
              <a:rPr sz="2000" b="1">
                <a:solidFill>
                  <a:srgbClr val="B45309"/>
                </a:solidFill>
                <a:latin typeface="Trebuchet MS"/>
              </a:rPr>
              <a:t>100% RLS  </a:t>
            </a:r>
            <a:r>
              <a:rPr sz="950" b="1">
                <a:solidFill>
                  <a:srgbClr val="94A3B8"/>
                </a:solidFill>
                <a:latin typeface="Trebuchet MS"/>
              </a:rPr>
              <a:t>•  ENTERPRISE SECURITY</a:t>
            </a:r>
          </a:p>
          <a:p>
            <a:pPr>
              <a:spcBef>
                <a:spcPts val="300"/>
              </a:spcBef>
              <a:defRPr sz="1300" b="1">
                <a:solidFill>
                  <a:srgbClr val="0F172A"/>
                </a:solidFill>
                <a:latin typeface="Trebuchet MS"/>
              </a:defRPr>
            </a:pPr>
            <a:r>
              <a:t>Multi-Tenant Lease Isolation</a:t>
            </a:r>
          </a:p>
          <a:p>
            <a:pPr>
              <a:spcBef>
                <a:spcPts val="400"/>
              </a:spcBef>
              <a:defRPr sz="1050">
                <a:solidFill>
                  <a:srgbClr val="475569"/>
                </a:solidFill>
                <a:latin typeface="Calibri"/>
              </a:defRPr>
            </a:pPr>
            <a:r>
              <a:t>PostgreSQL Row-Level Security prevents tenant data cross-bleed. Distributed queue utilizes FOR UPDATE SKIP LOCKED and cryptographic UUID fencing tokens to eliminate double-locking.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04  /  EXECUTION PIPELINE</a:t>
            </a:r>
          </a:p>
          <a:p>
            <a:pPr>
              <a:spcBef>
                <a:spcPts val="300"/>
              </a:spcBef>
              <a:defRPr sz="2400" b="1">
                <a:solidFill>
                  <a:srgbClr val="0F172A"/>
                </a:solidFill>
                <a:latin typeface="Trebuchet MS"/>
              </a:defRPr>
            </a:pPr>
            <a:r>
              <a:t>Deterministic 5-Stage Ingestion &amp; Processing Lifecycle</a:t>
            </a:r>
          </a:p>
          <a:p>
            <a:pPr>
              <a:spcBef>
                <a:spcPts val="200"/>
              </a:spcBef>
              <a:defRPr sz="1150">
                <a:solidFill>
                  <a:srgbClr val="475569"/>
                </a:solidFill>
                <a:latin typeface="Calibri"/>
              </a:defRPr>
            </a:pPr>
            <a:r>
              <a:t>The exact end-to-end journey from client drag-and-drop to vector retrieval.</a:t>
            </a:r>
          </a:p>
        </p:txBody>
      </p:sp>
      <p:sp>
        <p:nvSpPr>
          <p:cNvPr id="4" name="Rectangle 3"/>
          <p:cNvSpPr/>
          <p:nvPr/>
        </p:nvSpPr>
        <p:spPr>
          <a:xfrm>
            <a:off x="731520" y="2084831"/>
            <a:ext cx="10728655"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920240"/>
            <a:ext cx="1261872" cy="347472"/>
          </a:xfrm>
          <a:prstGeom prst="roundRect">
            <a:avLst/>
          </a:prstGeom>
          <a:solidFill>
            <a:srgbClr val="FFFFFF"/>
          </a:solidFill>
          <a:ln w="1905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38528"/>
            <a:ext cx="1261872" cy="310896"/>
          </a:xfrm>
          <a:prstGeom prst="rect">
            <a:avLst/>
          </a:prstGeom>
          <a:noFill/>
        </p:spPr>
        <p:txBody>
          <a:bodyPr wrap="square" lIns="0" tIns="0" rIns="0" bIns="0">
            <a:spAutoFit/>
          </a:bodyPr>
          <a:lstStyle/>
          <a:p>
            <a:pPr algn="ctr">
              <a:defRPr sz="950" b="1">
                <a:solidFill>
                  <a:srgbClr val="C2410C"/>
                </a:solidFill>
                <a:latin typeface="Trebuchet MS"/>
              </a:defRPr>
            </a:pPr>
            <a:r>
              <a:t>01 · INGEST</a:t>
            </a:r>
          </a:p>
        </p:txBody>
      </p:sp>
      <p:sp>
        <p:nvSpPr>
          <p:cNvPr id="7" name="Rectangle 6"/>
          <p:cNvSpPr/>
          <p:nvPr/>
        </p:nvSpPr>
        <p:spPr>
          <a:xfrm>
            <a:off x="731520" y="2423160"/>
            <a:ext cx="1993392" cy="3063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542032"/>
            <a:ext cx="1664208" cy="2880360"/>
          </a:xfrm>
          <a:prstGeom prst="rect">
            <a:avLst/>
          </a:prstGeom>
          <a:noFill/>
        </p:spPr>
        <p:txBody>
          <a:bodyPr wrap="square" lIns="0" tIns="0" rIns="0" bIns="0">
            <a:spAutoFit/>
          </a:bodyPr>
          <a:lstStyle/>
          <a:p>
            <a:pPr>
              <a:defRPr sz="1200" b="1">
                <a:solidFill>
                  <a:srgbClr val="0F172A"/>
                </a:solidFill>
                <a:latin typeface="Trebuchet MS"/>
              </a:defRPr>
            </a:pPr>
            <a:r>
              <a:t>Client Batch Upload</a:t>
            </a:r>
          </a:p>
          <a:p>
            <a:pPr>
              <a:spcBef>
                <a:spcPts val="500"/>
              </a:spcBef>
            </a:pPr>
            <a:r>
              <a:rPr sz="850" b="1">
                <a:solidFill>
                  <a:srgbClr val="C2410C"/>
                </a:solidFill>
                <a:latin typeface="Trebuchet MS"/>
              </a:rPr>
              <a:t>Mechanism: </a:t>
            </a:r>
            <a:r>
              <a:rPr sz="850">
                <a:solidFill>
                  <a:srgbClr val="475569"/>
                </a:solidFill>
                <a:latin typeface="Calibri"/>
              </a:rPr>
              <a:t>Browser validates 49 MiB limit &amp; %PDF magic bytes.</a:t>
            </a:r>
          </a:p>
          <a:p>
            <a:pPr>
              <a:spcBef>
                <a:spcPts val="500"/>
              </a:spcBef>
            </a:pPr>
            <a:r>
              <a:rPr sz="850" b="1">
                <a:solidFill>
                  <a:srgbClr val="C2410C"/>
                </a:solidFill>
                <a:latin typeface="Trebuchet MS"/>
              </a:rPr>
              <a:t>Execution: </a:t>
            </a:r>
            <a:r>
              <a:rPr sz="850">
                <a:solidFill>
                  <a:srgbClr val="475569"/>
                </a:solidFill>
                <a:latin typeface="Calibri"/>
              </a:rPr>
              <a:t>Sliding-window queue streams files directly to Supabase S3.</a:t>
            </a:r>
          </a:p>
          <a:p>
            <a:pPr>
              <a:spcBef>
                <a:spcPts val="500"/>
              </a:spcBef>
            </a:pPr>
            <a:r>
              <a:rPr sz="850" b="1">
                <a:solidFill>
                  <a:srgbClr val="C2410C"/>
                </a:solidFill>
                <a:latin typeface="Trebuchet MS"/>
              </a:rPr>
              <a:t>Error Policy: </a:t>
            </a:r>
            <a:r>
              <a:rPr sz="850">
                <a:solidFill>
                  <a:srgbClr val="475569"/>
                </a:solidFill>
                <a:latin typeface="Calibri"/>
              </a:rPr>
              <a:t>Per-file retry; failure does not block batch.</a:t>
            </a:r>
          </a:p>
        </p:txBody>
      </p:sp>
      <p:sp>
        <p:nvSpPr>
          <p:cNvPr id="9" name="Rounded Rectangle 8"/>
          <p:cNvSpPr/>
          <p:nvPr/>
        </p:nvSpPr>
        <p:spPr>
          <a:xfrm>
            <a:off x="3273552" y="1920240"/>
            <a:ext cx="1261872" cy="347472"/>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73552" y="1938528"/>
            <a:ext cx="1261872" cy="310896"/>
          </a:xfrm>
          <a:prstGeom prst="rect">
            <a:avLst/>
          </a:prstGeom>
          <a:noFill/>
        </p:spPr>
        <p:txBody>
          <a:bodyPr wrap="square" lIns="0" tIns="0" rIns="0" bIns="0">
            <a:spAutoFit/>
          </a:bodyPr>
          <a:lstStyle/>
          <a:p>
            <a:pPr algn="ctr">
              <a:defRPr sz="950" b="1">
                <a:solidFill>
                  <a:srgbClr val="0F172A"/>
                </a:solidFill>
                <a:latin typeface="Trebuchet MS"/>
              </a:defRPr>
            </a:pPr>
            <a:r>
              <a:t>02 · VERIFY</a:t>
            </a:r>
          </a:p>
        </p:txBody>
      </p:sp>
      <p:sp>
        <p:nvSpPr>
          <p:cNvPr id="11" name="Rectangle 10"/>
          <p:cNvSpPr/>
          <p:nvPr/>
        </p:nvSpPr>
        <p:spPr>
          <a:xfrm>
            <a:off x="2907792" y="2423160"/>
            <a:ext cx="1993392" cy="3063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72384" y="2542032"/>
            <a:ext cx="1664208" cy="2880360"/>
          </a:xfrm>
          <a:prstGeom prst="rect">
            <a:avLst/>
          </a:prstGeom>
          <a:noFill/>
        </p:spPr>
        <p:txBody>
          <a:bodyPr wrap="square" lIns="0" tIns="0" rIns="0" bIns="0">
            <a:spAutoFit/>
          </a:bodyPr>
          <a:lstStyle/>
          <a:p>
            <a:pPr>
              <a:defRPr sz="1200" b="1">
                <a:solidFill>
                  <a:srgbClr val="0F172A"/>
                </a:solidFill>
                <a:latin typeface="Trebuchet MS"/>
              </a:defRPr>
            </a:pPr>
            <a:r>
              <a:t>Atomic Quota Check</a:t>
            </a:r>
          </a:p>
          <a:p>
            <a:pPr>
              <a:spcBef>
                <a:spcPts val="500"/>
              </a:spcBef>
            </a:pPr>
            <a:r>
              <a:rPr sz="850" b="1">
                <a:solidFill>
                  <a:srgbClr val="0F172A"/>
                </a:solidFill>
                <a:latin typeface="Trebuchet MS"/>
              </a:rPr>
              <a:t>Mechanism: </a:t>
            </a:r>
            <a:r>
              <a:rPr sz="850">
                <a:solidFill>
                  <a:srgbClr val="475569"/>
                </a:solidFill>
                <a:latin typeface="Calibri"/>
              </a:rPr>
              <a:t>Stored procedure executes pg_advisory_xact_lock(user_id).</a:t>
            </a:r>
          </a:p>
          <a:p>
            <a:pPr>
              <a:spcBef>
                <a:spcPts val="500"/>
              </a:spcBef>
            </a:pPr>
            <a:r>
              <a:rPr sz="850" b="1">
                <a:solidFill>
                  <a:srgbClr val="0F172A"/>
                </a:solidFill>
                <a:latin typeface="Trebuchet MS"/>
              </a:rPr>
              <a:t>Execution: </a:t>
            </a:r>
            <a:r>
              <a:rPr sz="850">
                <a:solidFill>
                  <a:srgbClr val="475569"/>
                </a:solidFill>
                <a:latin typeface="Calibri"/>
              </a:rPr>
              <a:t>Validates S3 object, checks 2 GB limit &amp; 250 docs/hr quota.</a:t>
            </a:r>
          </a:p>
          <a:p>
            <a:pPr>
              <a:spcBef>
                <a:spcPts val="500"/>
              </a:spcBef>
            </a:pPr>
            <a:r>
              <a:rPr sz="850" b="1">
                <a:solidFill>
                  <a:srgbClr val="0F172A"/>
                </a:solidFill>
                <a:latin typeface="Trebuchet MS"/>
              </a:rPr>
              <a:t>Error Policy: </a:t>
            </a:r>
            <a:r>
              <a:rPr sz="850">
                <a:solidFill>
                  <a:srgbClr val="475569"/>
                </a:solidFill>
                <a:latin typeface="Calibri"/>
              </a:rPr>
              <a:t>Atomic transaction rollback on quota breach.</a:t>
            </a:r>
          </a:p>
        </p:txBody>
      </p:sp>
      <p:sp>
        <p:nvSpPr>
          <p:cNvPr id="13" name="Rounded Rectangle 12"/>
          <p:cNvSpPr/>
          <p:nvPr/>
        </p:nvSpPr>
        <p:spPr>
          <a:xfrm>
            <a:off x="5449824" y="1920240"/>
            <a:ext cx="1261872" cy="347472"/>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9824" y="1938528"/>
            <a:ext cx="1261872" cy="310896"/>
          </a:xfrm>
          <a:prstGeom prst="rect">
            <a:avLst/>
          </a:prstGeom>
          <a:noFill/>
        </p:spPr>
        <p:txBody>
          <a:bodyPr wrap="square" lIns="0" tIns="0" rIns="0" bIns="0">
            <a:spAutoFit/>
          </a:bodyPr>
          <a:lstStyle/>
          <a:p>
            <a:pPr algn="ctr">
              <a:defRPr sz="950" b="1">
                <a:solidFill>
                  <a:srgbClr val="B45309"/>
                </a:solidFill>
                <a:latin typeface="Trebuchet MS"/>
              </a:defRPr>
            </a:pPr>
            <a:r>
              <a:t>03 · LOCK</a:t>
            </a:r>
          </a:p>
        </p:txBody>
      </p:sp>
      <p:sp>
        <p:nvSpPr>
          <p:cNvPr id="15" name="Rectangle 14"/>
          <p:cNvSpPr/>
          <p:nvPr/>
        </p:nvSpPr>
        <p:spPr>
          <a:xfrm>
            <a:off x="5084064" y="2423160"/>
            <a:ext cx="1993392" cy="3063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48656" y="2542032"/>
            <a:ext cx="1664208" cy="2880360"/>
          </a:xfrm>
          <a:prstGeom prst="rect">
            <a:avLst/>
          </a:prstGeom>
          <a:noFill/>
        </p:spPr>
        <p:txBody>
          <a:bodyPr wrap="square" lIns="0" tIns="0" rIns="0" bIns="0">
            <a:spAutoFit/>
          </a:bodyPr>
          <a:lstStyle/>
          <a:p>
            <a:pPr>
              <a:defRPr sz="1200" b="1">
                <a:solidFill>
                  <a:srgbClr val="0F172A"/>
                </a:solidFill>
                <a:latin typeface="Trebuchet MS"/>
              </a:defRPr>
            </a:pPr>
            <a:r>
              <a:t>Queue Lease Claim</a:t>
            </a:r>
          </a:p>
          <a:p>
            <a:pPr>
              <a:spcBef>
                <a:spcPts val="500"/>
              </a:spcBef>
            </a:pPr>
            <a:r>
              <a:rPr sz="850" b="1">
                <a:solidFill>
                  <a:srgbClr val="B45309"/>
                </a:solidFill>
                <a:latin typeface="Trebuchet MS"/>
              </a:rPr>
              <a:t>Mechanism: </a:t>
            </a:r>
            <a:r>
              <a:rPr sz="850">
                <a:solidFill>
                  <a:srgbClr val="475569"/>
                </a:solidFill>
                <a:latin typeface="Calibri"/>
              </a:rPr>
              <a:t>Background worker claims pending job.</a:t>
            </a:r>
          </a:p>
          <a:p>
            <a:pPr>
              <a:spcBef>
                <a:spcPts val="500"/>
              </a:spcBef>
            </a:pPr>
            <a:r>
              <a:rPr sz="850" b="1">
                <a:solidFill>
                  <a:srgbClr val="B45309"/>
                </a:solidFill>
                <a:latin typeface="Trebuchet MS"/>
              </a:rPr>
              <a:t>Execution: </a:t>
            </a:r>
            <a:r>
              <a:rPr sz="850">
                <a:solidFill>
                  <a:srgbClr val="475569"/>
                </a:solidFill>
                <a:latin typeface="Calibri"/>
              </a:rPr>
              <a:t>Runs FOR UPDATE SKIP LOCKED &amp; generates UUID fencing token.</a:t>
            </a:r>
          </a:p>
          <a:p>
            <a:pPr>
              <a:spcBef>
                <a:spcPts val="500"/>
              </a:spcBef>
            </a:pPr>
            <a:r>
              <a:rPr sz="850" b="1">
                <a:solidFill>
                  <a:srgbClr val="B45309"/>
                </a:solidFill>
                <a:latin typeface="Trebuchet MS"/>
              </a:rPr>
              <a:t>Error Policy: </a:t>
            </a:r>
            <a:r>
              <a:rPr sz="850">
                <a:solidFill>
                  <a:srgbClr val="475569"/>
                </a:solidFill>
                <a:latin typeface="Calibri"/>
              </a:rPr>
              <a:t>Eliminates double-locking &amp; auto-recovers stale jobs.</a:t>
            </a:r>
          </a:p>
        </p:txBody>
      </p:sp>
      <p:sp>
        <p:nvSpPr>
          <p:cNvPr id="17" name="Rounded Rectangle 16"/>
          <p:cNvSpPr/>
          <p:nvPr/>
        </p:nvSpPr>
        <p:spPr>
          <a:xfrm>
            <a:off x="7626096" y="1920240"/>
            <a:ext cx="1261872" cy="347472"/>
          </a:xfrm>
          <a:prstGeom prst="roundRect">
            <a:avLst/>
          </a:prstGeom>
          <a:solidFill>
            <a:srgbClr val="FFFFFF"/>
          </a:solidFill>
          <a:ln w="1905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6096" y="1938528"/>
            <a:ext cx="1261872" cy="310896"/>
          </a:xfrm>
          <a:prstGeom prst="rect">
            <a:avLst/>
          </a:prstGeom>
          <a:noFill/>
        </p:spPr>
        <p:txBody>
          <a:bodyPr wrap="square" lIns="0" tIns="0" rIns="0" bIns="0">
            <a:spAutoFit/>
          </a:bodyPr>
          <a:lstStyle/>
          <a:p>
            <a:pPr algn="ctr">
              <a:defRPr sz="950" b="1">
                <a:solidFill>
                  <a:srgbClr val="C2410C"/>
                </a:solidFill>
                <a:latin typeface="Trebuchet MS"/>
              </a:defRPr>
            </a:pPr>
            <a:r>
              <a:t>04 · UNDERSTAND</a:t>
            </a:r>
          </a:p>
        </p:txBody>
      </p:sp>
      <p:sp>
        <p:nvSpPr>
          <p:cNvPr id="19" name="Rectangle 18"/>
          <p:cNvSpPr/>
          <p:nvPr/>
        </p:nvSpPr>
        <p:spPr>
          <a:xfrm>
            <a:off x="7260336" y="2423160"/>
            <a:ext cx="1993392" cy="3063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24928" y="2542032"/>
            <a:ext cx="1664208" cy="2880360"/>
          </a:xfrm>
          <a:prstGeom prst="rect">
            <a:avLst/>
          </a:prstGeom>
          <a:noFill/>
        </p:spPr>
        <p:txBody>
          <a:bodyPr wrap="square" lIns="0" tIns="0" rIns="0" bIns="0">
            <a:spAutoFit/>
          </a:bodyPr>
          <a:lstStyle/>
          <a:p>
            <a:pPr>
              <a:defRPr sz="1200" b="1">
                <a:solidFill>
                  <a:srgbClr val="0F172A"/>
                </a:solidFill>
                <a:latin typeface="Trebuchet MS"/>
              </a:defRPr>
            </a:pPr>
            <a:r>
              <a:t>Multimodal Extraction</a:t>
            </a:r>
          </a:p>
          <a:p>
            <a:pPr>
              <a:spcBef>
                <a:spcPts val="500"/>
              </a:spcBef>
            </a:pPr>
            <a:r>
              <a:rPr sz="850" b="1">
                <a:solidFill>
                  <a:srgbClr val="C2410C"/>
                </a:solidFill>
                <a:latin typeface="Trebuchet MS"/>
              </a:rPr>
              <a:t>Mechanism: </a:t>
            </a:r>
            <a:r>
              <a:rPr sz="850">
                <a:solidFill>
                  <a:srgbClr val="475569"/>
                </a:solidFill>
                <a:latin typeface="Calibri"/>
              </a:rPr>
              <a:t>Streams PDF to Gemini Files API.</a:t>
            </a:r>
          </a:p>
          <a:p>
            <a:pPr>
              <a:spcBef>
                <a:spcPts val="500"/>
              </a:spcBef>
            </a:pPr>
            <a:r>
              <a:rPr sz="850" b="1">
                <a:solidFill>
                  <a:srgbClr val="C2410C"/>
                </a:solidFill>
                <a:latin typeface="Trebuchet MS"/>
              </a:rPr>
              <a:t>Execution: </a:t>
            </a:r>
            <a:r>
              <a:rPr sz="850">
                <a:solidFill>
                  <a:srgbClr val="475569"/>
                </a:solidFill>
                <a:latin typeface="Calibri"/>
              </a:rPr>
              <a:t>Model cascade (3.6-flash -&gt; 3.8-flash -&gt; preview) parses tags &amp; entities.</a:t>
            </a:r>
          </a:p>
          <a:p>
            <a:pPr>
              <a:spcBef>
                <a:spcPts val="500"/>
              </a:spcBef>
            </a:pPr>
            <a:r>
              <a:rPr sz="850" b="1">
                <a:solidFill>
                  <a:srgbClr val="C2410C"/>
                </a:solidFill>
                <a:latin typeface="Trebuchet MS"/>
              </a:rPr>
              <a:t>Error Policy: </a:t>
            </a:r>
            <a:r>
              <a:rPr sz="850">
                <a:solidFill>
                  <a:srgbClr val="475569"/>
                </a:solidFill>
                <a:latin typeface="Calibri"/>
              </a:rPr>
              <a:t>Bounded exponential backoff for 503/429 spikes.</a:t>
            </a:r>
          </a:p>
        </p:txBody>
      </p:sp>
      <p:sp>
        <p:nvSpPr>
          <p:cNvPr id="21" name="Rounded Rectangle 20"/>
          <p:cNvSpPr/>
          <p:nvPr/>
        </p:nvSpPr>
        <p:spPr>
          <a:xfrm>
            <a:off x="9802368" y="1920240"/>
            <a:ext cx="1261872" cy="347472"/>
          </a:xfrm>
          <a:prstGeom prst="roundRect">
            <a:avLst/>
          </a:prstGeom>
          <a:solidFill>
            <a:srgbClr val="FFFFFF"/>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2368" y="1938528"/>
            <a:ext cx="1261872" cy="310896"/>
          </a:xfrm>
          <a:prstGeom prst="rect">
            <a:avLst/>
          </a:prstGeom>
          <a:noFill/>
        </p:spPr>
        <p:txBody>
          <a:bodyPr wrap="square" lIns="0" tIns="0" rIns="0" bIns="0">
            <a:spAutoFit/>
          </a:bodyPr>
          <a:lstStyle/>
          <a:p>
            <a:pPr algn="ctr">
              <a:defRPr sz="950" b="1">
                <a:solidFill>
                  <a:srgbClr val="047857"/>
                </a:solidFill>
                <a:latin typeface="Trebuchet MS"/>
              </a:defRPr>
            </a:pPr>
            <a:r>
              <a:t>05 · INDEX</a:t>
            </a:r>
          </a:p>
        </p:txBody>
      </p:sp>
      <p:sp>
        <p:nvSpPr>
          <p:cNvPr id="23" name="Rectangle 22"/>
          <p:cNvSpPr/>
          <p:nvPr/>
        </p:nvSpPr>
        <p:spPr>
          <a:xfrm>
            <a:off x="9436608" y="2423160"/>
            <a:ext cx="1993392" cy="3063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0" y="2542032"/>
            <a:ext cx="1664208" cy="2880360"/>
          </a:xfrm>
          <a:prstGeom prst="rect">
            <a:avLst/>
          </a:prstGeom>
          <a:noFill/>
        </p:spPr>
        <p:txBody>
          <a:bodyPr wrap="square" lIns="0" tIns="0" rIns="0" bIns="0">
            <a:spAutoFit/>
          </a:bodyPr>
          <a:lstStyle/>
          <a:p>
            <a:pPr>
              <a:defRPr sz="1200" b="1">
                <a:solidFill>
                  <a:srgbClr val="0F172A"/>
                </a:solidFill>
                <a:latin typeface="Trebuchet MS"/>
              </a:defRPr>
            </a:pPr>
            <a:r>
              <a:t>Vector Index Commit</a:t>
            </a:r>
          </a:p>
          <a:p>
            <a:pPr>
              <a:spcBef>
                <a:spcPts val="500"/>
              </a:spcBef>
            </a:pPr>
            <a:r>
              <a:rPr sz="850" b="1">
                <a:solidFill>
                  <a:srgbClr val="047857"/>
                </a:solidFill>
                <a:latin typeface="Trebuchet MS"/>
              </a:rPr>
              <a:t>Mechanism: </a:t>
            </a:r>
            <a:r>
              <a:rPr sz="850">
                <a:solidFill>
                  <a:srgbClr val="475569"/>
                </a:solidFill>
                <a:latin typeface="Calibri"/>
              </a:rPr>
              <a:t>Worker commits metadata &amp; 768d embeddings.</a:t>
            </a:r>
          </a:p>
          <a:p>
            <a:pPr>
              <a:spcBef>
                <a:spcPts val="500"/>
              </a:spcBef>
            </a:pPr>
            <a:r>
              <a:rPr sz="850" b="1">
                <a:solidFill>
                  <a:srgbClr val="047857"/>
                </a:solidFill>
                <a:latin typeface="Trebuchet MS"/>
              </a:rPr>
              <a:t>Execution: </a:t>
            </a:r>
            <a:r>
              <a:rPr sz="850">
                <a:solidFill>
                  <a:srgbClr val="475569"/>
                </a:solidFill>
                <a:latin typeface="Calibri"/>
              </a:rPr>
              <a:t>Stores vectors in pgvector, marks 'ready', clears LRU cache.</a:t>
            </a:r>
          </a:p>
          <a:p>
            <a:pPr>
              <a:spcBef>
                <a:spcPts val="500"/>
              </a:spcBef>
            </a:pPr>
            <a:r>
              <a:rPr sz="850" b="1">
                <a:solidFill>
                  <a:srgbClr val="047857"/>
                </a:solidFill>
                <a:latin typeface="Trebuchet MS"/>
              </a:rPr>
              <a:t>Error Policy: </a:t>
            </a:r>
            <a:r>
              <a:rPr sz="850">
                <a:solidFill>
                  <a:srgbClr val="475569"/>
                </a:solidFill>
                <a:latin typeface="Calibri"/>
              </a:rPr>
              <a:t>Fencing token validated before commit.</a:t>
            </a:r>
          </a:p>
        </p:txBody>
      </p:sp>
      <p:sp>
        <p:nvSpPr>
          <p:cNvPr id="25" name="Rectangle 24"/>
          <p:cNvSpPr/>
          <p:nvPr/>
        </p:nvSpPr>
        <p:spPr>
          <a:xfrm>
            <a:off x="731520" y="5715000"/>
            <a:ext cx="10728655" cy="5943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833872"/>
            <a:ext cx="10241280" cy="365760"/>
          </a:xfrm>
          <a:prstGeom prst="rect">
            <a:avLst/>
          </a:prstGeom>
          <a:noFill/>
        </p:spPr>
        <p:txBody>
          <a:bodyPr wrap="none">
            <a:spAutoFit/>
          </a:bodyPr>
          <a:lstStyle/>
          <a:p>
            <a:pPr>
              <a:defRPr sz="1000">
                <a:solidFill>
                  <a:srgbClr val="475569"/>
                </a:solidFill>
                <a:latin typeface="Calibri"/>
              </a:defRPr>
            </a:pPr>
            <a:r>
              <a:t>Pipeline SLA: &lt; 4.5s per 10-page document  |  Concurrency Gate: Max 4 uploads / 2 AI workers  |  Integrity Guarantee: Atomic rollback on failure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05  /  PRODUCT INTERFACE</a:t>
            </a:r>
          </a:p>
          <a:p>
            <a:pPr>
              <a:spcBef>
                <a:spcPts val="300"/>
              </a:spcBef>
              <a:defRPr sz="2400" b="1">
                <a:solidFill>
                  <a:srgbClr val="0F172A"/>
                </a:solidFill>
                <a:latin typeface="Trebuchet MS"/>
              </a:defRPr>
            </a:pPr>
            <a:r>
              <a:t>Production Application Interface &amp; Workspace Experience</a:t>
            </a:r>
          </a:p>
          <a:p>
            <a:pPr>
              <a:spcBef>
                <a:spcPts val="200"/>
              </a:spcBef>
              <a:defRPr sz="1150">
                <a:solidFill>
                  <a:srgbClr val="475569"/>
                </a:solidFill>
                <a:latin typeface="Calibri"/>
              </a:defRPr>
            </a:pPr>
            <a:r>
              <a:t>Modern, pixel-perfect dark-mode web application built with Next.js 16 and Tailwind CSS.</a:t>
            </a:r>
          </a:p>
        </p:txBody>
      </p:sp>
      <p:sp>
        <p:nvSpPr>
          <p:cNvPr id="4" name="Rectangle 3"/>
          <p:cNvSpPr/>
          <p:nvPr/>
        </p:nvSpPr>
        <p:spPr>
          <a:xfrm>
            <a:off x="731520" y="1874519"/>
            <a:ext cx="5166360" cy="4434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74519"/>
            <a:ext cx="5166360" cy="310896"/>
          </a:xfrm>
          <a:prstGeom prst="rect">
            <a:avLst/>
          </a:prstGeom>
          <a:solidFill>
            <a:srgbClr val="F4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9383"/>
            <a:ext cx="4800600" cy="201168"/>
          </a:xfrm>
          <a:prstGeom prst="rect">
            <a:avLst/>
          </a:prstGeom>
          <a:noFill/>
        </p:spPr>
        <p:txBody>
          <a:bodyPr wrap="none">
            <a:spAutoFit/>
          </a:bodyPr>
          <a:lstStyle/>
          <a:p>
            <a:pPr>
              <a:defRPr sz="900">
                <a:solidFill>
                  <a:srgbClr val="475569"/>
                </a:solidFill>
                <a:latin typeface="Consolas"/>
              </a:defRPr>
            </a:pPr>
            <a:r>
              <a:t>● ● ●   https://filemind.vault/dashboard</a:t>
            </a:r>
          </a:p>
        </p:txBody>
      </p:sp>
      <p:pic>
        <p:nvPicPr>
          <p:cNvPr id="7" name="Picture 6" descr="01_dashboard.png"/>
          <p:cNvPicPr>
            <a:picLocks noChangeAspect="1"/>
          </p:cNvPicPr>
          <p:nvPr/>
        </p:nvPicPr>
        <p:blipFill>
          <a:blip r:embed="rId2"/>
          <a:stretch>
            <a:fillRect/>
          </a:stretch>
        </p:blipFill>
        <p:spPr>
          <a:xfrm>
            <a:off x="914400" y="2258567"/>
            <a:ext cx="4800600" cy="3000375"/>
          </a:xfrm>
          <a:prstGeom prst="rect">
            <a:avLst/>
          </a:prstGeom>
        </p:spPr>
      </p:pic>
      <p:sp>
        <p:nvSpPr>
          <p:cNvPr id="8" name="Rectangle 7"/>
          <p:cNvSpPr/>
          <p:nvPr/>
        </p:nvSpPr>
        <p:spPr>
          <a:xfrm>
            <a:off x="914400" y="5349239"/>
            <a:ext cx="48006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40679"/>
            <a:ext cx="4800600" cy="731520"/>
          </a:xfrm>
          <a:prstGeom prst="rect">
            <a:avLst/>
          </a:prstGeom>
          <a:noFill/>
        </p:spPr>
        <p:txBody>
          <a:bodyPr wrap="square" lIns="0" tIns="0" rIns="0" bIns="0">
            <a:spAutoFit/>
          </a:bodyPr>
          <a:lstStyle/>
          <a:p>
            <a:r>
              <a:rPr sz="1000" b="1">
                <a:solidFill>
                  <a:srgbClr val="C2410C"/>
                </a:solidFill>
                <a:latin typeface="Trebuchet MS"/>
              </a:rPr>
              <a:t>Dashboard &amp; Ingestion Zone: </a:t>
            </a:r>
            <a:r>
              <a:rPr sz="900">
                <a:solidFill>
                  <a:srgbClr val="475569"/>
                </a:solidFill>
                <a:latin typeface="Calibri"/>
              </a:rPr>
              <a:t>Displays live storage quota telemetry (8.1 MB used of 2 GB), 150-file bulk drag-and-drop dropzone with 49 MiB per-file validation, and real-time processing status.</a:t>
            </a:r>
          </a:p>
        </p:txBody>
      </p:sp>
      <p:sp>
        <p:nvSpPr>
          <p:cNvPr id="10" name="Rectangle 9"/>
          <p:cNvSpPr/>
          <p:nvPr/>
        </p:nvSpPr>
        <p:spPr>
          <a:xfrm>
            <a:off x="6263640" y="1874519"/>
            <a:ext cx="5166360" cy="4434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874519"/>
            <a:ext cx="5166360" cy="310896"/>
          </a:xfrm>
          <a:prstGeom prst="rect">
            <a:avLst/>
          </a:prstGeom>
          <a:solidFill>
            <a:srgbClr val="F4F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929383"/>
            <a:ext cx="4800600" cy="201168"/>
          </a:xfrm>
          <a:prstGeom prst="rect">
            <a:avLst/>
          </a:prstGeom>
          <a:noFill/>
        </p:spPr>
        <p:txBody>
          <a:bodyPr wrap="none">
            <a:spAutoFit/>
          </a:bodyPr>
          <a:lstStyle/>
          <a:p>
            <a:pPr>
              <a:defRPr sz="900">
                <a:solidFill>
                  <a:srgbClr val="475569"/>
                </a:solidFill>
                <a:latin typeface="Consolas"/>
              </a:defRPr>
            </a:pPr>
            <a:r>
              <a:t>● ● ●   https://filemind.vault/documents</a:t>
            </a:r>
          </a:p>
        </p:txBody>
      </p:sp>
      <p:pic>
        <p:nvPicPr>
          <p:cNvPr id="13" name="Picture 12" descr="03_documents_vault.png"/>
          <p:cNvPicPr>
            <a:picLocks noChangeAspect="1"/>
          </p:cNvPicPr>
          <p:nvPr/>
        </p:nvPicPr>
        <p:blipFill>
          <a:blip r:embed="rId3"/>
          <a:stretch>
            <a:fillRect/>
          </a:stretch>
        </p:blipFill>
        <p:spPr>
          <a:xfrm>
            <a:off x="6446520" y="2258567"/>
            <a:ext cx="4800600" cy="3000375"/>
          </a:xfrm>
          <a:prstGeom prst="rect">
            <a:avLst/>
          </a:prstGeom>
        </p:spPr>
      </p:pic>
      <p:sp>
        <p:nvSpPr>
          <p:cNvPr id="14" name="Rectangle 13"/>
          <p:cNvSpPr/>
          <p:nvPr/>
        </p:nvSpPr>
        <p:spPr>
          <a:xfrm>
            <a:off x="6446520" y="5349239"/>
            <a:ext cx="48006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5440679"/>
            <a:ext cx="4800600" cy="731520"/>
          </a:xfrm>
          <a:prstGeom prst="rect">
            <a:avLst/>
          </a:prstGeom>
          <a:noFill/>
        </p:spPr>
        <p:txBody>
          <a:bodyPr wrap="square" lIns="0" tIns="0" rIns="0" bIns="0">
            <a:spAutoFit/>
          </a:bodyPr>
          <a:lstStyle/>
          <a:p>
            <a:r>
              <a:rPr sz="1000" b="1">
                <a:solidFill>
                  <a:srgbClr val="C2410C"/>
                </a:solidFill>
                <a:latin typeface="Trebuchet MS"/>
              </a:rPr>
              <a:t>Documents Vault &amp; Semantic Explorer: </a:t>
            </a:r>
            <a:r>
              <a:rPr sz="900">
                <a:solidFill>
                  <a:srgbClr val="475569"/>
                </a:solidFill>
                <a:latin typeface="Calibri"/>
              </a:rPr>
              <a:t>Filterable document repository showing Gemini-extracted categories (Financial Report, Contract, Research), topic tags, and verified file statuses.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06  /  TECHNOLOGY STACK</a:t>
            </a:r>
          </a:p>
          <a:p>
            <a:pPr>
              <a:spcBef>
                <a:spcPts val="300"/>
              </a:spcBef>
              <a:defRPr sz="2400" b="1">
                <a:solidFill>
                  <a:srgbClr val="0F172A"/>
                </a:solidFill>
                <a:latin typeface="Trebuchet MS"/>
              </a:defRPr>
            </a:pPr>
            <a:r>
              <a:t>Modern, Type-Safe, Production Engineering Stack</a:t>
            </a:r>
          </a:p>
          <a:p>
            <a:pPr>
              <a:spcBef>
                <a:spcPts val="200"/>
              </a:spcBef>
              <a:defRPr sz="1150">
                <a:solidFill>
                  <a:srgbClr val="475569"/>
                </a:solidFill>
                <a:latin typeface="Calibri"/>
              </a:defRPr>
            </a:pPr>
            <a:r>
              <a:t>Engineered with production-grade frameworks ensuring performance, security, and developer ergonomics.</a:t>
            </a:r>
          </a:p>
        </p:txBody>
      </p:sp>
      <p:sp>
        <p:nvSpPr>
          <p:cNvPr id="4" name="Rectangle 3"/>
          <p:cNvSpPr/>
          <p:nvPr/>
        </p:nvSpPr>
        <p:spPr>
          <a:xfrm>
            <a:off x="731520" y="1920240"/>
            <a:ext cx="3364992"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920240"/>
            <a:ext cx="3364992" cy="54864"/>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48840"/>
            <a:ext cx="2907792" cy="4069080"/>
          </a:xfrm>
          <a:prstGeom prst="rect">
            <a:avLst/>
          </a:prstGeom>
          <a:noFill/>
        </p:spPr>
        <p:txBody>
          <a:bodyPr wrap="square" lIns="0" tIns="0" rIns="0" bIns="0">
            <a:spAutoFit/>
          </a:bodyPr>
          <a:lstStyle/>
          <a:p>
            <a:pPr>
              <a:defRPr sz="1050" b="1">
                <a:solidFill>
                  <a:srgbClr val="C2410C"/>
                </a:solidFill>
                <a:latin typeface="Trebuchet MS"/>
              </a:defRPr>
            </a:pPr>
            <a:r>
              <a:t>FRONTEND &amp; CLIENT RUNTIME</a:t>
            </a:r>
          </a:p>
          <a:p>
            <a:pPr>
              <a:spcBef>
                <a:spcPts val="900"/>
              </a:spcBef>
            </a:pPr>
            <a:r>
              <a:rPr sz="1050" b="1">
                <a:solidFill>
                  <a:srgbClr val="0F172A"/>
                </a:solidFill>
                <a:latin typeface="Trebuchet MS"/>
              </a:rPr>
              <a:t>• Next.js 16.3 (App Router)
</a:t>
            </a:r>
            <a:r>
              <a:rPr sz="900">
                <a:solidFill>
                  <a:srgbClr val="475569"/>
                </a:solidFill>
                <a:latin typeface="Calibri"/>
              </a:rPr>
              <a:t>Turbopack bundler for sub-second hot reloading, React Server Components, and Next.js 16 after() background execution.</a:t>
            </a:r>
          </a:p>
          <a:p>
            <a:pPr>
              <a:spcBef>
                <a:spcPts val="900"/>
              </a:spcBef>
            </a:pPr>
            <a:r>
              <a:rPr sz="1050" b="1">
                <a:solidFill>
                  <a:srgbClr val="0F172A"/>
                </a:solidFill>
                <a:latin typeface="Trebuchet MS"/>
              </a:rPr>
              <a:t>• React 19.2
</a:t>
            </a:r>
            <a:r>
              <a:rPr sz="900">
                <a:solidFill>
                  <a:srgbClr val="475569"/>
                </a:solidFill>
                <a:latin typeface="Calibri"/>
              </a:rPr>
              <a:t>Concurrent rendering architecture supporting streaming transitions and optimistic UI updates.</a:t>
            </a:r>
          </a:p>
          <a:p>
            <a:pPr>
              <a:spcBef>
                <a:spcPts val="900"/>
              </a:spcBef>
            </a:pPr>
            <a:r>
              <a:rPr sz="1050" b="1">
                <a:solidFill>
                  <a:srgbClr val="0F172A"/>
                </a:solidFill>
                <a:latin typeface="Trebuchet MS"/>
              </a:rPr>
              <a:t>• Tailwind CSS v4
</a:t>
            </a:r>
            <a:r>
              <a:rPr sz="900">
                <a:solidFill>
                  <a:srgbClr val="475569"/>
                </a:solidFill>
                <a:latin typeface="Calibri"/>
              </a:rPr>
              <a:t>High-contrast utility styles compiled ahead-of-time with zero heavy JavaScript CSS runtime overhead.</a:t>
            </a:r>
          </a:p>
          <a:p>
            <a:pPr>
              <a:spcBef>
                <a:spcPts val="900"/>
              </a:spcBef>
            </a:pPr>
            <a:r>
              <a:rPr sz="1050" b="1">
                <a:solidFill>
                  <a:srgbClr val="0F172A"/>
                </a:solidFill>
                <a:latin typeface="Trebuchet MS"/>
              </a:rPr>
              <a:t>• PDF.js &amp; Lucide React
</a:t>
            </a:r>
            <a:r>
              <a:rPr sz="900">
                <a:solidFill>
                  <a:srgbClr val="475569"/>
                </a:solidFill>
                <a:latin typeface="Calibri"/>
              </a:rPr>
              <a:t>Lossless client-side PDF document rendering paired with accessible, clean icon semantics.</a:t>
            </a:r>
          </a:p>
        </p:txBody>
      </p:sp>
      <p:sp>
        <p:nvSpPr>
          <p:cNvPr id="7" name="Rectangle 6"/>
          <p:cNvSpPr/>
          <p:nvPr/>
        </p:nvSpPr>
        <p:spPr>
          <a:xfrm>
            <a:off x="4416552" y="1920240"/>
            <a:ext cx="3364992"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16552" y="1920240"/>
            <a:ext cx="3364992" cy="54864"/>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2148840"/>
            <a:ext cx="2907792" cy="4069080"/>
          </a:xfrm>
          <a:prstGeom prst="rect">
            <a:avLst/>
          </a:prstGeom>
          <a:noFill/>
        </p:spPr>
        <p:txBody>
          <a:bodyPr wrap="square" lIns="0" tIns="0" rIns="0" bIns="0">
            <a:spAutoFit/>
          </a:bodyPr>
          <a:lstStyle/>
          <a:p>
            <a:pPr>
              <a:defRPr sz="1050" b="1">
                <a:solidFill>
                  <a:srgbClr val="0F172A"/>
                </a:solidFill>
                <a:latin typeface="Trebuchet MS"/>
              </a:defRPr>
            </a:pPr>
            <a:r>
              <a:t>DATA PLANE &amp; SECURITY PERIMETER</a:t>
            </a:r>
          </a:p>
          <a:p>
            <a:pPr>
              <a:spcBef>
                <a:spcPts val="900"/>
              </a:spcBef>
            </a:pPr>
            <a:r>
              <a:rPr sz="1050" b="1">
                <a:solidFill>
                  <a:srgbClr val="0F172A"/>
                </a:solidFill>
                <a:latin typeface="Trebuchet MS"/>
              </a:rPr>
              <a:t>• Supabase PostgreSQL 15+
</a:t>
            </a:r>
            <a:r>
              <a:rPr sz="900">
                <a:solidFill>
                  <a:srgbClr val="475569"/>
                </a:solidFill>
                <a:latin typeface="Calibri"/>
              </a:rPr>
              <a:t>Database Row-Level Security (RLS) guaranteeing strict multi-tenant vault isolation and data protection.</a:t>
            </a:r>
          </a:p>
          <a:p>
            <a:pPr>
              <a:spcBef>
                <a:spcPts val="900"/>
              </a:spcBef>
            </a:pPr>
            <a:r>
              <a:rPr sz="1050" b="1">
                <a:solidFill>
                  <a:srgbClr val="0F172A"/>
                </a:solidFill>
                <a:latin typeface="Trebuchet MS"/>
              </a:rPr>
              <a:t>• PL/pgSQL Atomic RPCs
</a:t>
            </a:r>
            <a:r>
              <a:rPr sz="900">
                <a:solidFill>
                  <a:srgbClr val="475569"/>
                </a:solidFill>
                <a:latin typeface="Calibri"/>
              </a:rPr>
              <a:t>Stored procedures: create_document_with_quota, claim_next_pending_document, and finalize_document_processing.</a:t>
            </a:r>
          </a:p>
          <a:p>
            <a:pPr>
              <a:spcBef>
                <a:spcPts val="900"/>
              </a:spcBef>
            </a:pPr>
            <a:r>
              <a:rPr sz="1050" b="1">
                <a:solidFill>
                  <a:srgbClr val="0F172A"/>
                </a:solidFill>
                <a:latin typeface="Trebuchet MS"/>
              </a:rPr>
              <a:t>• PostgreSQL Advisory Locks
</a:t>
            </a:r>
            <a:r>
              <a:rPr sz="900">
                <a:solidFill>
                  <a:srgbClr val="475569"/>
                </a:solidFill>
                <a:latin typeface="Calibri"/>
              </a:rPr>
              <a:t>Transactional locking via pg_advisory_xact_lock preventing concurrent quota circumvention.</a:t>
            </a:r>
          </a:p>
          <a:p>
            <a:pPr>
              <a:spcBef>
                <a:spcPts val="900"/>
              </a:spcBef>
            </a:pPr>
            <a:r>
              <a:rPr sz="1050" b="1">
                <a:solidFill>
                  <a:srgbClr val="0F172A"/>
                </a:solidFill>
                <a:latin typeface="Trebuchet MS"/>
              </a:rPr>
              <a:t>• Supabase S3 Private Storage
</a:t>
            </a:r>
            <a:r>
              <a:rPr sz="900">
                <a:solidFill>
                  <a:srgbClr val="475569"/>
                </a:solidFill>
                <a:latin typeface="Calibri"/>
              </a:rPr>
              <a:t>Private document bucket with authenticated presigned download URLs expiring in 120-300 seconds.</a:t>
            </a:r>
          </a:p>
        </p:txBody>
      </p:sp>
      <p:sp>
        <p:nvSpPr>
          <p:cNvPr id="10" name="Rectangle 9"/>
          <p:cNvSpPr/>
          <p:nvPr/>
        </p:nvSpPr>
        <p:spPr>
          <a:xfrm>
            <a:off x="8101584" y="1920240"/>
            <a:ext cx="3364992"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01584" y="1920240"/>
            <a:ext cx="3364992" cy="54864"/>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0184" y="2148840"/>
            <a:ext cx="2907792" cy="4069080"/>
          </a:xfrm>
          <a:prstGeom prst="rect">
            <a:avLst/>
          </a:prstGeom>
          <a:noFill/>
        </p:spPr>
        <p:txBody>
          <a:bodyPr wrap="square" lIns="0" tIns="0" rIns="0" bIns="0">
            <a:spAutoFit/>
          </a:bodyPr>
          <a:lstStyle/>
          <a:p>
            <a:pPr>
              <a:defRPr sz="1050" b="1">
                <a:solidFill>
                  <a:srgbClr val="047857"/>
                </a:solidFill>
                <a:latin typeface="Trebuchet MS"/>
              </a:defRPr>
            </a:pPr>
            <a:r>
              <a:t>AI COGNITION &amp; RETRIEVAL ENGINE</a:t>
            </a:r>
          </a:p>
          <a:p>
            <a:pPr>
              <a:spcBef>
                <a:spcPts val="900"/>
              </a:spcBef>
            </a:pPr>
            <a:r>
              <a:rPr sz="1050" b="1">
                <a:solidFill>
                  <a:srgbClr val="0F172A"/>
                </a:solidFill>
                <a:latin typeface="Trebuchet MS"/>
              </a:rPr>
              <a:t>• Google Gemini 3.6 Flash API
</a:t>
            </a:r>
            <a:r>
              <a:rPr sz="900">
                <a:solidFill>
                  <a:srgbClr val="475569"/>
                </a:solidFill>
                <a:latin typeface="Calibri"/>
              </a:rPr>
              <a:t>Direct PDF ingestion via Multimodal Files API with structured JSON schema output and prompt injection defense.</a:t>
            </a:r>
          </a:p>
          <a:p>
            <a:pPr>
              <a:spcBef>
                <a:spcPts val="900"/>
              </a:spcBef>
            </a:pPr>
            <a:r>
              <a:rPr sz="1050" b="1">
                <a:solidFill>
                  <a:srgbClr val="0F172A"/>
                </a:solidFill>
                <a:latin typeface="Trebuchet MS"/>
              </a:rPr>
              <a:t>• 3-Tier Fallback Cascade
</a:t>
            </a:r>
            <a:r>
              <a:rPr sz="900">
                <a:solidFill>
                  <a:srgbClr val="475569"/>
                </a:solidFill>
                <a:latin typeface="Calibri"/>
              </a:rPr>
              <a:t>Resilient fallbacks: gemini-3.6-flash -&gt; gemini-3.8-flash -&gt; preview with jittered backoff against 503 spikes.</a:t>
            </a:r>
          </a:p>
          <a:p>
            <a:pPr>
              <a:spcBef>
                <a:spcPts val="900"/>
              </a:spcBef>
            </a:pPr>
            <a:r>
              <a:rPr sz="1050" b="1">
                <a:solidFill>
                  <a:srgbClr val="0F172A"/>
                </a:solidFill>
                <a:latin typeface="Trebuchet MS"/>
              </a:rPr>
              <a:t>• Vector Embeddings (768-dim)
</a:t>
            </a:r>
            <a:r>
              <a:rPr sz="900">
                <a:solidFill>
                  <a:srgbClr val="475569"/>
                </a:solidFill>
                <a:latin typeface="Calibri"/>
              </a:rPr>
              <a:t>Hybrid semantic search utilizing pgvector cosine similarity for high-recall question answering.</a:t>
            </a:r>
          </a:p>
          <a:p>
            <a:pPr>
              <a:spcBef>
                <a:spcPts val="900"/>
              </a:spcBef>
            </a:pPr>
            <a:r>
              <a:rPr sz="1050" b="1">
                <a:solidFill>
                  <a:srgbClr val="0F172A"/>
                </a:solidFill>
                <a:latin typeface="Trebuchet MS"/>
              </a:rPr>
              <a:t>• In-Memory 500 LRU Cache
</a:t>
            </a:r>
            <a:r>
              <a:rPr sz="900">
                <a:solidFill>
                  <a:srgbClr val="475569"/>
                </a:solidFill>
                <a:latin typeface="Calibri"/>
              </a:rPr>
              <a:t>Normalizes user queries and collapses duplicate in-flight requests to eliminate cache stampedes.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07  /  SYSTEM ARCHITECTURE</a:t>
            </a:r>
          </a:p>
          <a:p>
            <a:pPr>
              <a:spcBef>
                <a:spcPts val="300"/>
              </a:spcBef>
              <a:defRPr sz="2400" b="1">
                <a:solidFill>
                  <a:srgbClr val="0F172A"/>
                </a:solidFill>
                <a:latin typeface="Trebuchet MS"/>
              </a:defRPr>
            </a:pPr>
            <a:r>
              <a:t>Decoupled Four-Tier Enterprise Architecture</a:t>
            </a:r>
          </a:p>
          <a:p>
            <a:pPr>
              <a:spcBef>
                <a:spcPts val="200"/>
              </a:spcBef>
              <a:defRPr sz="1150">
                <a:solidFill>
                  <a:srgbClr val="475569"/>
                </a:solidFill>
                <a:latin typeface="Calibri"/>
              </a:defRPr>
            </a:pPr>
            <a:r>
              <a:t>Clear separation of concerns across presentation, serverless routing, database security, and AI intelligence.</a:t>
            </a:r>
          </a:p>
        </p:txBody>
      </p:sp>
      <p:sp>
        <p:nvSpPr>
          <p:cNvPr id="4" name="Rectangle 3"/>
          <p:cNvSpPr/>
          <p:nvPr/>
        </p:nvSpPr>
        <p:spPr>
          <a:xfrm>
            <a:off x="731520" y="1920240"/>
            <a:ext cx="10728655" cy="78638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920240"/>
            <a:ext cx="73152" cy="786384"/>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11680"/>
            <a:ext cx="10271455" cy="603504"/>
          </a:xfrm>
          <a:prstGeom prst="rect">
            <a:avLst/>
          </a:prstGeom>
          <a:noFill/>
        </p:spPr>
        <p:txBody>
          <a:bodyPr wrap="square" lIns="0" tIns="0" rIns="0" bIns="0">
            <a:spAutoFit/>
          </a:bodyPr>
          <a:lstStyle/>
          <a:p>
            <a:pPr>
              <a:defRPr sz="1050" b="1">
                <a:solidFill>
                  <a:srgbClr val="C2410C"/>
                </a:solidFill>
                <a:latin typeface="Trebuchet MS"/>
              </a:defRPr>
            </a:pPr>
            <a:r>
              <a:t>CLIENT PRESENTATION LAYER</a:t>
            </a:r>
          </a:p>
          <a:p>
            <a:pPr>
              <a:spcBef>
                <a:spcPts val="200"/>
              </a:spcBef>
              <a:defRPr sz="950">
                <a:solidFill>
                  <a:srgbClr val="475569"/>
                </a:solidFill>
                <a:latin typeface="Calibri"/>
              </a:defRPr>
            </a:pPr>
            <a:r>
              <a:t>Browser App Router UI (Dashboard, Documents Vault, PDF.js Viewer, Semantic Search Explorer)</a:t>
            </a:r>
            <a:br/>
            <a:r>
              <a:t>Client-Side Sliding-Window Batch Queue Manager (Max 4 concurrent uploads, independent progress &amp; retry).</a:t>
            </a:r>
          </a:p>
        </p:txBody>
      </p:sp>
      <p:sp>
        <p:nvSpPr>
          <p:cNvPr id="7" name="TextBox 6"/>
          <p:cNvSpPr txBox="1"/>
          <p:nvPr/>
        </p:nvSpPr>
        <p:spPr>
          <a:xfrm>
            <a:off x="1371600" y="2724912"/>
            <a:ext cx="9357055" cy="292608"/>
          </a:xfrm>
          <a:prstGeom prst="rect">
            <a:avLst/>
          </a:prstGeom>
          <a:noFill/>
        </p:spPr>
        <p:txBody>
          <a:bodyPr wrap="none" lIns="0" tIns="0" rIns="0" bIns="0">
            <a:spAutoFit/>
          </a:bodyPr>
          <a:lstStyle/>
          <a:p>
            <a:pPr>
              <a:defRPr sz="850" b="1">
                <a:solidFill>
                  <a:srgbClr val="94A3B8"/>
                </a:solidFill>
                <a:latin typeface="Trebuchet MS"/>
              </a:defRPr>
            </a:pPr>
            <a:r>
              <a:t>↓ HTTPS Streaming Uploads with %PDF Magic Byte Validation</a:t>
            </a:r>
          </a:p>
        </p:txBody>
      </p:sp>
      <p:sp>
        <p:nvSpPr>
          <p:cNvPr id="8" name="Rectangle 7"/>
          <p:cNvSpPr/>
          <p:nvPr/>
        </p:nvSpPr>
        <p:spPr>
          <a:xfrm>
            <a:off x="731520" y="3054096"/>
            <a:ext cx="10728655" cy="78638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054096"/>
            <a:ext cx="73152" cy="786384"/>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145536"/>
            <a:ext cx="10271455" cy="603504"/>
          </a:xfrm>
          <a:prstGeom prst="rect">
            <a:avLst/>
          </a:prstGeom>
          <a:noFill/>
        </p:spPr>
        <p:txBody>
          <a:bodyPr wrap="square" lIns="0" tIns="0" rIns="0" bIns="0">
            <a:spAutoFit/>
          </a:bodyPr>
          <a:lstStyle/>
          <a:p>
            <a:pPr>
              <a:defRPr sz="1050" b="1">
                <a:solidFill>
                  <a:srgbClr val="0F172A"/>
                </a:solidFill>
                <a:latin typeface="Trebuchet MS"/>
              </a:defRPr>
            </a:pPr>
            <a:r>
              <a:t>APPLICATION GATEWAY &amp; SERVERLESS ROUTING</a:t>
            </a:r>
          </a:p>
          <a:p>
            <a:pPr>
              <a:spcBef>
                <a:spcPts val="200"/>
              </a:spcBef>
              <a:defRPr sz="950">
                <a:solidFill>
                  <a:srgbClr val="475569"/>
                </a:solidFill>
                <a:latin typeface="Calibri"/>
              </a:defRPr>
            </a:pPr>
            <a:r>
              <a:t>Next.js 16 Server Actions &amp; Edge API Routes (/api/documents, /api/search, /api/cron/process-queue)</a:t>
            </a:r>
            <a:br/>
            <a:r>
              <a:t>Execution Budgets with Next.js 16 after() &amp; Supabase Auth JWT Session Gateways.</a:t>
            </a:r>
          </a:p>
        </p:txBody>
      </p:sp>
      <p:sp>
        <p:nvSpPr>
          <p:cNvPr id="11" name="TextBox 10"/>
          <p:cNvSpPr txBox="1"/>
          <p:nvPr/>
        </p:nvSpPr>
        <p:spPr>
          <a:xfrm>
            <a:off x="1371600" y="3858768"/>
            <a:ext cx="9357055" cy="292608"/>
          </a:xfrm>
          <a:prstGeom prst="rect">
            <a:avLst/>
          </a:prstGeom>
          <a:noFill/>
        </p:spPr>
        <p:txBody>
          <a:bodyPr wrap="none" lIns="0" tIns="0" rIns="0" bIns="0">
            <a:spAutoFit/>
          </a:bodyPr>
          <a:lstStyle/>
          <a:p>
            <a:pPr>
              <a:defRPr sz="850" b="1">
                <a:solidFill>
                  <a:srgbClr val="94A3B8"/>
                </a:solidFill>
                <a:latin typeface="Trebuchet MS"/>
              </a:defRPr>
            </a:pPr>
            <a:r>
              <a:t>↓ Transactional Stored Procedure Calls &amp; PostgreSQL Row-Level Security</a:t>
            </a:r>
          </a:p>
        </p:txBody>
      </p:sp>
      <p:sp>
        <p:nvSpPr>
          <p:cNvPr id="12" name="Rectangle 11"/>
          <p:cNvSpPr/>
          <p:nvPr/>
        </p:nvSpPr>
        <p:spPr>
          <a:xfrm>
            <a:off x="731520" y="4187952"/>
            <a:ext cx="10728655" cy="78638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187952"/>
            <a:ext cx="73152" cy="786384"/>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279392"/>
            <a:ext cx="10271455" cy="603504"/>
          </a:xfrm>
          <a:prstGeom prst="rect">
            <a:avLst/>
          </a:prstGeom>
          <a:noFill/>
        </p:spPr>
        <p:txBody>
          <a:bodyPr wrap="square" lIns="0" tIns="0" rIns="0" bIns="0">
            <a:spAutoFit/>
          </a:bodyPr>
          <a:lstStyle/>
          <a:p>
            <a:pPr>
              <a:defRPr sz="1050" b="1">
                <a:solidFill>
                  <a:srgbClr val="047857"/>
                </a:solidFill>
                <a:latin typeface="Trebuchet MS"/>
              </a:defRPr>
            </a:pPr>
            <a:r>
              <a:t>DATABASE &amp; SECURE STORAGE TIER</a:t>
            </a:r>
          </a:p>
          <a:p>
            <a:pPr>
              <a:spcBef>
                <a:spcPts val="200"/>
              </a:spcBef>
              <a:defRPr sz="950">
                <a:solidFill>
                  <a:srgbClr val="475569"/>
                </a:solidFill>
                <a:latin typeface="Calibri"/>
              </a:defRPr>
            </a:pPr>
            <a:r>
              <a:t>Supabase PostgreSQL with Row-Level Security (RLS) preventing tenant cross-bleed</a:t>
            </a:r>
            <a:br/>
            <a:r>
              <a:t>Atomic PL/pgSQL RPCs with Transactional Advisory Locks  •  Private S3 Storage Bucket 'documents' with expiring URLs.</a:t>
            </a:r>
          </a:p>
        </p:txBody>
      </p:sp>
      <p:sp>
        <p:nvSpPr>
          <p:cNvPr id="15" name="TextBox 14"/>
          <p:cNvSpPr txBox="1"/>
          <p:nvPr/>
        </p:nvSpPr>
        <p:spPr>
          <a:xfrm>
            <a:off x="1371600" y="4992624"/>
            <a:ext cx="9357055" cy="292608"/>
          </a:xfrm>
          <a:prstGeom prst="rect">
            <a:avLst/>
          </a:prstGeom>
          <a:noFill/>
        </p:spPr>
        <p:txBody>
          <a:bodyPr wrap="none" lIns="0" tIns="0" rIns="0" bIns="0">
            <a:spAutoFit/>
          </a:bodyPr>
          <a:lstStyle/>
          <a:p>
            <a:pPr>
              <a:defRPr sz="850" b="1">
                <a:solidFill>
                  <a:srgbClr val="94A3B8"/>
                </a:solidFill>
                <a:latin typeface="Trebuchet MS"/>
              </a:defRPr>
            </a:pPr>
            <a:r>
              <a:t>↓ Distributed Queue Claiming via FOR UPDATE SKIP LOCKED &amp; UUID Fencing Tokens</a:t>
            </a:r>
          </a:p>
        </p:txBody>
      </p:sp>
      <p:sp>
        <p:nvSpPr>
          <p:cNvPr id="16" name="Rectangle 15"/>
          <p:cNvSpPr/>
          <p:nvPr/>
        </p:nvSpPr>
        <p:spPr>
          <a:xfrm>
            <a:off x="731520" y="5321808"/>
            <a:ext cx="10728655" cy="786384"/>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321808"/>
            <a:ext cx="73152" cy="786384"/>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413248"/>
            <a:ext cx="10271455" cy="603504"/>
          </a:xfrm>
          <a:prstGeom prst="rect">
            <a:avLst/>
          </a:prstGeom>
          <a:noFill/>
        </p:spPr>
        <p:txBody>
          <a:bodyPr wrap="square" lIns="0" tIns="0" rIns="0" bIns="0">
            <a:spAutoFit/>
          </a:bodyPr>
          <a:lstStyle/>
          <a:p>
            <a:pPr>
              <a:defRPr sz="1050" b="1">
                <a:solidFill>
                  <a:srgbClr val="B45309"/>
                </a:solidFill>
                <a:latin typeface="Trebuchet MS"/>
              </a:defRPr>
            </a:pPr>
            <a:r>
              <a:t>AI INTELLIGENCE &amp; ACCELERATION ENGINE</a:t>
            </a:r>
          </a:p>
          <a:p>
            <a:pPr>
              <a:spcBef>
                <a:spcPts val="200"/>
              </a:spcBef>
              <a:defRPr sz="950">
                <a:solidFill>
                  <a:srgbClr val="475569"/>
                </a:solidFill>
                <a:latin typeface="Calibri"/>
              </a:defRPr>
            </a:pPr>
            <a:r>
              <a:t>Google Gemini Multimodal Files API (Structured JSON Extraction, Category &amp; Key-Value Metadata)</a:t>
            </a:r>
            <a:br/>
            <a:r>
              <a:t>Vector Embeddings paired with in-memory 500-LRU Cache &amp; Lossless pdf-lib Stream Optimizer.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08  /  COMPETITIVE ANALYSIS</a:t>
            </a:r>
          </a:p>
          <a:p>
            <a:pPr>
              <a:spcBef>
                <a:spcPts val="300"/>
              </a:spcBef>
              <a:defRPr sz="2400" b="1">
                <a:solidFill>
                  <a:srgbClr val="0F172A"/>
                </a:solidFill>
                <a:latin typeface="Trebuchet MS"/>
              </a:defRPr>
            </a:pPr>
            <a:r>
              <a:t>Architectural Capability &amp; Feature Matrix</a:t>
            </a:r>
          </a:p>
          <a:p>
            <a:pPr>
              <a:spcBef>
                <a:spcPts val="200"/>
              </a:spcBef>
              <a:defRPr sz="1150">
                <a:solidFill>
                  <a:srgbClr val="475569"/>
                </a:solidFill>
                <a:latin typeface="Calibri"/>
              </a:defRPr>
            </a:pPr>
            <a:r>
              <a:t>Direct technical comparison against local operating system storage and generic cloud drives.</a:t>
            </a:r>
          </a:p>
        </p:txBody>
      </p:sp>
      <p:graphicFrame>
        <p:nvGraphicFramePr>
          <p:cNvPr id="4" name="Table 3"/>
          <p:cNvGraphicFramePr>
            <a:graphicFrameLocks noGrp="1"/>
          </p:cNvGraphicFramePr>
          <p:nvPr/>
        </p:nvGraphicFramePr>
        <p:xfrm>
          <a:off x="731520" y="1920240"/>
          <a:ext cx="10728655" cy="3657600"/>
        </p:xfrm>
        <a:graphic>
          <a:graphicData uri="http://schemas.openxmlformats.org/drawingml/2006/table">
            <a:tbl>
              <a:tblPr firstRow="1" bandRow="1">
                <a:tableStyleId>{5C22544A-7EE6-4342-B048-85BDC9FD1C3A}</a:tableStyleId>
              </a:tblPr>
              <a:tblGrid>
                <a:gridCol w="2560320"/>
                <a:gridCol w="2468880"/>
                <a:gridCol w="2468880"/>
                <a:gridCol w="3230575"/>
              </a:tblGrid>
              <a:tr h="609600">
                <a:tc>
                  <a:txBody>
                    <a:bodyPr wrap="square"/>
                    <a:lstStyle/>
                    <a:p>
                      <a:pPr>
                        <a:defRPr sz="1100" b="1">
                          <a:solidFill>
                            <a:srgbClr val="0F172A"/>
                          </a:solidFill>
                          <a:latin typeface="Trebuchet MS"/>
                        </a:defRPr>
                      </a:pPr>
                      <a:r>
                        <a:t>Core Capability</a:t>
                      </a:r>
                    </a:p>
                  </a:txBody>
                  <a:tcPr>
                    <a:solidFill>
                      <a:srgbClr val="F4F4F5"/>
                    </a:solidFill>
                  </a:tcPr>
                </a:tc>
                <a:tc>
                  <a:txBody>
                    <a:bodyPr wrap="square"/>
                    <a:lstStyle/>
                    <a:p>
                      <a:pPr>
                        <a:defRPr sz="1100" b="1">
                          <a:solidFill>
                            <a:srgbClr val="0F172A"/>
                          </a:solidFill>
                          <a:latin typeface="Trebuchet MS"/>
                        </a:defRPr>
                      </a:pPr>
                      <a:r>
                        <a:t>Local OS Folders</a:t>
                      </a:r>
                    </a:p>
                  </a:txBody>
                  <a:tcPr>
                    <a:solidFill>
                      <a:srgbClr val="F4F4F5"/>
                    </a:solidFill>
                  </a:tcPr>
                </a:tc>
                <a:tc>
                  <a:txBody>
                    <a:bodyPr wrap="square"/>
                    <a:lstStyle/>
                    <a:p>
                      <a:pPr>
                        <a:defRPr sz="1100" b="1">
                          <a:solidFill>
                            <a:srgbClr val="0F172A"/>
                          </a:solidFill>
                          <a:latin typeface="Trebuchet MS"/>
                        </a:defRPr>
                      </a:pPr>
                      <a:r>
                        <a:t>Generic Cloud Drive</a:t>
                      </a:r>
                    </a:p>
                  </a:txBody>
                  <a:tcPr>
                    <a:solidFill>
                      <a:srgbClr val="F4F4F5"/>
                    </a:solidFill>
                  </a:tcPr>
                </a:tc>
                <a:tc>
                  <a:txBody>
                    <a:bodyPr wrap="square"/>
                    <a:lstStyle/>
                    <a:p>
                      <a:pPr>
                        <a:defRPr sz="1100" b="1">
                          <a:solidFill>
                            <a:srgbClr val="C2410C"/>
                          </a:solidFill>
                          <a:latin typeface="Trebuchet MS"/>
                        </a:defRPr>
                      </a:pPr>
                      <a:r>
                        <a:t>FileMind AI Vault</a:t>
                      </a:r>
                    </a:p>
                  </a:txBody>
                  <a:tcPr>
                    <a:solidFill>
                      <a:srgbClr val="FFF7ED"/>
                    </a:solidFill>
                  </a:tcPr>
                </a:tc>
              </a:tr>
              <a:tr h="609600">
                <a:tc>
                  <a:txBody>
                    <a:bodyPr wrap="square"/>
                    <a:lstStyle/>
                    <a:p>
                      <a:pPr>
                        <a:defRPr sz="950">
                          <a:solidFill>
                            <a:srgbClr val="475569"/>
                          </a:solidFill>
                          <a:latin typeface="Calibri"/>
                        </a:defRPr>
                      </a:pPr>
                      <a:r>
                        <a:t>Search Methodology</a:t>
                      </a:r>
                    </a:p>
                  </a:txBody>
                  <a:tcPr>
                    <a:solidFill>
                      <a:srgbClr val="FFFFFF"/>
                    </a:solidFill>
                  </a:tcPr>
                </a:tc>
                <a:tc>
                  <a:txBody>
                    <a:bodyPr wrap="square"/>
                    <a:lstStyle/>
                    <a:p>
                      <a:pPr>
                        <a:defRPr sz="950">
                          <a:solidFill>
                            <a:srgbClr val="475569"/>
                          </a:solidFill>
                          <a:latin typeface="Calibri"/>
                        </a:defRPr>
                      </a:pPr>
                      <a:r>
                        <a:t>Exact filename match only</a:t>
                      </a:r>
                    </a:p>
                  </a:txBody>
                  <a:tcPr>
                    <a:solidFill>
                      <a:srgbClr val="FFFFFF"/>
                    </a:solidFill>
                  </a:tcPr>
                </a:tc>
                <a:tc>
                  <a:txBody>
                    <a:bodyPr wrap="square"/>
                    <a:lstStyle/>
                    <a:p>
                      <a:pPr>
                        <a:defRPr sz="950">
                          <a:solidFill>
                            <a:srgbClr val="475569"/>
                          </a:solidFill>
                          <a:latin typeface="Calibri"/>
                        </a:defRPr>
                      </a:pPr>
                      <a:r>
                        <a:t>Keyword match on text PDFs</a:t>
                      </a:r>
                    </a:p>
                  </a:txBody>
                  <a:tcPr>
                    <a:solidFill>
                      <a:srgbClr val="FFFFFF"/>
                    </a:solidFill>
                  </a:tcPr>
                </a:tc>
                <a:tc>
                  <a:txBody>
                    <a:bodyPr wrap="square"/>
                    <a:lstStyle/>
                    <a:p>
                      <a:pPr>
                        <a:defRPr sz="950" b="1">
                          <a:solidFill>
                            <a:srgbClr val="C2410C"/>
                          </a:solidFill>
                          <a:latin typeface="Calibri"/>
                        </a:defRPr>
                      </a:pPr>
                      <a:r>
                        <a:t>Semantic Vector Retrieval (768-dim embeddings)</a:t>
                      </a:r>
                    </a:p>
                  </a:txBody>
                  <a:tcPr>
                    <a:solidFill>
                      <a:srgbClr val="FFF7ED"/>
                    </a:solidFill>
                  </a:tcPr>
                </a:tc>
              </a:tr>
              <a:tr h="609600">
                <a:tc>
                  <a:txBody>
                    <a:bodyPr wrap="square"/>
                    <a:lstStyle/>
                    <a:p>
                      <a:pPr>
                        <a:defRPr sz="950">
                          <a:solidFill>
                            <a:srgbClr val="475569"/>
                          </a:solidFill>
                          <a:latin typeface="Calibri"/>
                        </a:defRPr>
                      </a:pPr>
                      <a:r>
                        <a:t>Multimodal Understanding</a:t>
                      </a:r>
                    </a:p>
                  </a:txBody>
                  <a:tcPr>
                    <a:solidFill>
                      <a:srgbClr val="F4F4F5"/>
                    </a:solidFill>
                  </a:tcPr>
                </a:tc>
                <a:tc>
                  <a:txBody>
                    <a:bodyPr wrap="square"/>
                    <a:lstStyle/>
                    <a:p>
                      <a:pPr>
                        <a:defRPr sz="950">
                          <a:solidFill>
                            <a:srgbClr val="475569"/>
                          </a:solidFill>
                          <a:latin typeface="Calibri"/>
                        </a:defRPr>
                      </a:pPr>
                      <a:r>
                        <a:t>None (Manual reading)</a:t>
                      </a:r>
                    </a:p>
                  </a:txBody>
                  <a:tcPr>
                    <a:solidFill>
                      <a:srgbClr val="F4F4F5"/>
                    </a:solidFill>
                  </a:tcPr>
                </a:tc>
                <a:tc>
                  <a:txBody>
                    <a:bodyPr wrap="square"/>
                    <a:lstStyle/>
                    <a:p>
                      <a:pPr>
                        <a:defRPr sz="950">
                          <a:solidFill>
                            <a:srgbClr val="475569"/>
                          </a:solidFill>
                          <a:latin typeface="Calibri"/>
                        </a:defRPr>
                      </a:pPr>
                      <a:r>
                        <a:t>Basic text OCR only</a:t>
                      </a:r>
                    </a:p>
                  </a:txBody>
                  <a:tcPr>
                    <a:solidFill>
                      <a:srgbClr val="F4F4F5"/>
                    </a:solidFill>
                  </a:tcPr>
                </a:tc>
                <a:tc>
                  <a:txBody>
                    <a:bodyPr wrap="square"/>
                    <a:lstStyle/>
                    <a:p>
                      <a:pPr>
                        <a:defRPr sz="950" b="1">
                          <a:solidFill>
                            <a:srgbClr val="C2410C"/>
                          </a:solidFill>
                          <a:latin typeface="Calibri"/>
                        </a:defRPr>
                      </a:pPr>
                      <a:r>
                        <a:t>Structured JSON Schema (Category, Tags, Key-Values)</a:t>
                      </a:r>
                    </a:p>
                  </a:txBody>
                  <a:tcPr>
                    <a:solidFill>
                      <a:srgbClr val="FFF7ED"/>
                    </a:solidFill>
                  </a:tcPr>
                </a:tc>
              </a:tr>
              <a:tr h="609600">
                <a:tc>
                  <a:txBody>
                    <a:bodyPr wrap="square"/>
                    <a:lstStyle/>
                    <a:p>
                      <a:pPr>
                        <a:defRPr sz="950">
                          <a:solidFill>
                            <a:srgbClr val="475569"/>
                          </a:solidFill>
                          <a:latin typeface="Calibri"/>
                        </a:defRPr>
                      </a:pPr>
                      <a:r>
                        <a:t>Scanned &amp; Image PDFs</a:t>
                      </a:r>
                    </a:p>
                  </a:txBody>
                  <a:tcPr>
                    <a:solidFill>
                      <a:srgbClr val="FFFFFF"/>
                    </a:solidFill>
                  </a:tcPr>
                </a:tc>
                <a:tc>
                  <a:txBody>
                    <a:bodyPr wrap="square"/>
                    <a:lstStyle/>
                    <a:p>
                      <a:pPr>
                        <a:defRPr sz="950">
                          <a:solidFill>
                            <a:srgbClr val="475569"/>
                          </a:solidFill>
                          <a:latin typeface="Calibri"/>
                        </a:defRPr>
                      </a:pPr>
                      <a:r>
                        <a:t>Opaque &amp; Inaccessible</a:t>
                      </a:r>
                    </a:p>
                  </a:txBody>
                  <a:tcPr>
                    <a:solidFill>
                      <a:srgbClr val="FFFFFF"/>
                    </a:solidFill>
                  </a:tcPr>
                </a:tc>
                <a:tc>
                  <a:txBody>
                    <a:bodyPr wrap="square"/>
                    <a:lstStyle/>
                    <a:p>
                      <a:pPr>
                        <a:defRPr sz="950">
                          <a:solidFill>
                            <a:srgbClr val="475569"/>
                          </a:solidFill>
                          <a:latin typeface="Calibri"/>
                        </a:defRPr>
                      </a:pPr>
                      <a:r>
                        <a:t>Garbled multi-column text</a:t>
                      </a:r>
                    </a:p>
                  </a:txBody>
                  <a:tcPr>
                    <a:solidFill>
                      <a:srgbClr val="FFFFFF"/>
                    </a:solidFill>
                  </a:tcPr>
                </a:tc>
                <a:tc>
                  <a:txBody>
                    <a:bodyPr wrap="square"/>
                    <a:lstStyle/>
                    <a:p>
                      <a:pPr>
                        <a:defRPr sz="950" b="1">
                          <a:solidFill>
                            <a:srgbClr val="C2410C"/>
                          </a:solidFill>
                          <a:latin typeface="Calibri"/>
                        </a:defRPr>
                      </a:pPr>
                      <a:r>
                        <a:t>100% Understood via Multimodal Vision AI</a:t>
                      </a:r>
                    </a:p>
                  </a:txBody>
                  <a:tcPr>
                    <a:solidFill>
                      <a:srgbClr val="FFF7ED"/>
                    </a:solidFill>
                  </a:tcPr>
                </a:tc>
              </a:tr>
              <a:tr h="609600">
                <a:tc>
                  <a:txBody>
                    <a:bodyPr wrap="square"/>
                    <a:lstStyle/>
                    <a:p>
                      <a:pPr>
                        <a:defRPr sz="950">
                          <a:solidFill>
                            <a:srgbClr val="475569"/>
                          </a:solidFill>
                          <a:latin typeface="Calibri"/>
                        </a:defRPr>
                      </a:pPr>
                      <a:r>
                        <a:t>Bulk Batch Processing</a:t>
                      </a:r>
                    </a:p>
                  </a:txBody>
                  <a:tcPr>
                    <a:solidFill>
                      <a:srgbClr val="F4F4F5"/>
                    </a:solidFill>
                  </a:tcPr>
                </a:tc>
                <a:tc>
                  <a:txBody>
                    <a:bodyPr wrap="square"/>
                    <a:lstStyle/>
                    <a:p>
                      <a:pPr>
                        <a:defRPr sz="950">
                          <a:solidFill>
                            <a:srgbClr val="475569"/>
                          </a:solidFill>
                          <a:latin typeface="Calibri"/>
                        </a:defRPr>
                      </a:pPr>
                      <a:r>
                        <a:t>OS File Copy (No validation)</a:t>
                      </a:r>
                    </a:p>
                  </a:txBody>
                  <a:tcPr>
                    <a:solidFill>
                      <a:srgbClr val="F4F4F5"/>
                    </a:solidFill>
                  </a:tcPr>
                </a:tc>
                <a:tc>
                  <a:txBody>
                    <a:bodyPr wrap="square"/>
                    <a:lstStyle/>
                    <a:p>
                      <a:pPr>
                        <a:defRPr sz="950">
                          <a:solidFill>
                            <a:srgbClr val="475569"/>
                          </a:solidFill>
                          <a:latin typeface="Calibri"/>
                        </a:defRPr>
                      </a:pPr>
                      <a:r>
                        <a:t>Slow sequential sync</a:t>
                      </a:r>
                    </a:p>
                  </a:txBody>
                  <a:tcPr>
                    <a:solidFill>
                      <a:srgbClr val="F4F4F5"/>
                    </a:solidFill>
                  </a:tcPr>
                </a:tc>
                <a:tc>
                  <a:txBody>
                    <a:bodyPr wrap="square"/>
                    <a:lstStyle/>
                    <a:p>
                      <a:pPr>
                        <a:defRPr sz="950" b="1">
                          <a:solidFill>
                            <a:srgbClr val="C2410C"/>
                          </a:solidFill>
                          <a:latin typeface="Calibri"/>
                        </a:defRPr>
                      </a:pPr>
                      <a:r>
                        <a:t>150-File Sliding Window (4x concurrent streams)</a:t>
                      </a:r>
                    </a:p>
                  </a:txBody>
                  <a:tcPr>
                    <a:solidFill>
                      <a:srgbClr val="FFF7ED"/>
                    </a:solidFill>
                  </a:tcPr>
                </a:tc>
              </a:tr>
              <a:tr h="609600">
                <a:tc>
                  <a:txBody>
                    <a:bodyPr wrap="square"/>
                    <a:lstStyle/>
                    <a:p>
                      <a:pPr>
                        <a:defRPr sz="950">
                          <a:solidFill>
                            <a:srgbClr val="475569"/>
                          </a:solidFill>
                          <a:latin typeface="Calibri"/>
                        </a:defRPr>
                      </a:pPr>
                      <a:r>
                        <a:t>Security &amp; Tenant Isolation</a:t>
                      </a:r>
                    </a:p>
                  </a:txBody>
                  <a:tcPr>
                    <a:solidFill>
                      <a:srgbClr val="FFFFFF"/>
                    </a:solidFill>
                  </a:tcPr>
                </a:tc>
                <a:tc>
                  <a:txBody>
                    <a:bodyPr wrap="square"/>
                    <a:lstStyle/>
                    <a:p>
                      <a:pPr>
                        <a:defRPr sz="950">
                          <a:solidFill>
                            <a:srgbClr val="475569"/>
                          </a:solidFill>
                          <a:latin typeface="Calibri"/>
                        </a:defRPr>
                      </a:pPr>
                      <a:r>
                        <a:t>Local user OS permissions</a:t>
                      </a:r>
                    </a:p>
                  </a:txBody>
                  <a:tcPr>
                    <a:solidFill>
                      <a:srgbClr val="FFFFFF"/>
                    </a:solidFill>
                  </a:tcPr>
                </a:tc>
                <a:tc>
                  <a:txBody>
                    <a:bodyPr wrap="square"/>
                    <a:lstStyle/>
                    <a:p>
                      <a:pPr>
                        <a:defRPr sz="950">
                          <a:solidFill>
                            <a:srgbClr val="475569"/>
                          </a:solidFill>
                          <a:latin typeface="Calibri"/>
                        </a:defRPr>
                      </a:pPr>
                      <a:r>
                        <a:t>Coarse folder sharing links</a:t>
                      </a:r>
                    </a:p>
                  </a:txBody>
                  <a:tcPr>
                    <a:solidFill>
                      <a:srgbClr val="FFFFFF"/>
                    </a:solidFill>
                  </a:tcPr>
                </a:tc>
                <a:tc>
                  <a:txBody>
                    <a:bodyPr wrap="square"/>
                    <a:lstStyle/>
                    <a:p>
                      <a:pPr>
                        <a:defRPr sz="950" b="1">
                          <a:solidFill>
                            <a:srgbClr val="C2410C"/>
                          </a:solidFill>
                          <a:latin typeface="Calibri"/>
                        </a:defRPr>
                      </a:pPr>
                      <a:r>
                        <a:t>Database Row-Level Security (RLS) &amp; Fencing Leases</a:t>
                      </a:r>
                    </a:p>
                  </a:txBody>
                  <a:tcPr>
                    <a:solidFill>
                      <a:srgbClr val="FFF7ED"/>
                    </a:solidFill>
                  </a:tcPr>
                </a:tc>
              </a:tr>
            </a:tbl>
          </a:graphicData>
        </a:graphic>
      </p:graphicFrame>
      <p:sp>
        <p:nvSpPr>
          <p:cNvPr id="5" name="Rectangle 4"/>
          <p:cNvSpPr/>
          <p:nvPr/>
        </p:nvSpPr>
        <p:spPr>
          <a:xfrm>
            <a:off x="731520" y="5715000"/>
            <a:ext cx="10728655" cy="5943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5833872"/>
            <a:ext cx="10241280" cy="365760"/>
          </a:xfrm>
          <a:prstGeom prst="rect">
            <a:avLst/>
          </a:prstGeom>
          <a:noFill/>
        </p:spPr>
        <p:txBody>
          <a:bodyPr wrap="none">
            <a:spAutoFit/>
          </a:bodyPr>
          <a:lstStyle/>
          <a:p>
            <a:pPr>
              <a:defRPr sz="1000">
                <a:solidFill>
                  <a:srgbClr val="475569"/>
                </a:solidFill>
                <a:latin typeface="Calibri"/>
              </a:defRPr>
            </a:pPr>
            <a:r>
              <a:t>Key Verdict: FileMind completely eliminates the tradeoff between file scale (150 files) and deep multimodal intelligence while guaranteeing 100% database isolation.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09  /  ENGINEERING RIGOR</a:t>
            </a:r>
          </a:p>
          <a:p>
            <a:pPr>
              <a:spcBef>
                <a:spcPts val="300"/>
              </a:spcBef>
              <a:defRPr sz="2400" b="1">
                <a:solidFill>
                  <a:srgbClr val="0F172A"/>
                </a:solidFill>
                <a:latin typeface="Trebuchet MS"/>
              </a:defRPr>
            </a:pPr>
            <a:r>
              <a:t>Technical Engineering Hurdles &amp; Verified Solutions</a:t>
            </a:r>
          </a:p>
          <a:p>
            <a:pPr>
              <a:spcBef>
                <a:spcPts val="200"/>
              </a:spcBef>
              <a:defRPr sz="1150">
                <a:solidFill>
                  <a:srgbClr val="475569"/>
                </a:solidFill>
                <a:latin typeface="Calibri"/>
              </a:defRPr>
            </a:pPr>
            <a:r>
              <a:t>Real software engineering obstacles encountered during development and the verified solutions implemented.</a:t>
            </a:r>
          </a:p>
        </p:txBody>
      </p:sp>
      <p:sp>
        <p:nvSpPr>
          <p:cNvPr id="4" name="Rectangle 3"/>
          <p:cNvSpPr/>
          <p:nvPr/>
        </p:nvSpPr>
        <p:spPr>
          <a:xfrm>
            <a:off x="731520" y="1920240"/>
            <a:ext cx="5166360" cy="208483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920240"/>
            <a:ext cx="54864" cy="2084831"/>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57400"/>
            <a:ext cx="4663440" cy="1856231"/>
          </a:xfrm>
          <a:prstGeom prst="rect">
            <a:avLst/>
          </a:prstGeom>
          <a:noFill/>
        </p:spPr>
        <p:txBody>
          <a:bodyPr wrap="square" lIns="0" tIns="0" rIns="0" bIns="0">
            <a:spAutoFit/>
          </a:bodyPr>
          <a:lstStyle/>
          <a:p>
            <a:pPr>
              <a:defRPr sz="1100" b="1">
                <a:solidFill>
                  <a:srgbClr val="0F172A"/>
                </a:solidFill>
                <a:latin typeface="Trebuchet MS"/>
              </a:defRPr>
            </a:pPr>
            <a:r>
              <a:t>1. Gemini 503 Spikes &amp; Model Fallback Cascade</a:t>
            </a:r>
          </a:p>
          <a:p>
            <a:pPr>
              <a:spcBef>
                <a:spcPts val="300"/>
              </a:spcBef>
            </a:pPr>
            <a:r>
              <a:rPr sz="900" b="1">
                <a:solidFill>
                  <a:srgbClr val="B91C1C"/>
                </a:solidFill>
                <a:latin typeface="Trebuchet MS"/>
              </a:rPr>
              <a:t>Failure Mode: </a:t>
            </a:r>
            <a:r>
              <a:rPr sz="850">
                <a:solidFill>
                  <a:srgbClr val="475569"/>
                </a:solidFill>
                <a:latin typeface="Calibri"/>
              </a:rPr>
              <a:t>During peak traffic, Google's standard Gemini tier returns 503 UNAVAILABLE, causing queue processing failures and stranded jobs.</a:t>
            </a:r>
          </a:p>
          <a:p>
            <a:pPr>
              <a:spcBef>
                <a:spcPts val="300"/>
              </a:spcBef>
            </a:pPr>
            <a:r>
              <a:rPr sz="900" b="1">
                <a:solidFill>
                  <a:srgbClr val="C2410C"/>
                </a:solidFill>
                <a:latin typeface="Trebuchet MS"/>
              </a:rPr>
              <a:t>Verified Solution: </a:t>
            </a:r>
            <a:r>
              <a:rPr sz="850">
                <a:solidFill>
                  <a:srgbClr val="475569"/>
                </a:solidFill>
                <a:latin typeface="Calibri"/>
              </a:rPr>
              <a:t>Engineered an intelligent 3-tier cascade: gemini-3.6-flash -&gt; gemini-3.8-flash -&gt; gemini-3-flash-preview with jittered exponential backoff.</a:t>
            </a:r>
          </a:p>
          <a:p>
            <a:pPr>
              <a:spcBef>
                <a:spcPts val="300"/>
              </a:spcBef>
            </a:pPr>
            <a:r>
              <a:rPr sz="900" b="1">
                <a:solidFill>
                  <a:srgbClr val="94A3B8"/>
                </a:solidFill>
                <a:latin typeface="Trebuchet MS"/>
              </a:rPr>
              <a:t>Codebase Verification: </a:t>
            </a:r>
            <a:r>
              <a:rPr sz="850">
                <a:solidFill>
                  <a:srgbClr val="475569"/>
                </a:solidFill>
                <a:latin typeface="Calibri"/>
              </a:rPr>
              <a:t>lib/ai/processor.ts with bounded retry thresholds and safe error redaction.</a:t>
            </a:r>
          </a:p>
        </p:txBody>
      </p:sp>
      <p:sp>
        <p:nvSpPr>
          <p:cNvPr id="7" name="Rectangle 6"/>
          <p:cNvSpPr/>
          <p:nvPr/>
        </p:nvSpPr>
        <p:spPr>
          <a:xfrm>
            <a:off x="6263640" y="1920240"/>
            <a:ext cx="5166360" cy="208483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63640" y="1920240"/>
            <a:ext cx="54864" cy="2084831"/>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057400"/>
            <a:ext cx="4663440" cy="1856231"/>
          </a:xfrm>
          <a:prstGeom prst="rect">
            <a:avLst/>
          </a:prstGeom>
          <a:noFill/>
        </p:spPr>
        <p:txBody>
          <a:bodyPr wrap="square" lIns="0" tIns="0" rIns="0" bIns="0">
            <a:spAutoFit/>
          </a:bodyPr>
          <a:lstStyle/>
          <a:p>
            <a:pPr>
              <a:defRPr sz="1100" b="1">
                <a:solidFill>
                  <a:srgbClr val="0F172A"/>
                </a:solidFill>
                <a:latin typeface="Trebuchet MS"/>
              </a:defRPr>
            </a:pPr>
            <a:r>
              <a:t>2. Serverless Execution Budgets on 150-File Batches</a:t>
            </a:r>
          </a:p>
          <a:p>
            <a:pPr>
              <a:spcBef>
                <a:spcPts val="300"/>
              </a:spcBef>
            </a:pPr>
            <a:r>
              <a:rPr sz="900" b="1">
                <a:solidFill>
                  <a:srgbClr val="B91C1C"/>
                </a:solidFill>
                <a:latin typeface="Trebuchet MS"/>
              </a:rPr>
              <a:t>Failure Mode: </a:t>
            </a:r>
            <a:r>
              <a:rPr sz="850">
                <a:solidFill>
                  <a:srgbClr val="475569"/>
                </a:solidFill>
                <a:latin typeface="Calibri"/>
              </a:rPr>
              <a:t>Processing 150 PDFs inside a standard Next.js 60-second serverless execution budget leads to function timeout kills.</a:t>
            </a:r>
          </a:p>
          <a:p>
            <a:pPr>
              <a:spcBef>
                <a:spcPts val="300"/>
              </a:spcBef>
            </a:pPr>
            <a:r>
              <a:rPr sz="900" b="1">
                <a:solidFill>
                  <a:srgbClr val="0F172A"/>
                </a:solidFill>
                <a:latin typeface="Trebuchet MS"/>
              </a:rPr>
              <a:t>Verified Solution: </a:t>
            </a:r>
            <a:r>
              <a:rPr sz="850">
                <a:solidFill>
                  <a:srgbClr val="475569"/>
                </a:solidFill>
                <a:latin typeface="Calibri"/>
              </a:rPr>
              <a:t>Implemented client sliding-window batching (max 4 uploads, max 2 AI workers), Next.js after() execution, and a pg_cron background consumer.</a:t>
            </a:r>
          </a:p>
          <a:p>
            <a:pPr>
              <a:spcBef>
                <a:spcPts val="300"/>
              </a:spcBef>
            </a:pPr>
            <a:r>
              <a:rPr sz="900" b="1">
                <a:solidFill>
                  <a:srgbClr val="94A3B8"/>
                </a:solidFill>
                <a:latin typeface="Trebuchet MS"/>
              </a:rPr>
              <a:t>Codebase Verification: </a:t>
            </a:r>
            <a:r>
              <a:rPr sz="850">
                <a:solidFill>
                  <a:srgbClr val="475569"/>
                </a:solidFill>
                <a:latin typeface="Calibri"/>
              </a:rPr>
              <a:t>lib/upload/batch-upload-manager.ts &amp; app/api/cron/process-queue/route.ts.</a:t>
            </a:r>
          </a:p>
        </p:txBody>
      </p:sp>
      <p:sp>
        <p:nvSpPr>
          <p:cNvPr id="10" name="Rectangle 9"/>
          <p:cNvSpPr/>
          <p:nvPr/>
        </p:nvSpPr>
        <p:spPr>
          <a:xfrm>
            <a:off x="731520" y="4206240"/>
            <a:ext cx="5166360" cy="208483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206240"/>
            <a:ext cx="54864" cy="2084831"/>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343400"/>
            <a:ext cx="4663440" cy="1856231"/>
          </a:xfrm>
          <a:prstGeom prst="rect">
            <a:avLst/>
          </a:prstGeom>
          <a:noFill/>
        </p:spPr>
        <p:txBody>
          <a:bodyPr wrap="square" lIns="0" tIns="0" rIns="0" bIns="0">
            <a:spAutoFit/>
          </a:bodyPr>
          <a:lstStyle/>
          <a:p>
            <a:pPr>
              <a:defRPr sz="1100" b="1">
                <a:solidFill>
                  <a:srgbClr val="0F172A"/>
                </a:solidFill>
                <a:latin typeface="Trebuchet MS"/>
              </a:defRPr>
            </a:pPr>
            <a:r>
              <a:t>3. Concurrency Race Conditions &amp; Deadlocks</a:t>
            </a:r>
          </a:p>
          <a:p>
            <a:pPr>
              <a:spcBef>
                <a:spcPts val="300"/>
              </a:spcBef>
            </a:pPr>
            <a:r>
              <a:rPr sz="900" b="1">
                <a:solidFill>
                  <a:srgbClr val="B91C1C"/>
                </a:solidFill>
                <a:latin typeface="Trebuchet MS"/>
              </a:rPr>
              <a:t>Failure Mode: </a:t>
            </a:r>
            <a:r>
              <a:rPr sz="850">
                <a:solidFill>
                  <a:srgbClr val="475569"/>
                </a:solidFill>
                <a:latin typeface="Calibri"/>
              </a:rPr>
              <a:t>Simultaneous file confirmations cause duplicate rows and quota circumvention under concurrent uploads.</a:t>
            </a:r>
          </a:p>
          <a:p>
            <a:pPr>
              <a:spcBef>
                <a:spcPts val="300"/>
              </a:spcBef>
            </a:pPr>
            <a:r>
              <a:rPr sz="900" b="1">
                <a:solidFill>
                  <a:srgbClr val="047857"/>
                </a:solidFill>
                <a:latin typeface="Trebuchet MS"/>
              </a:rPr>
              <a:t>Verified Solution: </a:t>
            </a:r>
            <a:r>
              <a:rPr sz="850">
                <a:solidFill>
                  <a:srgbClr val="475569"/>
                </a:solidFill>
                <a:latin typeface="Calibri"/>
              </a:rPr>
              <a:t>Added transactional PostgreSQL advisory locks pg_advisory_xact_lock(user_id) and atomic SKIP LOCKED queue claiming with UUID fencing leases.</a:t>
            </a:r>
          </a:p>
          <a:p>
            <a:pPr>
              <a:spcBef>
                <a:spcPts val="300"/>
              </a:spcBef>
            </a:pPr>
            <a:r>
              <a:rPr sz="900" b="1">
                <a:solidFill>
                  <a:srgbClr val="94A3B8"/>
                </a:solidFill>
                <a:latin typeface="Trebuchet MS"/>
              </a:rPr>
              <a:t>Codebase Verification: </a:t>
            </a:r>
            <a:r>
              <a:rPr sz="850">
                <a:solidFill>
                  <a:srgbClr val="475569"/>
                </a:solidFill>
                <a:latin typeface="Calibri"/>
              </a:rPr>
              <a:t>create_document_with_quota &amp; claim_next_pending_document RPCs.</a:t>
            </a:r>
          </a:p>
        </p:txBody>
      </p:sp>
      <p:sp>
        <p:nvSpPr>
          <p:cNvPr id="13" name="Rectangle 12"/>
          <p:cNvSpPr/>
          <p:nvPr/>
        </p:nvSpPr>
        <p:spPr>
          <a:xfrm>
            <a:off x="6263640" y="4206240"/>
            <a:ext cx="5166360" cy="2084831"/>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4206240"/>
            <a:ext cx="54864" cy="2084831"/>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343400"/>
            <a:ext cx="4663440" cy="1856231"/>
          </a:xfrm>
          <a:prstGeom prst="rect">
            <a:avLst/>
          </a:prstGeom>
          <a:noFill/>
        </p:spPr>
        <p:txBody>
          <a:bodyPr wrap="square" lIns="0" tIns="0" rIns="0" bIns="0">
            <a:spAutoFit/>
          </a:bodyPr>
          <a:lstStyle/>
          <a:p>
            <a:pPr>
              <a:defRPr sz="1100" b="1">
                <a:solidFill>
                  <a:srgbClr val="0F172A"/>
                </a:solidFill>
                <a:latin typeface="Trebuchet MS"/>
              </a:defRPr>
            </a:pPr>
            <a:r>
              <a:t>4. Safe PDF Optimization Without Corruption</a:t>
            </a:r>
          </a:p>
          <a:p>
            <a:pPr>
              <a:spcBef>
                <a:spcPts val="300"/>
              </a:spcBef>
            </a:pPr>
            <a:r>
              <a:rPr sz="900" b="1">
                <a:solidFill>
                  <a:srgbClr val="B91C1C"/>
                </a:solidFill>
                <a:latin typeface="Trebuchet MS"/>
              </a:rPr>
              <a:t>Failure Mode: </a:t>
            </a:r>
            <a:r>
              <a:rPr sz="850">
                <a:solidFill>
                  <a:srgbClr val="475569"/>
                </a:solidFill>
                <a:latin typeface="Calibri"/>
              </a:rPr>
              <a:t>Compressing digitally signed or encrypted PDFs invalidates cryptographic signatures and renders files unreadable.</a:t>
            </a:r>
          </a:p>
          <a:p>
            <a:pPr>
              <a:spcBef>
                <a:spcPts val="300"/>
              </a:spcBef>
            </a:pPr>
            <a:r>
              <a:rPr sz="900" b="1">
                <a:solidFill>
                  <a:srgbClr val="B45309"/>
                </a:solidFill>
                <a:latin typeface="Trebuchet MS"/>
              </a:rPr>
              <a:t>Verified Solution: </a:t>
            </a:r>
            <a:r>
              <a:rPr sz="850">
                <a:solidFill>
                  <a:srgbClr val="475569"/>
                </a:solidFill>
                <a:latin typeface="Calibri"/>
              </a:rPr>
              <a:t>Conservative pre-checks detect /ByteRange signatures and /Encrypt dictionaries, safely skipping them while optimizing standard structural streams.</a:t>
            </a:r>
          </a:p>
          <a:p>
            <a:pPr>
              <a:spcBef>
                <a:spcPts val="300"/>
              </a:spcBef>
            </a:pPr>
            <a:r>
              <a:rPr sz="900" b="1">
                <a:solidFill>
                  <a:srgbClr val="94A3B8"/>
                </a:solidFill>
                <a:latin typeface="Trebuchet MS"/>
              </a:rPr>
              <a:t>Codebase Verification: </a:t>
            </a:r>
            <a:r>
              <a:rPr sz="850">
                <a:solidFill>
                  <a:srgbClr val="475569"/>
                </a:solidFill>
                <a:latin typeface="Calibri"/>
              </a:rPr>
              <a:t>lib/pdf/optimizer.ts (validated with zero corruption across signed sample PDFs).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10  /  STRATEGIC VISION</a:t>
            </a:r>
          </a:p>
          <a:p>
            <a:pPr>
              <a:spcBef>
                <a:spcPts val="300"/>
              </a:spcBef>
              <a:defRPr sz="2400" b="1">
                <a:solidFill>
                  <a:srgbClr val="0F172A"/>
                </a:solidFill>
                <a:latin typeface="Trebuchet MS"/>
              </a:defRPr>
            </a:pPr>
            <a:r>
              <a:t>Future Engineering Roadmap &amp; Planned Advancements</a:t>
            </a:r>
          </a:p>
          <a:p>
            <a:pPr>
              <a:spcBef>
                <a:spcPts val="200"/>
              </a:spcBef>
              <a:defRPr sz="1150">
                <a:solidFill>
                  <a:srgbClr val="475569"/>
                </a:solidFill>
                <a:latin typeface="Calibri"/>
              </a:defRPr>
            </a:pPr>
            <a:r>
              <a:t>Architectural roadmap designed to expand FileMind into an enterprise-ready knowledge platform.</a:t>
            </a:r>
          </a:p>
        </p:txBody>
      </p:sp>
      <p:sp>
        <p:nvSpPr>
          <p:cNvPr id="4" name="Rectangle 3"/>
          <p:cNvSpPr/>
          <p:nvPr/>
        </p:nvSpPr>
        <p:spPr>
          <a:xfrm>
            <a:off x="731520" y="1920240"/>
            <a:ext cx="10728655" cy="93268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920240"/>
            <a:ext cx="73152" cy="93268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29968"/>
            <a:ext cx="10271455" cy="713232"/>
          </a:xfrm>
          <a:prstGeom prst="rect">
            <a:avLst/>
          </a:prstGeom>
          <a:noFill/>
        </p:spPr>
        <p:txBody>
          <a:bodyPr wrap="square" lIns="0" tIns="0" rIns="0" bIns="0">
            <a:spAutoFit/>
          </a:bodyPr>
          <a:lstStyle/>
          <a:p>
            <a:r>
              <a:rPr sz="950" b="1">
                <a:solidFill>
                  <a:srgbClr val="C2410C"/>
                </a:solidFill>
                <a:latin typeface="Trebuchet MS"/>
              </a:rPr>
              <a:t>PHASE 02 · NEAR-TERM (Q3 2026)  •  </a:t>
            </a:r>
            <a:r>
              <a:rPr sz="1100" b="1">
                <a:solidFill>
                  <a:srgbClr val="0F172A"/>
                </a:solidFill>
                <a:latin typeface="Trebuchet MS"/>
              </a:rPr>
              <a:t>Cross-Document Synthesis &amp; Multi-PDF Comparative Q&amp;A</a:t>
            </a:r>
          </a:p>
          <a:p>
            <a:pPr>
              <a:spcBef>
                <a:spcPts val="200"/>
              </a:spcBef>
              <a:defRPr sz="900">
                <a:solidFill>
                  <a:srgbClr val="475569"/>
                </a:solidFill>
                <a:latin typeface="Calibri"/>
              </a:defRPr>
            </a:pPr>
            <a:r>
              <a:t>Query across the entire document vault simultaneously (e.g. 'Compare revenue growth and profit margins across all Q1, Q2, and Q3 financial reports').</a:t>
            </a:r>
            <a:br/>
            <a:r>
              <a:t>Key Deliverables: Cross-encoder re-ranking, multi-document synthesis prompt, aggregate token budget optimizer.</a:t>
            </a:r>
          </a:p>
        </p:txBody>
      </p:sp>
      <p:sp>
        <p:nvSpPr>
          <p:cNvPr id="7" name="Rectangle 6"/>
          <p:cNvSpPr/>
          <p:nvPr/>
        </p:nvSpPr>
        <p:spPr>
          <a:xfrm>
            <a:off x="731520" y="3054096"/>
            <a:ext cx="10728655" cy="93268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054096"/>
            <a:ext cx="73152" cy="93268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163824"/>
            <a:ext cx="10271455" cy="713232"/>
          </a:xfrm>
          <a:prstGeom prst="rect">
            <a:avLst/>
          </a:prstGeom>
          <a:noFill/>
        </p:spPr>
        <p:txBody>
          <a:bodyPr wrap="square" lIns="0" tIns="0" rIns="0" bIns="0">
            <a:spAutoFit/>
          </a:bodyPr>
          <a:lstStyle/>
          <a:p>
            <a:r>
              <a:rPr sz="950" b="1">
                <a:solidFill>
                  <a:srgbClr val="0F172A"/>
                </a:solidFill>
                <a:latin typeface="Trebuchet MS"/>
              </a:rPr>
              <a:t>PHASE 03 · MEDIUM-TERM (Q4 2026)  •  </a:t>
            </a:r>
            <a:r>
              <a:rPr sz="1100" b="1">
                <a:solidFill>
                  <a:srgbClr val="0F172A"/>
                </a:solidFill>
                <a:latin typeface="Trebuchet MS"/>
              </a:rPr>
              <a:t>Visual Citations &amp; Bounding-Box Viewer Integration</a:t>
            </a:r>
          </a:p>
          <a:p>
            <a:pPr>
              <a:spcBef>
                <a:spcPts val="200"/>
              </a:spcBef>
              <a:defRPr sz="900">
                <a:solidFill>
                  <a:srgbClr val="475569"/>
                </a:solidFill>
                <a:latin typeface="Calibri"/>
              </a:defRPr>
            </a:pPr>
            <a:r>
              <a:t>Direct canvas integration highlighting the exact sentence and bounding-box rectangle on the original PDF page for every generated answer.</a:t>
            </a:r>
            <a:br/>
            <a:r>
              <a:t>Key Deliverables: PDF.js annotation layer, Gemini bounding-box normalization, verifiable source citations.</a:t>
            </a:r>
          </a:p>
        </p:txBody>
      </p:sp>
      <p:sp>
        <p:nvSpPr>
          <p:cNvPr id="10" name="Rectangle 9"/>
          <p:cNvSpPr/>
          <p:nvPr/>
        </p:nvSpPr>
        <p:spPr>
          <a:xfrm>
            <a:off x="731520" y="4187952"/>
            <a:ext cx="10728655" cy="93268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187952"/>
            <a:ext cx="73152" cy="932688"/>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297680"/>
            <a:ext cx="10271455" cy="713232"/>
          </a:xfrm>
          <a:prstGeom prst="rect">
            <a:avLst/>
          </a:prstGeom>
          <a:noFill/>
        </p:spPr>
        <p:txBody>
          <a:bodyPr wrap="square" lIns="0" tIns="0" rIns="0" bIns="0">
            <a:spAutoFit/>
          </a:bodyPr>
          <a:lstStyle/>
          <a:p>
            <a:r>
              <a:rPr sz="950" b="1">
                <a:solidFill>
                  <a:srgbClr val="047857"/>
                </a:solidFill>
                <a:latin typeface="Trebuchet MS"/>
              </a:rPr>
              <a:t>PHASE 04 · LONG-TERM (2027)  •  </a:t>
            </a:r>
            <a:r>
              <a:rPr sz="1100" b="1">
                <a:solidFill>
                  <a:srgbClr val="0F172A"/>
                </a:solidFill>
                <a:latin typeface="Trebuchet MS"/>
              </a:rPr>
              <a:t>Local &amp; Air-Gapped LLM Execution via Ollama / vLLM</a:t>
            </a:r>
          </a:p>
          <a:p>
            <a:pPr>
              <a:spcBef>
                <a:spcPts val="200"/>
              </a:spcBef>
              <a:defRPr sz="900">
                <a:solidFill>
                  <a:srgbClr val="475569"/>
                </a:solidFill>
                <a:latin typeface="Calibri"/>
              </a:defRPr>
            </a:pPr>
            <a:r>
              <a:t>Support for completely offline inference using Ollama and vLLM for highly sensitive legal, defense, or HIPAA-regulated medical environments.</a:t>
            </a:r>
            <a:br/>
            <a:r>
              <a:t>Key Deliverables: Local GGUF embedding model, zero external API traffic mode, local vector search.</a:t>
            </a:r>
          </a:p>
        </p:txBody>
      </p:sp>
      <p:sp>
        <p:nvSpPr>
          <p:cNvPr id="13" name="Rectangle 12"/>
          <p:cNvSpPr/>
          <p:nvPr/>
        </p:nvSpPr>
        <p:spPr>
          <a:xfrm>
            <a:off x="731520" y="5321808"/>
            <a:ext cx="10728655" cy="932688"/>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321808"/>
            <a:ext cx="73152" cy="93268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431536"/>
            <a:ext cx="10271455" cy="713232"/>
          </a:xfrm>
          <a:prstGeom prst="rect">
            <a:avLst/>
          </a:prstGeom>
          <a:noFill/>
        </p:spPr>
        <p:txBody>
          <a:bodyPr wrap="square" lIns="0" tIns="0" rIns="0" bIns="0">
            <a:spAutoFit/>
          </a:bodyPr>
          <a:lstStyle/>
          <a:p>
            <a:r>
              <a:rPr sz="950" b="1">
                <a:solidFill>
                  <a:srgbClr val="B45309"/>
                </a:solidFill>
                <a:latin typeface="Trebuchet MS"/>
              </a:rPr>
              <a:t>PHASE 05 · ENTERPRISE (2027+)  •  </a:t>
            </a:r>
            <a:r>
              <a:rPr sz="1100" b="1">
                <a:solidFill>
                  <a:srgbClr val="0F172A"/>
                </a:solidFill>
                <a:latin typeface="Trebuchet MS"/>
              </a:rPr>
              <a:t>Collaborative Team Workspaces, Granular RBAC &amp; Audit Logs</a:t>
            </a:r>
          </a:p>
          <a:p>
            <a:pPr>
              <a:spcBef>
                <a:spcPts val="200"/>
              </a:spcBef>
              <a:defRPr sz="900">
                <a:solidFill>
                  <a:srgbClr val="475569"/>
                </a:solidFill>
                <a:latin typeface="Calibri"/>
              </a:defRPr>
            </a:pPr>
            <a:r>
              <a:t>Multi-user workspaces with role-based access control (Admin, Contributor, Read-Only Reviewer) and cryptographic audit logs.</a:t>
            </a:r>
            <a:br/>
            <a:r>
              <a:t>Key Deliverables: Organization tenancy, cryptographic activity audit logs, fine-grained folder permissions.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728655" cy="1188720"/>
          </a:xfrm>
          <a:prstGeom prst="rect">
            <a:avLst/>
          </a:prstGeom>
          <a:noFill/>
        </p:spPr>
        <p:txBody>
          <a:bodyPr wrap="square" lIns="0" tIns="0" rIns="0" bIns="0">
            <a:spAutoFit/>
          </a:bodyPr>
          <a:lstStyle/>
          <a:p>
            <a:pPr>
              <a:defRPr sz="950" b="1">
                <a:solidFill>
                  <a:srgbClr val="C2410C"/>
                </a:solidFill>
                <a:latin typeface="Trebuchet MS"/>
              </a:defRPr>
            </a:pPr>
            <a:r>
              <a:t>11  /  CONCLUSION &amp; EVALUATION</a:t>
            </a:r>
          </a:p>
          <a:p>
            <a:pPr>
              <a:spcBef>
                <a:spcPts val="300"/>
              </a:spcBef>
              <a:defRPr sz="2400" b="1">
                <a:solidFill>
                  <a:srgbClr val="0F172A"/>
                </a:solidFill>
                <a:latin typeface="Trebuchet MS"/>
              </a:defRPr>
            </a:pPr>
            <a:r>
              <a:t>FileMind: The Autonomous Document Intelligence Vault</a:t>
            </a:r>
          </a:p>
          <a:p>
            <a:pPr>
              <a:spcBef>
                <a:spcPts val="200"/>
              </a:spcBef>
              <a:defRPr sz="1150">
                <a:solidFill>
                  <a:srgbClr val="475569"/>
                </a:solidFill>
                <a:latin typeface="Calibri"/>
              </a:defRPr>
            </a:pPr>
            <a:r>
              <a:t>Summary of academic and technical achievements, and protocol for hands-on evaluation.</a:t>
            </a:r>
          </a:p>
        </p:txBody>
      </p:sp>
      <p:sp>
        <p:nvSpPr>
          <p:cNvPr id="4" name="Rectangle 3"/>
          <p:cNvSpPr/>
          <p:nvPr/>
        </p:nvSpPr>
        <p:spPr>
          <a:xfrm>
            <a:off x="731520" y="1920240"/>
            <a:ext cx="516636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920240"/>
            <a:ext cx="5166360" cy="54864"/>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526280" cy="3977640"/>
          </a:xfrm>
          <a:prstGeom prst="rect">
            <a:avLst/>
          </a:prstGeom>
          <a:noFill/>
        </p:spPr>
        <p:txBody>
          <a:bodyPr wrap="square" lIns="0" tIns="0" rIns="0" bIns="0">
            <a:spAutoFit/>
          </a:bodyPr>
          <a:lstStyle/>
          <a:p>
            <a:pPr>
              <a:defRPr sz="950" b="1">
                <a:solidFill>
                  <a:srgbClr val="C2410C"/>
                </a:solidFill>
                <a:latin typeface="Trebuchet MS"/>
              </a:defRPr>
            </a:pPr>
            <a:r>
              <a:t>KEY PROJECT TAKEAWAYS</a:t>
            </a:r>
          </a:p>
          <a:p>
            <a:pPr>
              <a:spcBef>
                <a:spcPts val="300"/>
              </a:spcBef>
              <a:defRPr sz="1550" b="1">
                <a:solidFill>
                  <a:srgbClr val="0F172A"/>
                </a:solidFill>
                <a:latin typeface="Trebuchet MS"/>
              </a:defRPr>
            </a:pPr>
            <a:r>
              <a:t>Academic &amp; Technical Achievements</a:t>
            </a:r>
          </a:p>
          <a:p>
            <a:pPr>
              <a:spcBef>
                <a:spcPts val="900"/>
              </a:spcBef>
            </a:pPr>
            <a:r>
              <a:rPr sz="1100" b="1">
                <a:solidFill>
                  <a:srgbClr val="047857"/>
                </a:solidFill>
                <a:latin typeface="Trebuchet MS"/>
              </a:rPr>
              <a:t>✓  </a:t>
            </a:r>
            <a:r>
              <a:rPr sz="1050" b="1">
                <a:solidFill>
                  <a:srgbClr val="0F172A"/>
                </a:solidFill>
                <a:latin typeface="Trebuchet MS"/>
              </a:rPr>
              <a:t>Problem Solved: </a:t>
            </a:r>
            <a:r>
              <a:rPr sz="950">
                <a:solidFill>
                  <a:srgbClr val="475569"/>
                </a:solidFill>
                <a:latin typeface="Calibri"/>
              </a:rPr>
              <a:t>Replaces passive, unsearchable folders with an active AI-powered document intelligence vault.</a:t>
            </a:r>
          </a:p>
          <a:p>
            <a:pPr>
              <a:spcBef>
                <a:spcPts val="900"/>
              </a:spcBef>
            </a:pPr>
            <a:r>
              <a:rPr sz="1100" b="1">
                <a:solidFill>
                  <a:srgbClr val="047857"/>
                </a:solidFill>
                <a:latin typeface="Trebuchet MS"/>
              </a:rPr>
              <a:t>✓  </a:t>
            </a:r>
            <a:r>
              <a:rPr sz="1050" b="1">
                <a:solidFill>
                  <a:srgbClr val="0F172A"/>
                </a:solidFill>
                <a:latin typeface="Trebuchet MS"/>
              </a:rPr>
              <a:t>Production Quality: </a:t>
            </a:r>
            <a:r>
              <a:rPr sz="950">
                <a:solidFill>
                  <a:srgbClr val="475569"/>
                </a:solidFill>
                <a:latin typeface="Calibri"/>
              </a:rPr>
              <a:t>Built with Next.js 16, Supabase PostgreSQL, and Google Gemini with verified automated test suites.</a:t>
            </a:r>
          </a:p>
          <a:p>
            <a:pPr>
              <a:spcBef>
                <a:spcPts val="900"/>
              </a:spcBef>
            </a:pPr>
            <a:r>
              <a:rPr sz="1100" b="1">
                <a:solidFill>
                  <a:srgbClr val="047857"/>
                </a:solidFill>
                <a:latin typeface="Trebuchet MS"/>
              </a:rPr>
              <a:t>✓  </a:t>
            </a:r>
            <a:r>
              <a:rPr sz="1050" b="1">
                <a:solidFill>
                  <a:srgbClr val="0F172A"/>
                </a:solidFill>
                <a:latin typeface="Trebuchet MS"/>
              </a:rPr>
              <a:t>Resilient Concurrency: </a:t>
            </a:r>
            <a:r>
              <a:rPr sz="950">
                <a:solidFill>
                  <a:srgbClr val="475569"/>
                </a:solidFill>
                <a:latin typeface="Calibri"/>
              </a:rPr>
              <a:t>Tested with 150-file bulk batches, automated recovery, and transactional advisory locks.</a:t>
            </a:r>
          </a:p>
          <a:p>
            <a:pPr>
              <a:spcBef>
                <a:spcPts val="900"/>
              </a:spcBef>
            </a:pPr>
            <a:r>
              <a:rPr sz="1100" b="1">
                <a:solidFill>
                  <a:srgbClr val="047857"/>
                </a:solidFill>
                <a:latin typeface="Trebuchet MS"/>
              </a:rPr>
              <a:t>✓  </a:t>
            </a:r>
            <a:r>
              <a:rPr sz="1050" b="1">
                <a:solidFill>
                  <a:srgbClr val="0F172A"/>
                </a:solidFill>
                <a:latin typeface="Trebuchet MS"/>
              </a:rPr>
              <a:t>High Privacy &amp; Security: </a:t>
            </a:r>
            <a:r>
              <a:rPr sz="950">
                <a:solidFill>
                  <a:srgbClr val="475569"/>
                </a:solidFill>
                <a:latin typeface="Calibri"/>
              </a:rPr>
              <a:t>Database-enforced Row-Level Security ensuring strict per-user vault isolation.</a:t>
            </a:r>
          </a:p>
          <a:p>
            <a:pPr>
              <a:spcBef>
                <a:spcPts val="1800"/>
              </a:spcBef>
            </a:pPr>
            <a:r>
              <a:rPr sz="950" b="1">
                <a:solidFill>
                  <a:srgbClr val="C2410C"/>
                </a:solidFill>
                <a:latin typeface="Trebuchet MS"/>
              </a:rPr>
              <a:t>Production Invariants Verified:
</a:t>
            </a:r>
            <a:r>
              <a:rPr sz="900">
                <a:solidFill>
                  <a:srgbClr val="475569"/>
                </a:solidFill>
                <a:latin typeface="Calibri"/>
              </a:rPr>
              <a:t>• 100% PostgreSQL Row-Level Security Enforced
• 49 MiB Direct Storage Ingestion &amp; %PDF Magic Byte Validation
• 150-File Sliding Window Batch Queue with UUID Fencing Tokens
• 768-dim Vector Embeddings with 500-LRU Query Cache</a:t>
            </a:r>
          </a:p>
        </p:txBody>
      </p:sp>
      <p:sp>
        <p:nvSpPr>
          <p:cNvPr id="7" name="Rectangle 6"/>
          <p:cNvSpPr/>
          <p:nvPr/>
        </p:nvSpPr>
        <p:spPr>
          <a:xfrm>
            <a:off x="6263640" y="1920240"/>
            <a:ext cx="516636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63640" y="1920240"/>
            <a:ext cx="5166360" cy="54864"/>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148840"/>
            <a:ext cx="4526280" cy="3977640"/>
          </a:xfrm>
          <a:prstGeom prst="rect">
            <a:avLst/>
          </a:prstGeom>
          <a:noFill/>
        </p:spPr>
        <p:txBody>
          <a:bodyPr wrap="square" lIns="0" tIns="0" rIns="0" bIns="0">
            <a:spAutoFit/>
          </a:bodyPr>
          <a:lstStyle/>
          <a:p>
            <a:pPr>
              <a:defRPr sz="950" b="1">
                <a:solidFill>
                  <a:srgbClr val="047857"/>
                </a:solidFill>
                <a:latin typeface="Trebuchet MS"/>
              </a:defRPr>
            </a:pPr>
            <a:r>
              <a:t>LIVE EVALUATION &amp; DEMONSTRATION</a:t>
            </a:r>
          </a:p>
          <a:p>
            <a:pPr>
              <a:spcBef>
                <a:spcPts val="300"/>
              </a:spcBef>
              <a:defRPr sz="1550" b="1">
                <a:solidFill>
                  <a:srgbClr val="0F172A"/>
                </a:solidFill>
                <a:latin typeface="Trebuchet MS"/>
              </a:defRPr>
            </a:pPr>
            <a:r>
              <a:t>Ready for Hands-On Evaluation</a:t>
            </a:r>
          </a:p>
          <a:p>
            <a:pPr>
              <a:spcBef>
                <a:spcPts val="800"/>
              </a:spcBef>
            </a:pPr>
            <a:r>
              <a:rPr sz="1050" b="1">
                <a:solidFill>
                  <a:srgbClr val="0F172A"/>
                </a:solidFill>
                <a:latin typeface="Trebuchet MS"/>
              </a:rPr>
              <a:t>1. Live Ingestion Walkthrough
</a:t>
            </a:r>
            <a:r>
              <a:rPr sz="950">
                <a:solidFill>
                  <a:srgbClr val="475569"/>
                </a:solidFill>
                <a:latin typeface="Calibri"/>
              </a:rPr>
              <a:t>Drag-and-drop a sample batch of test invoices, papers, and agreements into the active web interface.</a:t>
            </a:r>
          </a:p>
          <a:p>
            <a:pPr>
              <a:spcBef>
                <a:spcPts val="800"/>
              </a:spcBef>
            </a:pPr>
            <a:r>
              <a:rPr sz="1050" b="1">
                <a:solidFill>
                  <a:srgbClr val="0F172A"/>
                </a:solidFill>
                <a:latin typeface="Trebuchet MS"/>
              </a:rPr>
              <a:t>2. Real-Time Multimodal Extraction
</a:t>
            </a:r>
            <a:r>
              <a:rPr sz="950">
                <a:solidFill>
                  <a:srgbClr val="475569"/>
                </a:solidFill>
                <a:latin typeface="Calibri"/>
              </a:rPr>
              <a:t>Observe Gemini classifying categories, extracting structured key-values, and indexing pages on-the-fly.</a:t>
            </a:r>
          </a:p>
          <a:p>
            <a:pPr>
              <a:spcBef>
                <a:spcPts val="800"/>
              </a:spcBef>
            </a:pPr>
            <a:r>
              <a:rPr sz="1050" b="1">
                <a:solidFill>
                  <a:srgbClr val="0F172A"/>
                </a:solidFill>
                <a:latin typeface="Trebuchet MS"/>
              </a:rPr>
              <a:t>3. Semantic Search &amp; Snippet Matching
</a:t>
            </a:r>
            <a:r>
              <a:rPr sz="950">
                <a:solidFill>
                  <a:srgbClr val="475569"/>
                </a:solidFill>
                <a:latin typeface="Calibri"/>
              </a:rPr>
              <a:t>Search by concept in natural language and observe sub-200ms vector retrieval with snippet highlights.</a:t>
            </a:r>
          </a:p>
          <a:p>
            <a:pPr>
              <a:spcBef>
                <a:spcPts val="1100"/>
              </a:spcBef>
            </a:pPr>
            <a:r>
              <a:rPr sz="950" b="1">
                <a:solidFill>
                  <a:srgbClr val="C2410C"/>
                </a:solidFill>
                <a:latin typeface="Trebuchet MS"/>
              </a:rPr>
              <a:t>Resources &amp; Repository:
</a:t>
            </a:r>
            <a:r>
              <a:rPr sz="900">
                <a:solidFill>
                  <a:srgbClr val="475569"/>
                </a:solidFill>
                <a:latin typeface="Calibri"/>
              </a:rPr>
              <a:t>GitHub: [github.com/your-username/filemind]   |   Demo URL: [http://localhost:3000]
Thank you! We welcome questions from our teacher and hackathon judges.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
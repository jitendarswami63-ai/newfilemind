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dcd93d0-1f37-fa37-6084-f332a8d4c78f}">
          <p14:sldIdLst>
            <p14:sldId id="256"/>
          </p14:sldIdLst>
        </p14:section>
        <p14:section name="Problem &amp; Solution" id="{24e5a505-a780-a99e-93a9-33382b105606}">
          <p14:sldIdLst>
            <p14:sldId id="257"/>
            <p14:sldId id="258"/>
          </p14:sldIdLst>
        </p14:section>
        <p14:section name="Product" id="{89601cc4-57e9-a925-a25d-1f1f7d505680}">
          <p14:sldIdLst>
            <p14:sldId id="259"/>
            <p14:sldId id="260"/>
            <p14:sldId id="261"/>
          </p14:sldIdLst>
        </p14:section>
        <p14:section name="Engineering" id="{4d72a5c1-23f4-bf96-4562-c86e6bef0e6c}">
          <p14:sldIdLst>
            <p14:sldId id="262"/>
            <p14:sldId id="263"/>
            <p14:sldId id="264"/>
            <p14:sldId id="265"/>
          </p14:sldIdLst>
        </p14:section>
        <p14:section name="Next" id="{95ef8af1-f8d9-1077-b89a-6f07f6babb7e}">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FileMind is a PDF vault that finds answers, not just files. Mention the three numbers on screen: 150 PDFs per batch, 49 MiB per file and sub-200 ms retrieval. Introduce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most knowledge lives in documents, but search only sees file names. Walk the three failures: keyword-blind storage, manual fact extraction, and tools that break at scale or leak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row by row: filename search becomes concept search, scans become readable, manual entry becomes structured JSON, and shared folders become database-enforced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each backed by tests: batch ingestion of 150 files, Gemini structured extraction, sub-200 ms vector search with an LRU cache, and multi-tenant isolation with RLS and fencing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file: browser upload, atomic quota check with an advisory lock, a worker claims it with SKIP LOCKED and a fencing token, Gemini extracts structure through a model cascade, then the finalize RPC commits and schedules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application. Left: the dashboard with live storage quota (1) and the 150-file batch drop zone (2). Right: the document vault with status filters (3) and the categories and tags Gemini extracted automatically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of the stack. Frontend: Next.js 16 App Router, React 19 and Tailwind v4. Data: Supabase Postgres with RLS and atomic PL/pgSQL RPCs. AI: Gemini Files API, 768-dim embeddings with an LRU cache, and pdf-lib for safe compression.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key design choice is layer three: isolation and locking are enforced inside Postgres with RLS, atomic RPCs and advisory locks, so a bug in the app layer cannot leak another user's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people usually ask about first. Folders and cloud drives search names or raw text; FileMind searches meaning, reads scans, processes 150-file batches concurrently and isolates tenants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or two of these to tell as a story, depending on time. The 503 cascade and the advisory-lock race fix usually land best with technical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is what you have seen. Next: ask questions across many PDFs at once, verifiable visual citations, offline LLMs for sensitive sectors, and team workspaces with role-based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Drop a mixed batch, point out per-file progress, open one extracted document to show category and key-values, then run a concept search such as 'cloud server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stop searching for documents, start finding answers. Recap the four takeaways in one breath,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rtlCol="0"/>
          <a:lstStyle>
            <a:lvl1pPr indent="0" marL="0">
              <a:buNone/>
              <a:defRPr lang="en-US" sz="1500" dirty="0">
                <a:solidFill>
                  <a:schemeClr val="accent2"/>
                </a:solidFill>
              </a:defRPr>
            </a:lvl1pPr>
          </a:lstStyle>
          <a:p>
            <a:pPr indent="0" marL="0">
              <a:buNone/>
            </a:pPr>
            <a:endParaRPr lang="en-US" sz="1500" dirty="0"/>
          </a:p>
        </p:txBody>
      </p:sp>
      <p:sp>
        <p:nvSpPr>
          <p:cNvPr id="4" name="Text 0"/>
          <p:cNvSpPr/>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chemeClr val="accent2"/>
                </a:solidFill>
              </a:rPr>
              <a:t>FileMind</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5669280" cy="1143000"/>
          </a:xfrm>
          <a:prstGeom prst="rect">
            <a:avLst/>
          </a:prstGeom>
          <a:noFill/>
          <a:ln/>
        </p:spPr>
        <p:txBody>
          <a:bodyPr wrap="square" rtlCol="0"/>
          <a:lstStyle>
            <a:lvl1pPr algn="l" indent="0" marL="0">
              <a:buNone/>
              <a:defRPr lang="en-US" sz="7200" b="1" dirty="0">
                <a:solidFill>
                  <a:schemeClr val="tx1"/>
                </a:solidFill>
              </a:defRPr>
            </a:lvl1pPr>
          </a:lstStyle>
          <a:p>
            <a:pPr algn="l" indent="0" marL="0">
              <a:buNone/>
            </a:pPr>
            <a:endParaRPr lang="en-US" sz="7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5669280" cy="1143000"/>
          </a:xfrm>
          <a:prstGeom prst="rect">
            <a:avLst/>
          </a:prstGeom>
          <a:noFill/>
          <a:ln/>
        </p:spPr>
        <p:txBody>
          <a:bodyPr wrap="square" lIns="0" tIns="0" rIns="0" bIns="0" rtlCol="0" anchor="t"/>
          <a:lstStyle/>
          <a:p>
            <a:pPr algn="l" indent="0" marL="0">
              <a:buNone/>
            </a:pPr>
            <a:r>
              <a:rPr lang="en-US" sz="7200" b="1" dirty="0">
                <a:solidFill>
                  <a:schemeClr val="tx1"/>
                </a:solidFill>
              </a:rPr>
              <a:t>FileMind</a:t>
            </a:r>
            <a:endParaRPr lang="en-US" sz="7200" dirty="0"/>
          </a:p>
        </p:txBody>
      </p:sp>
      <p:sp>
        <p:nvSpPr>
          <p:cNvPr id="3" name="Text 1"/>
          <p:cNvSpPr txBox="1"/>
          <p:nvPr/>
        </p:nvSpPr>
        <p:spPr>
          <a:xfrm>
            <a:off x="548640" y="2286000"/>
            <a:ext cx="5394960" cy="335280"/>
          </a:xfrm>
          <a:prstGeom prst="rect">
            <a:avLst/>
          </a:prstGeom>
          <a:noFill/>
          <a:ln/>
        </p:spPr>
        <p:txBody>
          <a:bodyPr wrap="square" lIns="0" tIns="0" rIns="0" bIns="0" rtlCol="0" anchor="t"/>
          <a:lstStyle/>
          <a:p>
            <a:pPr indent="0" marL="0">
              <a:buNone/>
            </a:pPr>
            <a:r>
              <a:rPr lang="en-US" sz="2200" dirty="0">
                <a:solidFill>
                  <a:schemeClr val="tx1"/>
                </a:solidFill>
              </a:rPr>
              <a:t>An AI-powered PDF vault that</a:t>
            </a:r>
            <a:endParaRPr lang="en-US" sz="2200" dirty="0"/>
          </a:p>
        </p:txBody>
      </p:sp>
      <p:sp>
        <p:nvSpPr>
          <p:cNvPr id="4" name="Shape 2"/>
          <p:cNvSpPr/>
          <p:nvPr/>
        </p:nvSpPr>
        <p:spPr>
          <a:xfrm>
            <a:off x="531876" y="2741422"/>
            <a:ext cx="1741715" cy="178816"/>
          </a:xfrm>
          <a:prstGeom prst="rect">
            <a:avLst/>
          </a:prstGeom>
          <a:solidFill>
            <a:schemeClr val="accent1"/>
          </a:solidFill>
          <a:ln/>
        </p:spPr>
      </p:sp>
      <p:sp>
        <p:nvSpPr>
          <p:cNvPr id="5" name="Text 3"/>
          <p:cNvSpPr txBox="1"/>
          <p:nvPr/>
        </p:nvSpPr>
        <p:spPr>
          <a:xfrm>
            <a:off x="548640" y="2621280"/>
            <a:ext cx="5394960" cy="335280"/>
          </a:xfrm>
          <a:prstGeom prst="rect">
            <a:avLst/>
          </a:prstGeom>
          <a:noFill/>
          <a:ln/>
        </p:spPr>
        <p:txBody>
          <a:bodyPr wrap="square" lIns="0" tIns="0" rIns="0" bIns="0" rtlCol="0" anchor="t"/>
          <a:lstStyle/>
          <a:p>
            <a:pPr indent="0" marL="0">
              <a:buNone/>
            </a:pPr>
            <a:r>
              <a:rPr lang="en-US" sz="2200" dirty="0">
                <a:solidFill>
                  <a:schemeClr val="tx1"/>
                </a:solidFill>
              </a:rPr>
              <a:t>finds answers, not just files.</a:t>
            </a:r>
            <a:endParaRPr lang="en-US" sz="2200" dirty="0"/>
          </a:p>
        </p:txBody>
      </p:sp>
      <p:sp>
        <p:nvSpPr>
          <p:cNvPr id="6" name="Text 4"/>
          <p:cNvSpPr txBox="1"/>
          <p:nvPr/>
        </p:nvSpPr>
        <p:spPr>
          <a:xfrm>
            <a:off x="548640" y="3200400"/>
            <a:ext cx="5394960" cy="1097280"/>
          </a:xfrm>
          <a:prstGeom prst="rect">
            <a:avLst/>
          </a:prstGeom>
          <a:noFill/>
          <a:ln/>
        </p:spPr>
        <p:txBody>
          <a:bodyPr wrap="square" lIns="0" tIns="0" rIns="0" bIns="0" rtlCol="0" anchor="t"/>
          <a:lstStyle/>
          <a:p>
            <a:pPr indent="0" marL="0">
              <a:lnSpc>
                <a:spcPct val="110000"/>
              </a:lnSpc>
              <a:buNone/>
            </a:pPr>
            <a:r>
              <a:rPr lang="en-US" sz="1400" dirty="0">
                <a:solidFill>
                  <a:schemeClr val="accent2"/>
                </a:solidFill>
              </a:rPr>
              <a:t>Upload a batch of PDFs: invoices, research papers, contracts, even scans. FileMind reads every page with multimodal AI, pulls out structured data and makes the whole vault searchable by meaning, with each user's files isolated at the database level.</a:t>
            </a:r>
            <a:endParaRPr lang="en-US" sz="1400" dirty="0"/>
          </a:p>
        </p:txBody>
      </p:sp>
      <p:sp>
        <p:nvSpPr>
          <p:cNvPr id="7" name="Text 5"/>
          <p:cNvSpPr txBox="1"/>
          <p:nvPr/>
        </p:nvSpPr>
        <p:spPr>
          <a:xfrm>
            <a:off x="548640" y="4507992"/>
            <a:ext cx="1737360" cy="45720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150</a:t>
            </a:r>
            <a:endParaRPr lang="en-US" sz="2800" dirty="0"/>
          </a:p>
        </p:txBody>
      </p:sp>
      <p:sp>
        <p:nvSpPr>
          <p:cNvPr id="8" name="Text 6"/>
          <p:cNvSpPr txBox="1"/>
          <p:nvPr/>
        </p:nvSpPr>
        <p:spPr>
          <a:xfrm>
            <a:off x="548640" y="4992624"/>
            <a:ext cx="1737360" cy="256032"/>
          </a:xfrm>
          <a:prstGeom prst="rect">
            <a:avLst/>
          </a:prstGeom>
          <a:noFill/>
          <a:ln/>
        </p:spPr>
        <p:txBody>
          <a:bodyPr wrap="square" lIns="0" tIns="0" rIns="0" bIns="0" rtlCol="0" anchor="t"/>
          <a:lstStyle/>
          <a:p>
            <a:pPr indent="0" marL="0">
              <a:buNone/>
            </a:pPr>
            <a:r>
              <a:rPr lang="en-US" sz="1100" dirty="0">
                <a:solidFill>
                  <a:schemeClr val="accent2"/>
                </a:solidFill>
              </a:rPr>
              <a:t>PDFs per batch</a:t>
            </a:r>
            <a:endParaRPr lang="en-US" sz="1100" dirty="0"/>
          </a:p>
        </p:txBody>
      </p:sp>
      <p:sp>
        <p:nvSpPr>
          <p:cNvPr id="9" name="Shape 7"/>
          <p:cNvSpPr/>
          <p:nvPr/>
        </p:nvSpPr>
        <p:spPr>
          <a:xfrm>
            <a:off x="2221992" y="4553712"/>
            <a:ext cx="0" cy="713232"/>
          </a:xfrm>
          <a:prstGeom prst="line">
            <a:avLst/>
          </a:prstGeom>
          <a:noFill/>
          <a:ln w="9525">
            <a:solidFill>
              <a:schemeClr val="accent5"/>
            </a:solidFill>
            <a:prstDash val="solid"/>
          </a:ln>
        </p:spPr>
      </p:sp>
      <p:sp>
        <p:nvSpPr>
          <p:cNvPr id="10" name="Text 8"/>
          <p:cNvSpPr txBox="1"/>
          <p:nvPr/>
        </p:nvSpPr>
        <p:spPr>
          <a:xfrm>
            <a:off x="2423160" y="4507992"/>
            <a:ext cx="1737360" cy="45720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49 MiB</a:t>
            </a:r>
            <a:endParaRPr lang="en-US" sz="2800" dirty="0"/>
          </a:p>
        </p:txBody>
      </p:sp>
      <p:sp>
        <p:nvSpPr>
          <p:cNvPr id="11" name="Text 9"/>
          <p:cNvSpPr txBox="1"/>
          <p:nvPr/>
        </p:nvSpPr>
        <p:spPr>
          <a:xfrm>
            <a:off x="2423160" y="4992624"/>
            <a:ext cx="1737360" cy="256032"/>
          </a:xfrm>
          <a:prstGeom prst="rect">
            <a:avLst/>
          </a:prstGeom>
          <a:noFill/>
          <a:ln/>
        </p:spPr>
        <p:txBody>
          <a:bodyPr wrap="square" lIns="0" tIns="0" rIns="0" bIns="0" rtlCol="0" anchor="t"/>
          <a:lstStyle/>
          <a:p>
            <a:pPr indent="0" marL="0">
              <a:buNone/>
            </a:pPr>
            <a:r>
              <a:rPr lang="en-US" sz="1100" dirty="0">
                <a:solidFill>
                  <a:schemeClr val="accent2"/>
                </a:solidFill>
              </a:rPr>
              <a:t>max file size</a:t>
            </a:r>
            <a:endParaRPr lang="en-US" sz="1100" dirty="0"/>
          </a:p>
        </p:txBody>
      </p:sp>
      <p:sp>
        <p:nvSpPr>
          <p:cNvPr id="12" name="Shape 10"/>
          <p:cNvSpPr/>
          <p:nvPr/>
        </p:nvSpPr>
        <p:spPr>
          <a:xfrm>
            <a:off x="4096512" y="4553712"/>
            <a:ext cx="0" cy="713232"/>
          </a:xfrm>
          <a:prstGeom prst="line">
            <a:avLst/>
          </a:prstGeom>
          <a:noFill/>
          <a:ln w="9525">
            <a:solidFill>
              <a:schemeClr val="accent5"/>
            </a:solidFill>
            <a:prstDash val="solid"/>
          </a:ln>
        </p:spPr>
      </p:sp>
      <p:sp>
        <p:nvSpPr>
          <p:cNvPr id="13" name="Text 11"/>
          <p:cNvSpPr txBox="1"/>
          <p:nvPr/>
        </p:nvSpPr>
        <p:spPr>
          <a:xfrm>
            <a:off x="4297680" y="4507992"/>
            <a:ext cx="1737360" cy="45720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&lt; 200 ms</a:t>
            </a:r>
            <a:endParaRPr lang="en-US" sz="2800" dirty="0"/>
          </a:p>
        </p:txBody>
      </p:sp>
      <p:sp>
        <p:nvSpPr>
          <p:cNvPr id="14" name="Text 12"/>
          <p:cNvSpPr txBox="1"/>
          <p:nvPr/>
        </p:nvSpPr>
        <p:spPr>
          <a:xfrm>
            <a:off x="4297680" y="4992624"/>
            <a:ext cx="1737360" cy="256032"/>
          </a:xfrm>
          <a:prstGeom prst="rect">
            <a:avLst/>
          </a:prstGeom>
          <a:noFill/>
          <a:ln/>
        </p:spPr>
        <p:txBody>
          <a:bodyPr wrap="square" lIns="0" tIns="0" rIns="0" bIns="0" rtlCol="0" anchor="t"/>
          <a:lstStyle/>
          <a:p>
            <a:pPr indent="0" marL="0">
              <a:buNone/>
            </a:pPr>
            <a:r>
              <a:rPr lang="en-US" sz="1100" dirty="0">
                <a:solidFill>
                  <a:schemeClr val="accent2"/>
                </a:solidFill>
              </a:rPr>
              <a:t>vector retrieval</a:t>
            </a:r>
            <a:endParaRPr lang="en-US" sz="1100" dirty="0"/>
          </a:p>
        </p:txBody>
      </p:sp>
      <p:sp>
        <p:nvSpPr>
          <p:cNvPr id="15" name="Text 13"/>
          <p:cNvSpPr txBox="1"/>
          <p:nvPr/>
        </p:nvSpPr>
        <p:spPr>
          <a:xfrm>
            <a:off x="548640" y="5715000"/>
            <a:ext cx="5669280" cy="274320"/>
          </a:xfrm>
          <a:prstGeom prst="rect">
            <a:avLst/>
          </a:prstGeom>
          <a:noFill/>
          <a:ln/>
        </p:spPr>
        <p:txBody>
          <a:bodyPr wrap="square" lIns="0" tIns="0" rIns="0" bIns="0" rtlCol="0" anchor="t"/>
          <a:lstStyle/>
          <a:p>
            <a:pPr indent="0" marL="0">
              <a:buNone/>
            </a:pPr>
            <a:r>
              <a:rPr lang="en-US" sz="1200" dirty="0" b="1">
                <a:solidFill>
                  <a:schemeClr val="accent2"/>
                </a:solidFill>
              </a:rPr>
              <a:t>Jitendar (Team Lead)  ·  Kaushal Verma  ·  Vishal</a:t>
            </a:r>
            <a:endParaRPr lang="en-US" sz="1200" dirty="0"/>
          </a:p>
          <a:p>
            <a:r>
              <a:rPr sz="1050">
                <a:solidFill>
                  <a:schemeClr val="accent2"/>
                </a:solidFill>
              </a:rPr>
              <a:t>Roll: 25001011024 (IT)  ·  25001011027 (IT)  ·  25001015070 (ENC)</a:t>
            </a:r>
          </a:p>
          <a:p>
            <a:r>
              <a:rPr sz="1050">
                <a:solidFill>
                  <a:schemeClr val="accent2"/>
                </a:solidFill>
              </a:rPr>
              <a:t>J.C. Bose University of Science and Technology, YMCA</a:t>
            </a:r>
          </a:p>
        </p:txBody>
      </p:sp>
      <p:sp>
        <p:nvSpPr>
          <p:cNvPr id="16" name="Shape 14"/>
          <p:cNvSpPr/>
          <p:nvPr/>
        </p:nvSpPr>
        <p:spPr>
          <a:xfrm>
            <a:off x="6400800" y="548640"/>
            <a:ext cx="5242255" cy="5760720"/>
          </a:xfrm>
          <a:prstGeom prst="roundRect">
            <a:avLst>
              <a:gd name="adj" fmla="val 2791"/>
            </a:avLst>
          </a:prstGeom>
          <a:solidFill>
            <a:schemeClr val="bg2"/>
          </a:solidFill>
          <a:ln/>
        </p:spPr>
      </p:sp>
      <p:sp>
        <p:nvSpPr>
          <p:cNvPr id="17" name="Shape 15"/>
          <p:cNvSpPr/>
          <p:nvPr/>
        </p:nvSpPr>
        <p:spPr>
          <a:xfrm>
            <a:off x="7360920" y="1234440"/>
            <a:ext cx="4023360" cy="2819538"/>
          </a:xfrm>
          <a:prstGeom prst="roundRect">
            <a:avLst>
              <a:gd name="adj" fmla="val 3243"/>
            </a:avLst>
          </a:prstGeom>
          <a:solidFill>
            <a:schemeClr val="bg1"/>
          </a:solidFill>
          <a:ln w="9525">
            <a:solidFill>
              <a:schemeClr val="accent5"/>
            </a:solidFill>
            <a:prstDash val="solid"/>
          </a:ln>
          <a:effectLst>
            <a:outerShdw sx="100000" sy="100000" kx="0" ky="0" algn="bl" rotWithShape="0" blurRad="203200" dist="63500" dir="5400000">
              <a:srgbClr val="1B2330">
                <a:alpha val="8000"/>
              </a:srgbClr>
            </a:outerShdw>
          </a:effectLst>
        </p:spPr>
      </p:sp>
      <p:sp>
        <p:nvSpPr>
          <p:cNvPr id="18" name="Shape 16"/>
          <p:cNvSpPr/>
          <p:nvPr/>
        </p:nvSpPr>
        <p:spPr>
          <a:xfrm>
            <a:off x="7507224" y="1339596"/>
            <a:ext cx="100584" cy="100584"/>
          </a:xfrm>
          <a:prstGeom prst="ellipse">
            <a:avLst/>
          </a:prstGeom>
          <a:solidFill>
            <a:srgbClr val="CDD2D9"/>
          </a:solidFill>
          <a:ln/>
        </p:spPr>
      </p:sp>
      <p:sp>
        <p:nvSpPr>
          <p:cNvPr id="19" name="Shape 17"/>
          <p:cNvSpPr/>
          <p:nvPr/>
        </p:nvSpPr>
        <p:spPr>
          <a:xfrm>
            <a:off x="7662672" y="1339596"/>
            <a:ext cx="100584" cy="100584"/>
          </a:xfrm>
          <a:prstGeom prst="ellipse">
            <a:avLst/>
          </a:prstGeom>
          <a:solidFill>
            <a:srgbClr val="CDD2D9"/>
          </a:solidFill>
          <a:ln/>
        </p:spPr>
      </p:sp>
      <p:sp>
        <p:nvSpPr>
          <p:cNvPr id="20" name="Shape 18"/>
          <p:cNvSpPr/>
          <p:nvPr/>
        </p:nvSpPr>
        <p:spPr>
          <a:xfrm>
            <a:off x="7818120" y="1339596"/>
            <a:ext cx="100584" cy="100584"/>
          </a:xfrm>
          <a:prstGeom prst="ellipse">
            <a:avLst/>
          </a:prstGeom>
          <a:solidFill>
            <a:srgbClr val="CDD2D9"/>
          </a:solidFill>
          <a:ln/>
        </p:spPr>
      </p:sp>
      <p:sp>
        <p:nvSpPr>
          <p:cNvPr id="21" name="Shape 19"/>
          <p:cNvSpPr/>
          <p:nvPr/>
        </p:nvSpPr>
        <p:spPr>
          <a:xfrm>
            <a:off x="8183880" y="1298448"/>
            <a:ext cx="2377440" cy="182880"/>
          </a:xfrm>
          <a:prstGeom prst="roundRect">
            <a:avLst>
              <a:gd name="adj" fmla="val 50000"/>
            </a:avLst>
          </a:prstGeom>
          <a:solidFill>
            <a:schemeClr val="bg2"/>
          </a:solidFill>
          <a:ln/>
        </p:spPr>
      </p:sp>
      <p:sp>
        <p:nvSpPr>
          <p:cNvPr id="22" name="Text 20"/>
          <p:cNvSpPr txBox="1"/>
          <p:nvPr/>
        </p:nvSpPr>
        <p:spPr>
          <a:xfrm>
            <a:off x="8183880" y="1298448"/>
            <a:ext cx="2377440" cy="182880"/>
          </a:xfrm>
          <a:prstGeom prst="rect">
            <a:avLst/>
          </a:prstGeom>
          <a:noFill/>
          <a:ln/>
        </p:spPr>
        <p:txBody>
          <a:bodyPr wrap="square" lIns="0" tIns="0" rIns="0" bIns="0" rtlCol="0" anchor="ctr"/>
          <a:lstStyle/>
          <a:p>
            <a:pPr algn="ctr" indent="0" marL="0">
              <a:buNone/>
            </a:pPr>
            <a:r>
              <a:rPr lang="en-US" sz="900" dirty="0">
                <a:solidFill>
                  <a:schemeClr val="accent2"/>
                </a:solidFill>
              </a:rPr>
              <a:t>filemind.vault/documents</a:t>
            </a:r>
            <a:endParaRPr lang="en-US" sz="900" dirty="0"/>
          </a:p>
        </p:txBody>
      </p:sp>
      <p:pic>
        <p:nvPicPr>
          <p:cNvPr id="23" name="Image 0" descr="FileMind document vault screenshot">    </p:cNvPr>
          <p:cNvPicPr>
            <a:picLocks noChangeAspect="1"/>
          </p:cNvPicPr>
          <p:nvPr/>
        </p:nvPicPr>
        <p:blipFill>
          <a:blip r:embed="rId1"/>
          <a:stretch>
            <a:fillRect/>
          </a:stretch>
        </p:blipFill>
        <p:spPr>
          <a:xfrm>
            <a:off x="7379208" y="1545336"/>
            <a:ext cx="3986784" cy="2490354"/>
          </a:xfrm>
          <a:prstGeom prst="rect">
            <a:avLst/>
          </a:prstGeom>
        </p:spPr>
      </p:pic>
      <p:sp>
        <p:nvSpPr>
          <p:cNvPr id="24" name="Shape 21"/>
          <p:cNvSpPr/>
          <p:nvPr/>
        </p:nvSpPr>
        <p:spPr>
          <a:xfrm>
            <a:off x="6766560" y="2606040"/>
            <a:ext cx="4343400" cy="3019452"/>
          </a:xfrm>
          <a:prstGeom prst="roundRect">
            <a:avLst>
              <a:gd name="adj" fmla="val 3028"/>
            </a:avLst>
          </a:prstGeom>
          <a:solidFill>
            <a:schemeClr val="bg1"/>
          </a:solidFill>
          <a:ln w="9525">
            <a:solidFill>
              <a:schemeClr val="accent5"/>
            </a:solidFill>
            <a:prstDash val="solid"/>
          </a:ln>
          <a:effectLst>
            <a:outerShdw sx="100000" sy="100000" kx="0" ky="0" algn="bl" rotWithShape="0" blurRad="203200" dist="63500" dir="5400000">
              <a:srgbClr val="1B2330">
                <a:alpha val="14000"/>
              </a:srgbClr>
            </a:outerShdw>
          </a:effectLst>
        </p:spPr>
      </p:sp>
      <p:sp>
        <p:nvSpPr>
          <p:cNvPr id="25" name="Shape 22"/>
          <p:cNvSpPr/>
          <p:nvPr/>
        </p:nvSpPr>
        <p:spPr>
          <a:xfrm>
            <a:off x="6912864" y="2711196"/>
            <a:ext cx="100584" cy="100584"/>
          </a:xfrm>
          <a:prstGeom prst="ellipse">
            <a:avLst/>
          </a:prstGeom>
          <a:solidFill>
            <a:srgbClr val="CDD2D9"/>
          </a:solidFill>
          <a:ln/>
        </p:spPr>
      </p:sp>
      <p:sp>
        <p:nvSpPr>
          <p:cNvPr id="26" name="Shape 23"/>
          <p:cNvSpPr/>
          <p:nvPr/>
        </p:nvSpPr>
        <p:spPr>
          <a:xfrm>
            <a:off x="7068312" y="2711196"/>
            <a:ext cx="100584" cy="100584"/>
          </a:xfrm>
          <a:prstGeom prst="ellipse">
            <a:avLst/>
          </a:prstGeom>
          <a:solidFill>
            <a:srgbClr val="CDD2D9"/>
          </a:solidFill>
          <a:ln/>
        </p:spPr>
      </p:sp>
      <p:sp>
        <p:nvSpPr>
          <p:cNvPr id="27" name="Shape 24"/>
          <p:cNvSpPr/>
          <p:nvPr/>
        </p:nvSpPr>
        <p:spPr>
          <a:xfrm>
            <a:off x="7223760" y="2711196"/>
            <a:ext cx="100584" cy="100584"/>
          </a:xfrm>
          <a:prstGeom prst="ellipse">
            <a:avLst/>
          </a:prstGeom>
          <a:solidFill>
            <a:srgbClr val="CDD2D9"/>
          </a:solidFill>
          <a:ln/>
        </p:spPr>
      </p:sp>
      <p:sp>
        <p:nvSpPr>
          <p:cNvPr id="28" name="Shape 25"/>
          <p:cNvSpPr/>
          <p:nvPr/>
        </p:nvSpPr>
        <p:spPr>
          <a:xfrm>
            <a:off x="7749540" y="2670048"/>
            <a:ext cx="2377440" cy="182880"/>
          </a:xfrm>
          <a:prstGeom prst="roundRect">
            <a:avLst>
              <a:gd name="adj" fmla="val 50000"/>
            </a:avLst>
          </a:prstGeom>
          <a:solidFill>
            <a:schemeClr val="bg2"/>
          </a:solidFill>
          <a:ln/>
        </p:spPr>
      </p:sp>
      <p:sp>
        <p:nvSpPr>
          <p:cNvPr id="29" name="Text 26"/>
          <p:cNvSpPr txBox="1"/>
          <p:nvPr/>
        </p:nvSpPr>
        <p:spPr>
          <a:xfrm>
            <a:off x="7749540" y="2670048"/>
            <a:ext cx="2377440" cy="182880"/>
          </a:xfrm>
          <a:prstGeom prst="rect">
            <a:avLst/>
          </a:prstGeom>
          <a:noFill/>
          <a:ln/>
        </p:spPr>
        <p:txBody>
          <a:bodyPr wrap="square" lIns="0" tIns="0" rIns="0" bIns="0" rtlCol="0" anchor="ctr"/>
          <a:lstStyle/>
          <a:p>
            <a:pPr algn="ctr" indent="0" marL="0">
              <a:buNone/>
            </a:pPr>
            <a:r>
              <a:rPr lang="en-US" sz="900" dirty="0">
                <a:solidFill>
                  <a:schemeClr val="accent2"/>
                </a:solidFill>
              </a:rPr>
              <a:t>filemind.vault/dashboard</a:t>
            </a:r>
            <a:endParaRPr lang="en-US" sz="900" dirty="0"/>
          </a:p>
        </p:txBody>
      </p:sp>
      <p:pic>
        <p:nvPicPr>
          <p:cNvPr id="30" name="Image 1" descr="FileMind dashboard screenshot">    </p:cNvPr>
          <p:cNvPicPr>
            <a:picLocks noChangeAspect="1"/>
          </p:cNvPicPr>
          <p:nvPr/>
        </p:nvPicPr>
        <p:blipFill>
          <a:blip r:embed="rId2"/>
          <a:stretch>
            <a:fillRect/>
          </a:stretch>
        </p:blipFill>
        <p:spPr>
          <a:xfrm>
            <a:off x="6784848" y="2916936"/>
            <a:ext cx="4306824" cy="2690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Search can’t see inside your PDFs</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File systems treat PDFs as opaque blobs, so the knowledge inside them is fragmented and hard to reach.</a:t>
            </a:r>
            <a:endParaRPr lang="en-US" sz="1500" dirty="0"/>
          </a:p>
        </p:txBody>
      </p:sp>
      <p:sp>
        <p:nvSpPr>
          <p:cNvPr id="4" name="Text 2"/>
          <p:cNvSpPr txBox="1"/>
          <p:nvPr/>
        </p:nvSpPr>
        <p:spPr>
          <a:xfrm>
            <a:off x="548640" y="1645920"/>
            <a:ext cx="3840480" cy="1234440"/>
          </a:xfrm>
          <a:prstGeom prst="rect">
            <a:avLst/>
          </a:prstGeom>
          <a:noFill/>
          <a:ln/>
        </p:spPr>
        <p:txBody>
          <a:bodyPr wrap="square" lIns="0" tIns="0" rIns="0" bIns="0" rtlCol="0" anchor="t"/>
          <a:lstStyle/>
          <a:p>
            <a:pPr indent="0" marL="0">
              <a:buNone/>
            </a:pPr>
            <a:r>
              <a:rPr lang="en-US" sz="8800" b="1" dirty="0">
                <a:solidFill>
                  <a:schemeClr val="tx1"/>
                </a:solidFill>
                <a:latin typeface="Arial" pitchFamily="34" charset="0"/>
                <a:ea typeface="Arial" pitchFamily="34" charset="-122"/>
                <a:cs typeface="Arial" pitchFamily="34" charset="-120"/>
              </a:rPr>
              <a:t>80%</a:t>
            </a:r>
            <a:endParaRPr lang="en-US" sz="8800" dirty="0"/>
          </a:p>
        </p:txBody>
      </p:sp>
      <p:sp>
        <p:nvSpPr>
          <p:cNvPr id="5" name="Text 3"/>
          <p:cNvSpPr txBox="1"/>
          <p:nvPr/>
        </p:nvSpPr>
        <p:spPr>
          <a:xfrm>
            <a:off x="548640" y="2880360"/>
            <a:ext cx="3749040" cy="685800"/>
          </a:xfrm>
          <a:prstGeom prst="rect">
            <a:avLst/>
          </a:prstGeom>
          <a:noFill/>
          <a:ln/>
        </p:spPr>
        <p:txBody>
          <a:bodyPr wrap="square" lIns="0" tIns="0" rIns="0" bIns="0" rtlCol="0" anchor="t"/>
          <a:lstStyle/>
          <a:p>
            <a:pPr indent="0" marL="0">
              <a:buNone/>
            </a:pPr>
            <a:r>
              <a:rPr lang="en-US" sz="1500" dirty="0">
                <a:solidFill>
                  <a:schemeClr val="tx1"/>
                </a:solidFill>
              </a:rPr>
              <a:t>of enterprise and academic knowledge is trapped in unstructured documents.</a:t>
            </a:r>
            <a:endParaRPr lang="en-US" sz="1500" dirty="0"/>
          </a:p>
        </p:txBody>
      </p:sp>
      <p:sp>
        <p:nvSpPr>
          <p:cNvPr id="6" name="Text 4"/>
          <p:cNvSpPr txBox="1"/>
          <p:nvPr/>
        </p:nvSpPr>
        <p:spPr>
          <a:xfrm>
            <a:off x="548640" y="3584448"/>
            <a:ext cx="3749040" cy="228600"/>
          </a:xfrm>
          <a:prstGeom prst="rect">
            <a:avLst/>
          </a:prstGeom>
          <a:noFill/>
          <a:ln/>
        </p:spPr>
        <p:txBody>
          <a:bodyPr wrap="square" lIns="0" tIns="0" rIns="0" bIns="0" rtlCol="0" anchor="t"/>
          <a:lstStyle/>
          <a:p>
            <a:pPr indent="0" marL="0">
              <a:buNone/>
            </a:pPr>
            <a:r>
              <a:rPr lang="en-US" sz="1000" dirty="0">
                <a:solidFill>
                  <a:schemeClr val="accent2"/>
                </a:solidFill>
              </a:rPr>
              <a:t>Source: IDC / Gartner</a:t>
            </a:r>
            <a:endParaRPr lang="en-US" sz="1000" dirty="0"/>
          </a:p>
        </p:txBody>
      </p:sp>
      <p:sp>
        <p:nvSpPr>
          <p:cNvPr id="7" name="Shape 5"/>
          <p:cNvSpPr/>
          <p:nvPr/>
        </p:nvSpPr>
        <p:spPr>
          <a:xfrm>
            <a:off x="548640" y="4069080"/>
            <a:ext cx="3749040" cy="0"/>
          </a:xfrm>
          <a:prstGeom prst="line">
            <a:avLst/>
          </a:prstGeom>
          <a:noFill/>
          <a:ln w="9525">
            <a:solidFill>
              <a:schemeClr val="accent5"/>
            </a:solidFill>
            <a:prstDash val="solid"/>
          </a:ln>
        </p:spPr>
      </p:sp>
      <p:sp>
        <p:nvSpPr>
          <p:cNvPr id="8" name="Text 6"/>
          <p:cNvSpPr txBox="1"/>
          <p:nvPr/>
        </p:nvSpPr>
        <p:spPr>
          <a:xfrm>
            <a:off x="548640" y="4224528"/>
            <a:ext cx="3840480" cy="822960"/>
          </a:xfrm>
          <a:prstGeom prst="rect">
            <a:avLst/>
          </a:prstGeom>
          <a:noFill/>
          <a:ln/>
        </p:spPr>
        <p:txBody>
          <a:bodyPr wrap="square" lIns="0" tIns="0" rIns="0" bIns="0" rtlCol="0" anchor="t"/>
          <a:lstStyle/>
          <a:p>
            <a:pPr indent="0" marL="0">
              <a:buNone/>
            </a:pPr>
            <a:r>
              <a:rPr lang="en-US" sz="5400" b="1" dirty="0">
                <a:solidFill>
                  <a:schemeClr val="tx1"/>
                </a:solidFill>
                <a:latin typeface="Arial" pitchFamily="34" charset="0"/>
                <a:ea typeface="Arial" pitchFamily="34" charset="-122"/>
                <a:cs typeface="Arial" pitchFamily="34" charset="-120"/>
              </a:rPr>
              <a:t>2.5 hrs</a:t>
            </a:r>
            <a:endParaRPr lang="en-US" sz="5400" dirty="0"/>
          </a:p>
        </p:txBody>
      </p:sp>
      <p:sp>
        <p:nvSpPr>
          <p:cNvPr id="9" name="Text 7"/>
          <p:cNvSpPr txBox="1"/>
          <p:nvPr/>
        </p:nvSpPr>
        <p:spPr>
          <a:xfrm>
            <a:off x="548640" y="5047488"/>
            <a:ext cx="3749040" cy="685800"/>
          </a:xfrm>
          <a:prstGeom prst="rect">
            <a:avLst/>
          </a:prstGeom>
          <a:noFill/>
          <a:ln/>
        </p:spPr>
        <p:txBody>
          <a:bodyPr wrap="square" lIns="0" tIns="0" rIns="0" bIns="0" rtlCol="0" anchor="t"/>
          <a:lstStyle/>
          <a:p>
            <a:pPr indent="0" marL="0">
              <a:buNone/>
            </a:pPr>
            <a:r>
              <a:rPr lang="en-US" sz="1500" dirty="0">
                <a:solidFill>
                  <a:schemeClr val="tx1"/>
                </a:solidFill>
              </a:rPr>
              <a:t>a day spent hunting for buried information: nearly 20% of the working week.</a:t>
            </a:r>
            <a:endParaRPr lang="en-US" sz="1500" dirty="0"/>
          </a:p>
        </p:txBody>
      </p:sp>
      <p:sp>
        <p:nvSpPr>
          <p:cNvPr id="10" name="Shape 8"/>
          <p:cNvSpPr/>
          <p:nvPr/>
        </p:nvSpPr>
        <p:spPr>
          <a:xfrm>
            <a:off x="5074920" y="1783080"/>
            <a:ext cx="548640" cy="548640"/>
          </a:xfrm>
          <a:prstGeom prst="ellipse">
            <a:avLst/>
          </a:prstGeom>
          <a:solidFill>
            <a:schemeClr val="bg2"/>
          </a:solidFill>
          <a:ln/>
        </p:spPr>
      </p:sp>
      <p:pic>
        <p:nvPicPr>
          <p:cNvPr id="11" name="Image 0" descr="Icon">    </p:cNvPr>
          <p:cNvPicPr>
            <a:picLocks noChangeAspect="1"/>
          </p:cNvPicPr>
          <p:nvPr/>
        </p:nvPicPr>
        <p:blipFill>
          <a:blip r:embed="rId1"/>
          <a:stretch>
            <a:fillRect/>
          </a:stretch>
        </p:blipFill>
        <p:spPr>
          <a:xfrm>
            <a:off x="5212080" y="1920240"/>
            <a:ext cx="274320" cy="274320"/>
          </a:xfrm>
          <a:prstGeom prst="rect">
            <a:avLst/>
          </a:prstGeom>
        </p:spPr>
      </p:pic>
      <p:sp>
        <p:nvSpPr>
          <p:cNvPr id="12" name="Text 9"/>
          <p:cNvSpPr txBox="1"/>
          <p:nvPr/>
        </p:nvSpPr>
        <p:spPr>
          <a:xfrm>
            <a:off x="5852160" y="1801368"/>
            <a:ext cx="5790895" cy="329184"/>
          </a:xfrm>
          <a:prstGeom prst="rect">
            <a:avLst/>
          </a:prstGeom>
          <a:noFill/>
          <a:ln/>
        </p:spPr>
        <p:txBody>
          <a:bodyPr wrap="square" lIns="0" tIns="0" rIns="0" bIns="0" rtlCol="0" anchor="t"/>
          <a:lstStyle/>
          <a:p>
            <a:pPr indent="0" marL="0">
              <a:buNone/>
            </a:pPr>
            <a:r>
              <a:rPr lang="en-US" sz="1800" b="1" dirty="0">
                <a:solidFill>
                  <a:schemeClr val="tx1"/>
                </a:solidFill>
              </a:rPr>
              <a:t>Keyword-blind storage</a:t>
            </a:r>
            <a:endParaRPr lang="en-US" sz="1800" dirty="0"/>
          </a:p>
        </p:txBody>
      </p:sp>
      <p:sp>
        <p:nvSpPr>
          <p:cNvPr id="13" name="Text 10"/>
          <p:cNvSpPr txBox="1"/>
          <p:nvPr/>
        </p:nvSpPr>
        <p:spPr>
          <a:xfrm>
            <a:off x="5852160" y="2185416"/>
            <a:ext cx="5790895" cy="685800"/>
          </a:xfrm>
          <a:prstGeom prst="rect">
            <a:avLst/>
          </a:prstGeom>
          <a:noFill/>
          <a:ln/>
        </p:spPr>
        <p:txBody>
          <a:bodyPr wrap="square" lIns="0" tIns="0" rIns="0" bIns="0" rtlCol="0" anchor="t"/>
          <a:lstStyle/>
          <a:p>
            <a:pPr indent="0" marL="0">
              <a:buNone/>
            </a:pPr>
            <a:r>
              <a:rPr lang="en-US" sz="1400" dirty="0">
                <a:solidFill>
                  <a:schemeClr val="accent2"/>
                </a:solidFill>
              </a:rPr>
              <a:t>OS and cloud search only index file names. Scanned invoices, image-based PDFs and multi-column papers stay invisible to every query.</a:t>
            </a:r>
            <a:endParaRPr lang="en-US" sz="1400" dirty="0"/>
          </a:p>
        </p:txBody>
      </p:sp>
      <p:sp>
        <p:nvSpPr>
          <p:cNvPr id="14" name="Shape 11"/>
          <p:cNvSpPr/>
          <p:nvPr/>
        </p:nvSpPr>
        <p:spPr>
          <a:xfrm>
            <a:off x="5074920" y="3044952"/>
            <a:ext cx="6568135" cy="0"/>
          </a:xfrm>
          <a:prstGeom prst="line">
            <a:avLst/>
          </a:prstGeom>
          <a:noFill/>
          <a:ln w="9525">
            <a:solidFill>
              <a:schemeClr val="accent5"/>
            </a:solidFill>
            <a:prstDash val="solid"/>
          </a:ln>
        </p:spPr>
      </p:sp>
      <p:sp>
        <p:nvSpPr>
          <p:cNvPr id="15" name="Shape 12"/>
          <p:cNvSpPr/>
          <p:nvPr/>
        </p:nvSpPr>
        <p:spPr>
          <a:xfrm>
            <a:off x="5074920" y="3264408"/>
            <a:ext cx="548640" cy="548640"/>
          </a:xfrm>
          <a:prstGeom prst="ellipse">
            <a:avLst/>
          </a:prstGeom>
          <a:solidFill>
            <a:schemeClr val="bg2"/>
          </a:solidFill>
          <a:ln/>
        </p:spPr>
      </p:sp>
      <p:pic>
        <p:nvPicPr>
          <p:cNvPr id="16" name="Image 1" descr="Icon">    </p:cNvPr>
          <p:cNvPicPr>
            <a:picLocks noChangeAspect="1"/>
          </p:cNvPicPr>
          <p:nvPr/>
        </p:nvPicPr>
        <p:blipFill>
          <a:blip r:embed="rId2"/>
          <a:stretch>
            <a:fillRect/>
          </a:stretch>
        </p:blipFill>
        <p:spPr>
          <a:xfrm>
            <a:off x="5212080" y="3401568"/>
            <a:ext cx="274320" cy="274320"/>
          </a:xfrm>
          <a:prstGeom prst="rect">
            <a:avLst/>
          </a:prstGeom>
        </p:spPr>
      </p:pic>
      <p:sp>
        <p:nvSpPr>
          <p:cNvPr id="17" name="Text 13"/>
          <p:cNvSpPr txBox="1"/>
          <p:nvPr/>
        </p:nvSpPr>
        <p:spPr>
          <a:xfrm>
            <a:off x="5852160" y="3282696"/>
            <a:ext cx="5790895" cy="329184"/>
          </a:xfrm>
          <a:prstGeom prst="rect">
            <a:avLst/>
          </a:prstGeom>
          <a:noFill/>
          <a:ln/>
        </p:spPr>
        <p:txBody>
          <a:bodyPr wrap="square" lIns="0" tIns="0" rIns="0" bIns="0" rtlCol="0" anchor="t"/>
          <a:lstStyle/>
          <a:p>
            <a:pPr indent="0" marL="0">
              <a:buNone/>
            </a:pPr>
            <a:r>
              <a:rPr lang="en-US" sz="1800" b="1" dirty="0">
                <a:solidFill>
                  <a:schemeClr val="tx1"/>
                </a:solidFill>
              </a:rPr>
              <a:t>Manual fact extraction</a:t>
            </a:r>
            <a:endParaRPr lang="en-US" sz="1800" dirty="0"/>
          </a:p>
        </p:txBody>
      </p:sp>
      <p:sp>
        <p:nvSpPr>
          <p:cNvPr id="18" name="Text 14"/>
          <p:cNvSpPr txBox="1"/>
          <p:nvPr/>
        </p:nvSpPr>
        <p:spPr>
          <a:xfrm>
            <a:off x="5852160" y="3666744"/>
            <a:ext cx="5790895" cy="685800"/>
          </a:xfrm>
          <a:prstGeom prst="rect">
            <a:avLst/>
          </a:prstGeom>
          <a:noFill/>
          <a:ln/>
        </p:spPr>
        <p:txBody>
          <a:bodyPr wrap="square" lIns="0" tIns="0" rIns="0" bIns="0" rtlCol="0" anchor="t"/>
          <a:lstStyle/>
          <a:p>
            <a:pPr indent="0" marL="0">
              <a:buNone/>
            </a:pPr>
            <a:r>
              <a:rPr lang="en-US" sz="1400" dirty="0">
                <a:solidFill>
                  <a:schemeClr val="accent2"/>
                </a:solidFill>
              </a:rPr>
              <a:t>Finding an invoice total, a renewal date or an indemnification clause means opening the file, skimming it and copy-pasting by hand.</a:t>
            </a:r>
            <a:endParaRPr lang="en-US" sz="1400" dirty="0"/>
          </a:p>
        </p:txBody>
      </p:sp>
      <p:sp>
        <p:nvSpPr>
          <p:cNvPr id="19" name="Shape 15"/>
          <p:cNvSpPr/>
          <p:nvPr/>
        </p:nvSpPr>
        <p:spPr>
          <a:xfrm>
            <a:off x="5074920" y="4526280"/>
            <a:ext cx="6568135" cy="0"/>
          </a:xfrm>
          <a:prstGeom prst="line">
            <a:avLst/>
          </a:prstGeom>
          <a:noFill/>
          <a:ln w="9525">
            <a:solidFill>
              <a:schemeClr val="accent5"/>
            </a:solidFill>
            <a:prstDash val="solid"/>
          </a:ln>
        </p:spPr>
      </p:sp>
      <p:sp>
        <p:nvSpPr>
          <p:cNvPr id="20" name="Shape 16"/>
          <p:cNvSpPr/>
          <p:nvPr/>
        </p:nvSpPr>
        <p:spPr>
          <a:xfrm>
            <a:off x="5074920" y="4745736"/>
            <a:ext cx="548640" cy="548640"/>
          </a:xfrm>
          <a:prstGeom prst="ellipse">
            <a:avLst/>
          </a:prstGeom>
          <a:solidFill>
            <a:schemeClr val="bg2"/>
          </a:solidFill>
          <a:ln/>
        </p:spPr>
      </p:sp>
      <p:pic>
        <p:nvPicPr>
          <p:cNvPr id="21" name="Image 2" descr="Icon">    </p:cNvPr>
          <p:cNvPicPr>
            <a:picLocks noChangeAspect="1"/>
          </p:cNvPicPr>
          <p:nvPr/>
        </p:nvPicPr>
        <p:blipFill>
          <a:blip r:embed="rId3"/>
          <a:stretch>
            <a:fillRect/>
          </a:stretch>
        </p:blipFill>
        <p:spPr>
          <a:xfrm>
            <a:off x="5212080" y="4882896"/>
            <a:ext cx="274320" cy="274320"/>
          </a:xfrm>
          <a:prstGeom prst="rect">
            <a:avLst/>
          </a:prstGeom>
        </p:spPr>
      </p:pic>
      <p:sp>
        <p:nvSpPr>
          <p:cNvPr id="22" name="Text 17"/>
          <p:cNvSpPr txBox="1"/>
          <p:nvPr/>
        </p:nvSpPr>
        <p:spPr>
          <a:xfrm>
            <a:off x="5852160" y="4764024"/>
            <a:ext cx="5790895" cy="329184"/>
          </a:xfrm>
          <a:prstGeom prst="rect">
            <a:avLst/>
          </a:prstGeom>
          <a:noFill/>
          <a:ln/>
        </p:spPr>
        <p:txBody>
          <a:bodyPr wrap="square" lIns="0" tIns="0" rIns="0" bIns="0" rtlCol="0" anchor="t"/>
          <a:lstStyle/>
          <a:p>
            <a:pPr indent="0" marL="0">
              <a:buNone/>
            </a:pPr>
            <a:r>
              <a:rPr lang="en-US" sz="1800" b="1" dirty="0">
                <a:solidFill>
                  <a:schemeClr val="tx1"/>
                </a:solidFill>
              </a:rPr>
              <a:t>Tools that break at scale</a:t>
            </a:r>
            <a:endParaRPr lang="en-US" sz="1800" dirty="0"/>
          </a:p>
        </p:txBody>
      </p:sp>
      <p:sp>
        <p:nvSpPr>
          <p:cNvPr id="23" name="Text 18"/>
          <p:cNvSpPr txBox="1"/>
          <p:nvPr/>
        </p:nvSpPr>
        <p:spPr>
          <a:xfrm>
            <a:off x="5852160" y="5148072"/>
            <a:ext cx="5790895" cy="685800"/>
          </a:xfrm>
          <a:prstGeom prst="rect">
            <a:avLst/>
          </a:prstGeom>
          <a:noFill/>
          <a:ln/>
        </p:spPr>
        <p:txBody>
          <a:bodyPr wrap="square" lIns="0" tIns="0" rIns="0" bIns="0" rtlCol="0" anchor="t"/>
          <a:lstStyle/>
          <a:p>
            <a:pPr indent="0" marL="0">
              <a:buNone/>
            </a:pPr>
            <a:r>
              <a:rPr lang="en-US" sz="1400" dirty="0">
                <a:solidFill>
                  <a:schemeClr val="accent2"/>
                </a:solidFill>
              </a:rPr>
              <a:t>Desktop OCR tools crash on batches of 50+ files, and consumer cloud drives lack row-level access control, so private files can leak.</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From passive folders to a searchable vault</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FileMind replaces manual upkeep with document understanding and instant retrieval.</a:t>
            </a:r>
            <a:endParaRPr lang="en-US" sz="1500" dirty="0"/>
          </a:p>
        </p:txBody>
      </p:sp>
      <p:sp>
        <p:nvSpPr>
          <p:cNvPr id="4" name="Shape 2"/>
          <p:cNvSpPr/>
          <p:nvPr/>
        </p:nvSpPr>
        <p:spPr>
          <a:xfrm>
            <a:off x="548640" y="1691640"/>
            <a:ext cx="5074920" cy="4572000"/>
          </a:xfrm>
          <a:prstGeom prst="roundRect">
            <a:avLst>
              <a:gd name="adj" fmla="val 2400"/>
            </a:avLst>
          </a:prstGeom>
          <a:solidFill>
            <a:schemeClr val="bg2"/>
          </a:solidFill>
          <a:ln/>
        </p:spPr>
      </p:sp>
      <p:sp>
        <p:nvSpPr>
          <p:cNvPr id="5" name="Shape 3"/>
          <p:cNvSpPr/>
          <p:nvPr/>
        </p:nvSpPr>
        <p:spPr>
          <a:xfrm>
            <a:off x="6568135" y="1691640"/>
            <a:ext cx="5074920" cy="4572000"/>
          </a:xfrm>
          <a:prstGeom prst="roundRect">
            <a:avLst>
              <a:gd name="adj" fmla="val 2400"/>
            </a:avLst>
          </a:prstGeom>
          <a:solidFill>
            <a:srgbClr val="FFF4D1"/>
          </a:solidFill>
          <a:ln w="19050">
            <a:solidFill>
              <a:schemeClr val="accent1"/>
            </a:solidFill>
            <a:prstDash val="solid"/>
          </a:ln>
        </p:spPr>
      </p:sp>
      <p:sp>
        <p:nvSpPr>
          <p:cNvPr id="6" name="Text 4"/>
          <p:cNvSpPr txBox="1"/>
          <p:nvPr/>
        </p:nvSpPr>
        <p:spPr>
          <a:xfrm>
            <a:off x="914400" y="1984248"/>
            <a:ext cx="434340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TRADITIONAL PDF STORAGE</a:t>
            </a:r>
            <a:endParaRPr lang="en-US" sz="1050" dirty="0"/>
          </a:p>
        </p:txBody>
      </p:sp>
      <p:sp>
        <p:nvSpPr>
          <p:cNvPr id="7" name="Text 5"/>
          <p:cNvSpPr txBox="1"/>
          <p:nvPr/>
        </p:nvSpPr>
        <p:spPr>
          <a:xfrm>
            <a:off x="914400" y="2240280"/>
            <a:ext cx="4343400" cy="365760"/>
          </a:xfrm>
          <a:prstGeom prst="rect">
            <a:avLst/>
          </a:prstGeom>
          <a:noFill/>
          <a:ln/>
        </p:spPr>
        <p:txBody>
          <a:bodyPr wrap="square" lIns="0" tIns="0" rIns="0" bIns="0" rtlCol="0" anchor="t"/>
          <a:lstStyle/>
          <a:p>
            <a:pPr indent="0" marL="0">
              <a:buNone/>
            </a:pPr>
            <a:r>
              <a:rPr lang="en-US" sz="1900" b="1" dirty="0">
                <a:solidFill>
                  <a:schemeClr val="tx1"/>
                </a:solidFill>
              </a:rPr>
              <a:t>Passive folders, manual upkeep</a:t>
            </a:r>
            <a:endParaRPr lang="en-US" sz="1900" dirty="0"/>
          </a:p>
        </p:txBody>
      </p:sp>
      <p:sp>
        <p:nvSpPr>
          <p:cNvPr id="8" name="Text 6"/>
          <p:cNvSpPr txBox="1"/>
          <p:nvPr/>
        </p:nvSpPr>
        <p:spPr>
          <a:xfrm>
            <a:off x="6933895" y="1984248"/>
            <a:ext cx="43434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FILEMIND AI VAULT</a:t>
            </a:r>
            <a:endParaRPr lang="en-US" sz="1050" dirty="0"/>
          </a:p>
        </p:txBody>
      </p:sp>
      <p:sp>
        <p:nvSpPr>
          <p:cNvPr id="9" name="Text 7"/>
          <p:cNvSpPr txBox="1"/>
          <p:nvPr/>
        </p:nvSpPr>
        <p:spPr>
          <a:xfrm>
            <a:off x="6933895" y="2240280"/>
            <a:ext cx="4343400" cy="365760"/>
          </a:xfrm>
          <a:prstGeom prst="rect">
            <a:avLst/>
          </a:prstGeom>
          <a:noFill/>
          <a:ln/>
        </p:spPr>
        <p:txBody>
          <a:bodyPr wrap="square" lIns="0" tIns="0" rIns="0" bIns="0" rtlCol="0" anchor="t"/>
          <a:lstStyle/>
          <a:p>
            <a:pPr indent="0" marL="0">
              <a:buNone/>
            </a:pPr>
            <a:r>
              <a:rPr lang="en-US" sz="1900" b="1" dirty="0">
                <a:solidFill>
                  <a:schemeClr val="tx1"/>
                </a:solidFill>
              </a:rPr>
              <a:t>Reads documents, finds answers</a:t>
            </a:r>
            <a:endParaRPr lang="en-US" sz="1900" dirty="0"/>
          </a:p>
        </p:txBody>
      </p:sp>
      <p:pic>
        <p:nvPicPr>
          <p:cNvPr id="10" name="Image 0" descr="Icon">    </p:cNvPr>
          <p:cNvPicPr>
            <a:picLocks noChangeAspect="1"/>
          </p:cNvPicPr>
          <p:nvPr/>
        </p:nvPicPr>
        <p:blipFill>
          <a:blip r:embed="rId1"/>
          <a:stretch>
            <a:fillRect/>
          </a:stretch>
        </p:blipFill>
        <p:spPr>
          <a:xfrm>
            <a:off x="914400" y="2916936"/>
            <a:ext cx="219456" cy="219456"/>
          </a:xfrm>
          <a:prstGeom prst="rect">
            <a:avLst/>
          </a:prstGeom>
        </p:spPr>
      </p:pic>
      <p:sp>
        <p:nvSpPr>
          <p:cNvPr id="11" name="Text 8"/>
          <p:cNvSpPr txBox="1"/>
          <p:nvPr/>
        </p:nvSpPr>
        <p:spPr>
          <a:xfrm>
            <a:off x="1280160" y="2880360"/>
            <a:ext cx="3977640" cy="292608"/>
          </a:xfrm>
          <a:prstGeom prst="rect">
            <a:avLst/>
          </a:prstGeom>
          <a:noFill/>
          <a:ln/>
        </p:spPr>
        <p:txBody>
          <a:bodyPr wrap="square" lIns="0" tIns="0" rIns="0" bIns="0" rtlCol="0" anchor="t"/>
          <a:lstStyle/>
          <a:p>
            <a:pPr indent="0" marL="0">
              <a:buNone/>
            </a:pPr>
            <a:r>
              <a:rPr lang="en-US" sz="1500" b="1" dirty="0">
                <a:solidFill>
                  <a:schemeClr val="tx1"/>
                </a:solidFill>
              </a:rPr>
              <a:t>Exact filename search</a:t>
            </a:r>
            <a:endParaRPr lang="en-US" sz="1500" dirty="0"/>
          </a:p>
        </p:txBody>
      </p:sp>
      <p:sp>
        <p:nvSpPr>
          <p:cNvPr id="12" name="Text 9"/>
          <p:cNvSpPr txBox="1"/>
          <p:nvPr/>
        </p:nvSpPr>
        <p:spPr>
          <a:xfrm>
            <a:off x="1280160" y="318211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Fails unless you recall ‘report_v2_final.pdf’.</a:t>
            </a:r>
            <a:endParaRPr lang="en-US" sz="1400" dirty="0"/>
          </a:p>
        </p:txBody>
      </p:sp>
      <p:sp>
        <p:nvSpPr>
          <p:cNvPr id="13" name="Shape 10"/>
          <p:cNvSpPr/>
          <p:nvPr/>
        </p:nvSpPr>
        <p:spPr>
          <a:xfrm>
            <a:off x="6915607" y="2898648"/>
            <a:ext cx="256032" cy="256032"/>
          </a:xfrm>
          <a:prstGeom prst="ellipse">
            <a:avLst/>
          </a:prstGeom>
          <a:solidFill>
            <a:schemeClr val="accent1"/>
          </a:solidFill>
          <a:ln/>
        </p:spPr>
      </p:sp>
      <p:pic>
        <p:nvPicPr>
          <p:cNvPr id="14" name="Image 1" descr="Icon">    </p:cNvPr>
          <p:cNvPicPr>
            <a:picLocks noChangeAspect="1"/>
          </p:cNvPicPr>
          <p:nvPr/>
        </p:nvPicPr>
        <p:blipFill>
          <a:blip r:embed="rId2"/>
          <a:stretch>
            <a:fillRect/>
          </a:stretch>
        </p:blipFill>
        <p:spPr>
          <a:xfrm>
            <a:off x="6970471" y="2953512"/>
            <a:ext cx="146304" cy="146304"/>
          </a:xfrm>
          <a:prstGeom prst="rect">
            <a:avLst/>
          </a:prstGeom>
        </p:spPr>
      </p:pic>
      <p:sp>
        <p:nvSpPr>
          <p:cNvPr id="15" name="Text 11"/>
          <p:cNvSpPr txBox="1"/>
          <p:nvPr/>
        </p:nvSpPr>
        <p:spPr>
          <a:xfrm>
            <a:off x="7299655" y="2880360"/>
            <a:ext cx="3977640" cy="292608"/>
          </a:xfrm>
          <a:prstGeom prst="rect">
            <a:avLst/>
          </a:prstGeom>
          <a:noFill/>
          <a:ln/>
        </p:spPr>
        <p:txBody>
          <a:bodyPr wrap="square" lIns="0" tIns="0" rIns="0" bIns="0" rtlCol="0" anchor="t"/>
          <a:lstStyle/>
          <a:p>
            <a:pPr indent="0" marL="0">
              <a:buNone/>
            </a:pPr>
            <a:r>
              <a:rPr lang="en-US" sz="1500" b="1" dirty="0">
                <a:solidFill>
                  <a:schemeClr val="tx1"/>
                </a:solidFill>
              </a:rPr>
              <a:t>Semantic concept search</a:t>
            </a:r>
            <a:endParaRPr lang="en-US" sz="1500" dirty="0"/>
          </a:p>
        </p:txBody>
      </p:sp>
      <p:sp>
        <p:nvSpPr>
          <p:cNvPr id="16" name="Text 12"/>
          <p:cNvSpPr txBox="1"/>
          <p:nvPr/>
        </p:nvSpPr>
        <p:spPr>
          <a:xfrm>
            <a:off x="7299655" y="318211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Ask for ‘cloud server bill’, no keyword needed.</a:t>
            </a:r>
            <a:endParaRPr lang="en-US" sz="1400" dirty="0"/>
          </a:p>
        </p:txBody>
      </p:sp>
      <p:pic>
        <p:nvPicPr>
          <p:cNvPr id="17" name="Image 2" descr="Icon">    </p:cNvPr>
          <p:cNvPicPr>
            <a:picLocks noChangeAspect="1"/>
          </p:cNvPicPr>
          <p:nvPr/>
        </p:nvPicPr>
        <p:blipFill>
          <a:blip r:embed="rId3"/>
          <a:stretch>
            <a:fillRect/>
          </a:stretch>
        </p:blipFill>
        <p:spPr>
          <a:xfrm>
            <a:off x="5976976" y="3044952"/>
            <a:ext cx="237744" cy="237744"/>
          </a:xfrm>
          <a:prstGeom prst="rect">
            <a:avLst/>
          </a:prstGeom>
        </p:spPr>
      </p:pic>
      <p:sp>
        <p:nvSpPr>
          <p:cNvPr id="18" name="Shape 13"/>
          <p:cNvSpPr/>
          <p:nvPr/>
        </p:nvSpPr>
        <p:spPr>
          <a:xfrm>
            <a:off x="914400" y="3566160"/>
            <a:ext cx="4343400" cy="0"/>
          </a:xfrm>
          <a:prstGeom prst="line">
            <a:avLst/>
          </a:prstGeom>
          <a:noFill/>
          <a:ln w="9525">
            <a:solidFill>
              <a:schemeClr val="accent5"/>
            </a:solidFill>
            <a:prstDash val="solid"/>
          </a:ln>
        </p:spPr>
      </p:sp>
      <p:sp>
        <p:nvSpPr>
          <p:cNvPr id="19" name="Shape 14"/>
          <p:cNvSpPr/>
          <p:nvPr/>
        </p:nvSpPr>
        <p:spPr>
          <a:xfrm>
            <a:off x="6933895" y="3566160"/>
            <a:ext cx="4343400" cy="0"/>
          </a:xfrm>
          <a:prstGeom prst="line">
            <a:avLst/>
          </a:prstGeom>
          <a:noFill/>
          <a:ln w="9525">
            <a:solidFill>
              <a:srgbClr val="EFD9A3"/>
            </a:solidFill>
            <a:prstDash val="solid"/>
          </a:ln>
        </p:spPr>
      </p:sp>
      <p:pic>
        <p:nvPicPr>
          <p:cNvPr id="20" name="Image 3" descr="Icon">    </p:cNvPr>
          <p:cNvPicPr>
            <a:picLocks noChangeAspect="1"/>
          </p:cNvPicPr>
          <p:nvPr/>
        </p:nvPicPr>
        <p:blipFill>
          <a:blip r:embed="rId4"/>
          <a:stretch>
            <a:fillRect/>
          </a:stretch>
        </p:blipFill>
        <p:spPr>
          <a:xfrm>
            <a:off x="914400" y="3739896"/>
            <a:ext cx="219456" cy="219456"/>
          </a:xfrm>
          <a:prstGeom prst="rect">
            <a:avLst/>
          </a:prstGeom>
        </p:spPr>
      </p:pic>
      <p:sp>
        <p:nvSpPr>
          <p:cNvPr id="21" name="Text 15"/>
          <p:cNvSpPr txBox="1"/>
          <p:nvPr/>
        </p:nvSpPr>
        <p:spPr>
          <a:xfrm>
            <a:off x="1280160" y="3703320"/>
            <a:ext cx="3977640" cy="292608"/>
          </a:xfrm>
          <a:prstGeom prst="rect">
            <a:avLst/>
          </a:prstGeom>
          <a:noFill/>
          <a:ln/>
        </p:spPr>
        <p:txBody>
          <a:bodyPr wrap="square" lIns="0" tIns="0" rIns="0" bIns="0" rtlCol="0" anchor="t"/>
          <a:lstStyle/>
          <a:p>
            <a:pPr indent="0" marL="0">
              <a:buNone/>
            </a:pPr>
            <a:r>
              <a:rPr lang="en-US" sz="1500" b="1" dirty="0">
                <a:solidFill>
                  <a:schemeClr val="tx1"/>
                </a:solidFill>
              </a:rPr>
              <a:t>Blind to scanned text</a:t>
            </a:r>
            <a:endParaRPr lang="en-US" sz="1500" dirty="0"/>
          </a:p>
        </p:txBody>
      </p:sp>
      <p:sp>
        <p:nvSpPr>
          <p:cNvPr id="22" name="Text 16"/>
          <p:cNvSpPr txBox="1"/>
          <p:nvPr/>
        </p:nvSpPr>
        <p:spPr>
          <a:xfrm>
            <a:off x="1280160" y="400507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Image PDFs and scans can’t be indexed.</a:t>
            </a:r>
            <a:endParaRPr lang="en-US" sz="1400" dirty="0"/>
          </a:p>
        </p:txBody>
      </p:sp>
      <p:sp>
        <p:nvSpPr>
          <p:cNvPr id="23" name="Shape 17"/>
          <p:cNvSpPr/>
          <p:nvPr/>
        </p:nvSpPr>
        <p:spPr>
          <a:xfrm>
            <a:off x="6915607" y="3721608"/>
            <a:ext cx="256032" cy="256032"/>
          </a:xfrm>
          <a:prstGeom prst="ellipse">
            <a:avLst/>
          </a:prstGeom>
          <a:solidFill>
            <a:schemeClr val="accent1"/>
          </a:solidFill>
          <a:ln/>
        </p:spPr>
      </p:sp>
      <p:pic>
        <p:nvPicPr>
          <p:cNvPr id="24" name="Image 4" descr="Icon">    </p:cNvPr>
          <p:cNvPicPr>
            <a:picLocks noChangeAspect="1"/>
          </p:cNvPicPr>
          <p:nvPr/>
        </p:nvPicPr>
        <p:blipFill>
          <a:blip r:embed="rId5"/>
          <a:stretch>
            <a:fillRect/>
          </a:stretch>
        </p:blipFill>
        <p:spPr>
          <a:xfrm>
            <a:off x="6970471" y="3776472"/>
            <a:ext cx="146304" cy="146304"/>
          </a:xfrm>
          <a:prstGeom prst="rect">
            <a:avLst/>
          </a:prstGeom>
        </p:spPr>
      </p:pic>
      <p:sp>
        <p:nvSpPr>
          <p:cNvPr id="25" name="Text 18"/>
          <p:cNvSpPr txBox="1"/>
          <p:nvPr/>
        </p:nvSpPr>
        <p:spPr>
          <a:xfrm>
            <a:off x="7299655" y="3703320"/>
            <a:ext cx="3977640" cy="292608"/>
          </a:xfrm>
          <a:prstGeom prst="rect">
            <a:avLst/>
          </a:prstGeom>
          <a:noFill/>
          <a:ln/>
        </p:spPr>
        <p:txBody>
          <a:bodyPr wrap="square" lIns="0" tIns="0" rIns="0" bIns="0" rtlCol="0" anchor="t"/>
          <a:lstStyle/>
          <a:p>
            <a:pPr indent="0" marL="0">
              <a:buNone/>
            </a:pPr>
            <a:r>
              <a:rPr lang="en-US" sz="1500" b="1" dirty="0">
                <a:solidFill>
                  <a:schemeClr val="tx1"/>
                </a:solidFill>
              </a:rPr>
              <a:t>Multimodal understanding</a:t>
            </a:r>
            <a:endParaRPr lang="en-US" sz="1500" dirty="0"/>
          </a:p>
        </p:txBody>
      </p:sp>
      <p:sp>
        <p:nvSpPr>
          <p:cNvPr id="26" name="Text 19"/>
          <p:cNvSpPr txBox="1"/>
          <p:nvPr/>
        </p:nvSpPr>
        <p:spPr>
          <a:xfrm>
            <a:off x="7299655" y="400507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Gemini extracts category, tags and page text.</a:t>
            </a:r>
            <a:endParaRPr lang="en-US" sz="1400" dirty="0"/>
          </a:p>
        </p:txBody>
      </p:sp>
      <p:pic>
        <p:nvPicPr>
          <p:cNvPr id="27" name="Image 5" descr="Icon">    </p:cNvPr>
          <p:cNvPicPr>
            <a:picLocks noChangeAspect="1"/>
          </p:cNvPicPr>
          <p:nvPr/>
        </p:nvPicPr>
        <p:blipFill>
          <a:blip r:embed="rId6"/>
          <a:stretch>
            <a:fillRect/>
          </a:stretch>
        </p:blipFill>
        <p:spPr>
          <a:xfrm>
            <a:off x="5976976" y="3867912"/>
            <a:ext cx="237744" cy="237744"/>
          </a:xfrm>
          <a:prstGeom prst="rect">
            <a:avLst/>
          </a:prstGeom>
        </p:spPr>
      </p:pic>
      <p:sp>
        <p:nvSpPr>
          <p:cNvPr id="28" name="Shape 20"/>
          <p:cNvSpPr/>
          <p:nvPr/>
        </p:nvSpPr>
        <p:spPr>
          <a:xfrm>
            <a:off x="914400" y="4389120"/>
            <a:ext cx="4343400" cy="0"/>
          </a:xfrm>
          <a:prstGeom prst="line">
            <a:avLst/>
          </a:prstGeom>
          <a:noFill/>
          <a:ln w="9525">
            <a:solidFill>
              <a:schemeClr val="accent5"/>
            </a:solidFill>
            <a:prstDash val="solid"/>
          </a:ln>
        </p:spPr>
      </p:sp>
      <p:sp>
        <p:nvSpPr>
          <p:cNvPr id="29" name="Shape 21"/>
          <p:cNvSpPr/>
          <p:nvPr/>
        </p:nvSpPr>
        <p:spPr>
          <a:xfrm>
            <a:off x="6933895" y="4389120"/>
            <a:ext cx="4343400" cy="0"/>
          </a:xfrm>
          <a:prstGeom prst="line">
            <a:avLst/>
          </a:prstGeom>
          <a:noFill/>
          <a:ln w="9525">
            <a:solidFill>
              <a:srgbClr val="EFD9A3"/>
            </a:solidFill>
            <a:prstDash val="solid"/>
          </a:ln>
        </p:spPr>
      </p:sp>
      <p:pic>
        <p:nvPicPr>
          <p:cNvPr id="30" name="Image 6" descr="Icon">    </p:cNvPr>
          <p:cNvPicPr>
            <a:picLocks noChangeAspect="1"/>
          </p:cNvPicPr>
          <p:nvPr/>
        </p:nvPicPr>
        <p:blipFill>
          <a:blip r:embed="rId7"/>
          <a:stretch>
            <a:fillRect/>
          </a:stretch>
        </p:blipFill>
        <p:spPr>
          <a:xfrm>
            <a:off x="914400" y="4562856"/>
            <a:ext cx="219456" cy="219456"/>
          </a:xfrm>
          <a:prstGeom prst="rect">
            <a:avLst/>
          </a:prstGeom>
        </p:spPr>
      </p:pic>
      <p:sp>
        <p:nvSpPr>
          <p:cNvPr id="31" name="Text 22"/>
          <p:cNvSpPr txBox="1"/>
          <p:nvPr/>
        </p:nvSpPr>
        <p:spPr>
          <a:xfrm>
            <a:off x="1280160" y="4526280"/>
            <a:ext cx="3977640" cy="292608"/>
          </a:xfrm>
          <a:prstGeom prst="rect">
            <a:avLst/>
          </a:prstGeom>
          <a:noFill/>
          <a:ln/>
        </p:spPr>
        <p:txBody>
          <a:bodyPr wrap="square" lIns="0" tIns="0" rIns="0" bIns="0" rtlCol="0" anchor="t"/>
          <a:lstStyle/>
          <a:p>
            <a:pPr indent="0" marL="0">
              <a:buNone/>
            </a:pPr>
            <a:r>
              <a:rPr lang="en-US" sz="1500" b="1" dirty="0">
                <a:solidFill>
                  <a:schemeClr val="tx1"/>
                </a:solidFill>
              </a:rPr>
              <a:t>Manual data entry</a:t>
            </a:r>
            <a:endParaRPr lang="en-US" sz="1500" dirty="0"/>
          </a:p>
        </p:txBody>
      </p:sp>
      <p:sp>
        <p:nvSpPr>
          <p:cNvPr id="32" name="Text 23"/>
          <p:cNvSpPr txBox="1"/>
          <p:nvPr/>
        </p:nvSpPr>
        <p:spPr>
          <a:xfrm>
            <a:off x="1280160" y="482803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Totals, vendors and dates typed by hand.</a:t>
            </a:r>
            <a:endParaRPr lang="en-US" sz="1400" dirty="0"/>
          </a:p>
        </p:txBody>
      </p:sp>
      <p:sp>
        <p:nvSpPr>
          <p:cNvPr id="33" name="Shape 24"/>
          <p:cNvSpPr/>
          <p:nvPr/>
        </p:nvSpPr>
        <p:spPr>
          <a:xfrm>
            <a:off x="6915607" y="4544568"/>
            <a:ext cx="256032" cy="256032"/>
          </a:xfrm>
          <a:prstGeom prst="ellipse">
            <a:avLst/>
          </a:prstGeom>
          <a:solidFill>
            <a:schemeClr val="accent1"/>
          </a:solidFill>
          <a:ln/>
        </p:spPr>
      </p:sp>
      <p:pic>
        <p:nvPicPr>
          <p:cNvPr id="34" name="Image 7" descr="Icon">    </p:cNvPr>
          <p:cNvPicPr>
            <a:picLocks noChangeAspect="1"/>
          </p:cNvPicPr>
          <p:nvPr/>
        </p:nvPicPr>
        <p:blipFill>
          <a:blip r:embed="rId8"/>
          <a:stretch>
            <a:fillRect/>
          </a:stretch>
        </p:blipFill>
        <p:spPr>
          <a:xfrm>
            <a:off x="6970471" y="4599432"/>
            <a:ext cx="146304" cy="146304"/>
          </a:xfrm>
          <a:prstGeom prst="rect">
            <a:avLst/>
          </a:prstGeom>
        </p:spPr>
      </p:pic>
      <p:sp>
        <p:nvSpPr>
          <p:cNvPr id="35" name="Text 25"/>
          <p:cNvSpPr txBox="1"/>
          <p:nvPr/>
        </p:nvSpPr>
        <p:spPr>
          <a:xfrm>
            <a:off x="7299655" y="4526280"/>
            <a:ext cx="3977640" cy="292608"/>
          </a:xfrm>
          <a:prstGeom prst="rect">
            <a:avLst/>
          </a:prstGeom>
          <a:noFill/>
          <a:ln/>
        </p:spPr>
        <p:txBody>
          <a:bodyPr wrap="square" lIns="0" tIns="0" rIns="0" bIns="0" rtlCol="0" anchor="t"/>
          <a:lstStyle/>
          <a:p>
            <a:pPr indent="0" marL="0">
              <a:buNone/>
            </a:pPr>
            <a:r>
              <a:rPr lang="en-US" sz="1500" b="1" dirty="0">
                <a:solidFill>
                  <a:schemeClr val="tx1"/>
                </a:solidFill>
              </a:rPr>
              <a:t>Structured JSON output</a:t>
            </a:r>
            <a:endParaRPr lang="en-US" sz="1500" dirty="0"/>
          </a:p>
        </p:txBody>
      </p:sp>
      <p:sp>
        <p:nvSpPr>
          <p:cNvPr id="36" name="Text 26"/>
          <p:cNvSpPr txBox="1"/>
          <p:nvPr/>
        </p:nvSpPr>
        <p:spPr>
          <a:xfrm>
            <a:off x="7299655" y="482803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Invoice totals, dates and parties as clean JSON.</a:t>
            </a:r>
            <a:endParaRPr lang="en-US" sz="1400" dirty="0"/>
          </a:p>
        </p:txBody>
      </p:sp>
      <p:pic>
        <p:nvPicPr>
          <p:cNvPr id="37" name="Image 8" descr="Icon">    </p:cNvPr>
          <p:cNvPicPr>
            <a:picLocks noChangeAspect="1"/>
          </p:cNvPicPr>
          <p:nvPr/>
        </p:nvPicPr>
        <p:blipFill>
          <a:blip r:embed="rId9"/>
          <a:stretch>
            <a:fillRect/>
          </a:stretch>
        </p:blipFill>
        <p:spPr>
          <a:xfrm>
            <a:off x="5976976" y="4690872"/>
            <a:ext cx="237744" cy="237744"/>
          </a:xfrm>
          <a:prstGeom prst="rect">
            <a:avLst/>
          </a:prstGeom>
        </p:spPr>
      </p:pic>
      <p:sp>
        <p:nvSpPr>
          <p:cNvPr id="38" name="Shape 27"/>
          <p:cNvSpPr/>
          <p:nvPr/>
        </p:nvSpPr>
        <p:spPr>
          <a:xfrm>
            <a:off x="914400" y="5212080"/>
            <a:ext cx="4343400" cy="0"/>
          </a:xfrm>
          <a:prstGeom prst="line">
            <a:avLst/>
          </a:prstGeom>
          <a:noFill/>
          <a:ln w="9525">
            <a:solidFill>
              <a:schemeClr val="accent5"/>
            </a:solidFill>
            <a:prstDash val="solid"/>
          </a:ln>
        </p:spPr>
      </p:sp>
      <p:sp>
        <p:nvSpPr>
          <p:cNvPr id="39" name="Shape 28"/>
          <p:cNvSpPr/>
          <p:nvPr/>
        </p:nvSpPr>
        <p:spPr>
          <a:xfrm>
            <a:off x="6933895" y="5212080"/>
            <a:ext cx="4343400" cy="0"/>
          </a:xfrm>
          <a:prstGeom prst="line">
            <a:avLst/>
          </a:prstGeom>
          <a:noFill/>
          <a:ln w="9525">
            <a:solidFill>
              <a:srgbClr val="EFD9A3"/>
            </a:solidFill>
            <a:prstDash val="solid"/>
          </a:ln>
        </p:spPr>
      </p:sp>
      <p:pic>
        <p:nvPicPr>
          <p:cNvPr id="40" name="Image 9" descr="Icon">    </p:cNvPr>
          <p:cNvPicPr>
            <a:picLocks noChangeAspect="1"/>
          </p:cNvPicPr>
          <p:nvPr/>
        </p:nvPicPr>
        <p:blipFill>
          <a:blip r:embed="rId10"/>
          <a:stretch>
            <a:fillRect/>
          </a:stretch>
        </p:blipFill>
        <p:spPr>
          <a:xfrm>
            <a:off x="914400" y="5385816"/>
            <a:ext cx="219456" cy="219456"/>
          </a:xfrm>
          <a:prstGeom prst="rect">
            <a:avLst/>
          </a:prstGeom>
        </p:spPr>
      </p:pic>
      <p:sp>
        <p:nvSpPr>
          <p:cNvPr id="41" name="Text 29"/>
          <p:cNvSpPr txBox="1"/>
          <p:nvPr/>
        </p:nvSpPr>
        <p:spPr>
          <a:xfrm>
            <a:off x="1280160" y="5349240"/>
            <a:ext cx="3977640" cy="292608"/>
          </a:xfrm>
          <a:prstGeom prst="rect">
            <a:avLst/>
          </a:prstGeom>
          <a:noFill/>
          <a:ln/>
        </p:spPr>
        <p:txBody>
          <a:bodyPr wrap="square" lIns="0" tIns="0" rIns="0" bIns="0" rtlCol="0" anchor="t"/>
          <a:lstStyle/>
          <a:p>
            <a:pPr indent="0" marL="0">
              <a:buNone/>
            </a:pPr>
            <a:r>
              <a:rPr lang="en-US" sz="1500" b="1" dirty="0">
                <a:solidFill>
                  <a:schemeClr val="tx1"/>
                </a:solidFill>
              </a:rPr>
              <a:t>No tenant isolation</a:t>
            </a:r>
            <a:endParaRPr lang="en-US" sz="1500" dirty="0"/>
          </a:p>
        </p:txBody>
      </p:sp>
      <p:sp>
        <p:nvSpPr>
          <p:cNvPr id="42" name="Text 30"/>
          <p:cNvSpPr txBox="1"/>
          <p:nvPr/>
        </p:nvSpPr>
        <p:spPr>
          <a:xfrm>
            <a:off x="1280160" y="565099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Shared folders with no row-level security.</a:t>
            </a:r>
            <a:endParaRPr lang="en-US" sz="1400" dirty="0"/>
          </a:p>
        </p:txBody>
      </p:sp>
      <p:sp>
        <p:nvSpPr>
          <p:cNvPr id="43" name="Shape 31"/>
          <p:cNvSpPr/>
          <p:nvPr/>
        </p:nvSpPr>
        <p:spPr>
          <a:xfrm>
            <a:off x="6915607" y="5367528"/>
            <a:ext cx="256032" cy="256032"/>
          </a:xfrm>
          <a:prstGeom prst="ellipse">
            <a:avLst/>
          </a:prstGeom>
          <a:solidFill>
            <a:schemeClr val="accent1"/>
          </a:solidFill>
          <a:ln/>
        </p:spPr>
      </p:sp>
      <p:pic>
        <p:nvPicPr>
          <p:cNvPr id="44" name="Image 10" descr="Icon">    </p:cNvPr>
          <p:cNvPicPr>
            <a:picLocks noChangeAspect="1"/>
          </p:cNvPicPr>
          <p:nvPr/>
        </p:nvPicPr>
        <p:blipFill>
          <a:blip r:embed="rId11"/>
          <a:stretch>
            <a:fillRect/>
          </a:stretch>
        </p:blipFill>
        <p:spPr>
          <a:xfrm>
            <a:off x="6970471" y="5422392"/>
            <a:ext cx="146304" cy="146304"/>
          </a:xfrm>
          <a:prstGeom prst="rect">
            <a:avLst/>
          </a:prstGeom>
        </p:spPr>
      </p:pic>
      <p:sp>
        <p:nvSpPr>
          <p:cNvPr id="45" name="Text 32"/>
          <p:cNvSpPr txBox="1"/>
          <p:nvPr/>
        </p:nvSpPr>
        <p:spPr>
          <a:xfrm>
            <a:off x="7299655" y="5349240"/>
            <a:ext cx="3977640" cy="292608"/>
          </a:xfrm>
          <a:prstGeom prst="rect">
            <a:avLst/>
          </a:prstGeom>
          <a:noFill/>
          <a:ln/>
        </p:spPr>
        <p:txBody>
          <a:bodyPr wrap="square" lIns="0" tIns="0" rIns="0" bIns="0" rtlCol="0" anchor="t"/>
          <a:lstStyle/>
          <a:p>
            <a:pPr indent="0" marL="0">
              <a:buNone/>
            </a:pPr>
            <a:r>
              <a:rPr lang="en-US" sz="1500" b="1" dirty="0">
                <a:solidFill>
                  <a:schemeClr val="tx1"/>
                </a:solidFill>
              </a:rPr>
              <a:t>Database-enforced isolation</a:t>
            </a:r>
            <a:endParaRPr lang="en-US" sz="1500" dirty="0"/>
          </a:p>
        </p:txBody>
      </p:sp>
      <p:sp>
        <p:nvSpPr>
          <p:cNvPr id="46" name="Text 33"/>
          <p:cNvSpPr txBox="1"/>
          <p:nvPr/>
        </p:nvSpPr>
        <p:spPr>
          <a:xfrm>
            <a:off x="7299655" y="5650992"/>
            <a:ext cx="3977640" cy="274320"/>
          </a:xfrm>
          <a:prstGeom prst="rect">
            <a:avLst/>
          </a:prstGeom>
          <a:noFill/>
          <a:ln/>
        </p:spPr>
        <p:txBody>
          <a:bodyPr wrap="square" lIns="0" tIns="0" rIns="0" bIns="0" rtlCol="0" anchor="t"/>
          <a:lstStyle/>
          <a:p>
            <a:pPr indent="0" marL="0">
              <a:buNone/>
            </a:pPr>
            <a:r>
              <a:rPr lang="en-US" sz="1400" dirty="0">
                <a:solidFill>
                  <a:schemeClr val="accent2"/>
                </a:solidFill>
              </a:rPr>
              <a:t>PostgreSQL RLS plus advisory locks.</a:t>
            </a:r>
            <a:endParaRPr lang="en-US" sz="1400" dirty="0"/>
          </a:p>
        </p:txBody>
      </p:sp>
      <p:pic>
        <p:nvPicPr>
          <p:cNvPr id="47" name="Image 11" descr="Icon">    </p:cNvPr>
          <p:cNvPicPr>
            <a:picLocks noChangeAspect="1"/>
          </p:cNvPicPr>
          <p:nvPr/>
        </p:nvPicPr>
        <p:blipFill>
          <a:blip r:embed="rId12"/>
          <a:stretch>
            <a:fillRect/>
          </a:stretch>
        </p:blipFill>
        <p:spPr>
          <a:xfrm>
            <a:off x="5976976" y="5513832"/>
            <a:ext cx="237744" cy="237744"/>
          </a:xfrm>
          <a:prstGeom prst="rect">
            <a:avLst/>
          </a:prstGeom>
        </p:spPr>
      </p:pic>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Four capabilities, verified by tests</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Every feature below runs in the codebase today and is covered by an automated test suite.</a:t>
            </a:r>
            <a:endParaRPr lang="en-US" sz="1500" dirty="0"/>
          </a:p>
        </p:txBody>
      </p:sp>
      <p:sp>
        <p:nvSpPr>
          <p:cNvPr id="4" name="Shape 2"/>
          <p:cNvSpPr/>
          <p:nvPr/>
        </p:nvSpPr>
        <p:spPr>
          <a:xfrm>
            <a:off x="6095848" y="1737360"/>
            <a:ext cx="0" cy="4526280"/>
          </a:xfrm>
          <a:prstGeom prst="line">
            <a:avLst/>
          </a:prstGeom>
          <a:noFill/>
          <a:ln w="9525">
            <a:solidFill>
              <a:schemeClr val="accent5"/>
            </a:solidFill>
            <a:prstDash val="solid"/>
          </a:ln>
        </p:spPr>
      </p:sp>
      <p:sp>
        <p:nvSpPr>
          <p:cNvPr id="5" name="Shape 3"/>
          <p:cNvSpPr/>
          <p:nvPr/>
        </p:nvSpPr>
        <p:spPr>
          <a:xfrm>
            <a:off x="548640" y="3995928"/>
            <a:ext cx="11094415" cy="0"/>
          </a:xfrm>
          <a:prstGeom prst="line">
            <a:avLst/>
          </a:prstGeom>
          <a:noFill/>
          <a:ln w="9525">
            <a:solidFill>
              <a:schemeClr val="accent5"/>
            </a:solidFill>
            <a:prstDash val="solid"/>
          </a:ln>
        </p:spPr>
      </p:sp>
      <p:sp>
        <p:nvSpPr>
          <p:cNvPr id="6" name="Shape 4"/>
          <p:cNvSpPr/>
          <p:nvPr/>
        </p:nvSpPr>
        <p:spPr>
          <a:xfrm>
            <a:off x="548640" y="1719072"/>
            <a:ext cx="365760" cy="365760"/>
          </a:xfrm>
          <a:prstGeom prst="ellipse">
            <a:avLst/>
          </a:prstGeom>
          <a:solidFill>
            <a:schemeClr val="bg2"/>
          </a:solidFill>
          <a:ln/>
        </p:spPr>
      </p:sp>
      <p:pic>
        <p:nvPicPr>
          <p:cNvPr id="7" name="Image 0" descr="Icon">    </p:cNvPr>
          <p:cNvPicPr>
            <a:picLocks noChangeAspect="1"/>
          </p:cNvPicPr>
          <p:nvPr/>
        </p:nvPicPr>
        <p:blipFill>
          <a:blip r:embed="rId1"/>
          <a:stretch>
            <a:fillRect/>
          </a:stretch>
        </p:blipFill>
        <p:spPr>
          <a:xfrm>
            <a:off x="630936" y="1801368"/>
            <a:ext cx="201168" cy="201168"/>
          </a:xfrm>
          <a:prstGeom prst="rect">
            <a:avLst/>
          </a:prstGeom>
        </p:spPr>
      </p:pic>
      <p:sp>
        <p:nvSpPr>
          <p:cNvPr id="8" name="Text 5"/>
          <p:cNvSpPr txBox="1"/>
          <p:nvPr/>
        </p:nvSpPr>
        <p:spPr>
          <a:xfrm>
            <a:off x="1051560" y="1792224"/>
            <a:ext cx="4541368"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BULK INGESTION</a:t>
            </a:r>
            <a:endParaRPr lang="en-US" sz="1050" dirty="0"/>
          </a:p>
        </p:txBody>
      </p:sp>
      <p:sp>
        <p:nvSpPr>
          <p:cNvPr id="9" name="Text 6"/>
          <p:cNvSpPr txBox="1"/>
          <p:nvPr/>
        </p:nvSpPr>
        <p:spPr>
          <a:xfrm>
            <a:off x="548640" y="2139696"/>
            <a:ext cx="5044288" cy="566928"/>
          </a:xfrm>
          <a:prstGeom prst="rect">
            <a:avLst/>
          </a:prstGeom>
          <a:noFill/>
          <a:ln/>
        </p:spPr>
        <p:txBody>
          <a:bodyPr wrap="square" lIns="0" tIns="0" rIns="0" bIns="0" rtlCol="0" anchor="t"/>
          <a:lstStyle/>
          <a:p>
            <a:pPr indent="0" marL="0">
              <a:buNone/>
            </a:pPr>
            <a:r>
              <a:rPr lang="en-US" sz="3400" b="1" dirty="0">
                <a:solidFill>
                  <a:schemeClr val="tx1"/>
                </a:solidFill>
                <a:latin typeface="Arial" pitchFamily="34" charset="0"/>
                <a:ea typeface="Arial" pitchFamily="34" charset="-122"/>
                <a:cs typeface="Arial" pitchFamily="34" charset="-120"/>
              </a:rPr>
              <a:t>150 files</a:t>
            </a:r>
            <a:endParaRPr lang="en-US" sz="3400" dirty="0"/>
          </a:p>
        </p:txBody>
      </p:sp>
      <p:sp>
        <p:nvSpPr>
          <p:cNvPr id="10" name="Text 7"/>
          <p:cNvSpPr txBox="1"/>
          <p:nvPr/>
        </p:nvSpPr>
        <p:spPr>
          <a:xfrm>
            <a:off x="548640" y="2734056"/>
            <a:ext cx="5044288" cy="310896"/>
          </a:xfrm>
          <a:prstGeom prst="rect">
            <a:avLst/>
          </a:prstGeom>
          <a:noFill/>
          <a:ln/>
        </p:spPr>
        <p:txBody>
          <a:bodyPr wrap="square" lIns="0" tIns="0" rIns="0" bIns="0" rtlCol="0" anchor="t"/>
          <a:lstStyle/>
          <a:p>
            <a:pPr indent="0" marL="0">
              <a:buNone/>
            </a:pPr>
            <a:r>
              <a:rPr lang="en-US" sz="1700" b="1" dirty="0">
                <a:solidFill>
                  <a:schemeClr val="tx1"/>
                </a:solidFill>
              </a:rPr>
              <a:t>Sliding-window batch concurrency</a:t>
            </a:r>
            <a:endParaRPr lang="en-US" sz="1700" dirty="0"/>
          </a:p>
        </p:txBody>
      </p:sp>
      <p:sp>
        <p:nvSpPr>
          <p:cNvPr id="11" name="Text 8"/>
          <p:cNvSpPr txBox="1"/>
          <p:nvPr/>
        </p:nvSpPr>
        <p:spPr>
          <a:xfrm>
            <a:off x="548640" y="3072384"/>
            <a:ext cx="5044288" cy="713232"/>
          </a:xfrm>
          <a:prstGeom prst="rect">
            <a:avLst/>
          </a:prstGeom>
          <a:noFill/>
          <a:ln/>
        </p:spPr>
        <p:txBody>
          <a:bodyPr wrap="square" lIns="0" tIns="0" rIns="0" bIns="0" rtlCol="0" anchor="t"/>
          <a:lstStyle/>
          <a:p>
            <a:pPr indent="0" marL="0">
              <a:buNone/>
            </a:pPr>
            <a:r>
              <a:rPr lang="en-US" sz="1400" dirty="0">
                <a:solidFill>
                  <a:schemeClr val="accent2"/>
                </a:solidFill>
              </a:rPr>
              <a:t>Up to 150 PDFs per batch, 49 MiB each. Client-side windowing keeps at most 4 uploads and 2 background AI workers active, with per-file error isolation.</a:t>
            </a:r>
            <a:endParaRPr lang="en-US" sz="1400" dirty="0"/>
          </a:p>
        </p:txBody>
      </p:sp>
      <p:sp>
        <p:nvSpPr>
          <p:cNvPr id="12" name="Shape 9"/>
          <p:cNvSpPr/>
          <p:nvPr/>
        </p:nvSpPr>
        <p:spPr>
          <a:xfrm>
            <a:off x="6507328" y="1719072"/>
            <a:ext cx="365760" cy="365760"/>
          </a:xfrm>
          <a:prstGeom prst="ellipse">
            <a:avLst/>
          </a:prstGeom>
          <a:solidFill>
            <a:schemeClr val="bg2"/>
          </a:solidFill>
          <a:ln/>
        </p:spPr>
      </p:sp>
      <p:pic>
        <p:nvPicPr>
          <p:cNvPr id="13" name="Image 1" descr="Icon">    </p:cNvPr>
          <p:cNvPicPr>
            <a:picLocks noChangeAspect="1"/>
          </p:cNvPicPr>
          <p:nvPr/>
        </p:nvPicPr>
        <p:blipFill>
          <a:blip r:embed="rId2"/>
          <a:stretch>
            <a:fillRect/>
          </a:stretch>
        </p:blipFill>
        <p:spPr>
          <a:xfrm>
            <a:off x="6589624" y="1801368"/>
            <a:ext cx="201168" cy="201168"/>
          </a:xfrm>
          <a:prstGeom prst="rect">
            <a:avLst/>
          </a:prstGeom>
        </p:spPr>
      </p:pic>
      <p:sp>
        <p:nvSpPr>
          <p:cNvPr id="14" name="Text 10"/>
          <p:cNvSpPr txBox="1"/>
          <p:nvPr/>
        </p:nvSpPr>
        <p:spPr>
          <a:xfrm>
            <a:off x="7010248" y="1792224"/>
            <a:ext cx="4632808"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MULTIMODAL INTELLIGENCE</a:t>
            </a:r>
            <a:endParaRPr lang="en-US" sz="1050" dirty="0"/>
          </a:p>
        </p:txBody>
      </p:sp>
      <p:sp>
        <p:nvSpPr>
          <p:cNvPr id="15" name="Text 11"/>
          <p:cNvSpPr txBox="1"/>
          <p:nvPr/>
        </p:nvSpPr>
        <p:spPr>
          <a:xfrm>
            <a:off x="6507328" y="2139696"/>
            <a:ext cx="5135728" cy="566928"/>
          </a:xfrm>
          <a:prstGeom prst="rect">
            <a:avLst/>
          </a:prstGeom>
          <a:noFill/>
          <a:ln/>
        </p:spPr>
        <p:txBody>
          <a:bodyPr wrap="square" lIns="0" tIns="0" rIns="0" bIns="0" rtlCol="0" anchor="t"/>
          <a:lstStyle/>
          <a:p>
            <a:pPr indent="0" marL="0">
              <a:buNone/>
            </a:pPr>
            <a:r>
              <a:rPr lang="en-US" sz="3400" b="1" dirty="0">
                <a:solidFill>
                  <a:schemeClr val="tx1"/>
                </a:solidFill>
                <a:latin typeface="Arial" pitchFamily="34" charset="0"/>
                <a:ea typeface="Arial" pitchFamily="34" charset="-122"/>
                <a:cs typeface="Arial" pitchFamily="34" charset="-120"/>
              </a:rPr>
              <a:t>Gemini 3.6</a:t>
            </a:r>
            <a:endParaRPr lang="en-US" sz="3400" dirty="0"/>
          </a:p>
        </p:txBody>
      </p:sp>
      <p:sp>
        <p:nvSpPr>
          <p:cNvPr id="16" name="Text 12"/>
          <p:cNvSpPr txBox="1"/>
          <p:nvPr/>
        </p:nvSpPr>
        <p:spPr>
          <a:xfrm>
            <a:off x="6507328" y="2734056"/>
            <a:ext cx="5135728" cy="310896"/>
          </a:xfrm>
          <a:prstGeom prst="rect">
            <a:avLst/>
          </a:prstGeom>
          <a:noFill/>
          <a:ln/>
        </p:spPr>
        <p:txBody>
          <a:bodyPr wrap="square" lIns="0" tIns="0" rIns="0" bIns="0" rtlCol="0" anchor="t"/>
          <a:lstStyle/>
          <a:p>
            <a:pPr indent="0" marL="0">
              <a:buNone/>
            </a:pPr>
            <a:r>
              <a:rPr lang="en-US" sz="1700" b="1" dirty="0">
                <a:solidFill>
                  <a:schemeClr val="tx1"/>
                </a:solidFill>
              </a:rPr>
              <a:t>Structured schema extraction</a:t>
            </a:r>
            <a:endParaRPr lang="en-US" sz="1700" dirty="0"/>
          </a:p>
        </p:txBody>
      </p:sp>
      <p:sp>
        <p:nvSpPr>
          <p:cNvPr id="17" name="Text 13"/>
          <p:cNvSpPr txBox="1"/>
          <p:nvPr/>
        </p:nvSpPr>
        <p:spPr>
          <a:xfrm>
            <a:off x="6507328" y="3072384"/>
            <a:ext cx="5135728" cy="713232"/>
          </a:xfrm>
          <a:prstGeom prst="rect">
            <a:avLst/>
          </a:prstGeom>
          <a:noFill/>
          <a:ln/>
        </p:spPr>
        <p:txBody>
          <a:bodyPr wrap="square" lIns="0" tIns="0" rIns="0" bIns="0" rtlCol="0" anchor="t"/>
          <a:lstStyle/>
          <a:p>
            <a:pPr indent="0" marL="0">
              <a:buNone/>
            </a:pPr>
            <a:r>
              <a:rPr lang="en-US" sz="1400" dirty="0">
                <a:solidFill>
                  <a:schemeClr val="accent2"/>
                </a:solidFill>
              </a:rPr>
              <a:t>Classifies each file (invoice, contract, report), extracts topic tags and key-value fields, and blocks prompt injection with strict system instructions.</a:t>
            </a:r>
            <a:endParaRPr lang="en-US" sz="1400" dirty="0"/>
          </a:p>
        </p:txBody>
      </p:sp>
      <p:sp>
        <p:nvSpPr>
          <p:cNvPr id="18" name="Shape 14"/>
          <p:cNvSpPr/>
          <p:nvPr/>
        </p:nvSpPr>
        <p:spPr>
          <a:xfrm>
            <a:off x="548640" y="4187952"/>
            <a:ext cx="365760" cy="365760"/>
          </a:xfrm>
          <a:prstGeom prst="ellipse">
            <a:avLst/>
          </a:prstGeom>
          <a:solidFill>
            <a:schemeClr val="bg2"/>
          </a:solidFill>
          <a:ln/>
        </p:spPr>
      </p:sp>
      <p:pic>
        <p:nvPicPr>
          <p:cNvPr id="19" name="Image 2" descr="Icon">    </p:cNvPr>
          <p:cNvPicPr>
            <a:picLocks noChangeAspect="1"/>
          </p:cNvPicPr>
          <p:nvPr/>
        </p:nvPicPr>
        <p:blipFill>
          <a:blip r:embed="rId3"/>
          <a:stretch>
            <a:fillRect/>
          </a:stretch>
        </p:blipFill>
        <p:spPr>
          <a:xfrm>
            <a:off x="630936" y="4270248"/>
            <a:ext cx="201168" cy="201168"/>
          </a:xfrm>
          <a:prstGeom prst="rect">
            <a:avLst/>
          </a:prstGeom>
        </p:spPr>
      </p:pic>
      <p:sp>
        <p:nvSpPr>
          <p:cNvPr id="20" name="Text 15"/>
          <p:cNvSpPr txBox="1"/>
          <p:nvPr/>
        </p:nvSpPr>
        <p:spPr>
          <a:xfrm>
            <a:off x="1051560" y="4261104"/>
            <a:ext cx="4541368"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SEARCH &amp; RETRIEVAL</a:t>
            </a:r>
            <a:endParaRPr lang="en-US" sz="1050" dirty="0"/>
          </a:p>
        </p:txBody>
      </p:sp>
      <p:sp>
        <p:nvSpPr>
          <p:cNvPr id="21" name="Text 16"/>
          <p:cNvSpPr txBox="1"/>
          <p:nvPr/>
        </p:nvSpPr>
        <p:spPr>
          <a:xfrm>
            <a:off x="548640" y="4608576"/>
            <a:ext cx="5044288" cy="566928"/>
          </a:xfrm>
          <a:prstGeom prst="rect">
            <a:avLst/>
          </a:prstGeom>
          <a:noFill/>
          <a:ln/>
        </p:spPr>
        <p:txBody>
          <a:bodyPr wrap="square" lIns="0" tIns="0" rIns="0" bIns="0" rtlCol="0" anchor="t"/>
          <a:lstStyle/>
          <a:p>
            <a:pPr indent="0" marL="0">
              <a:buNone/>
            </a:pPr>
            <a:r>
              <a:rPr lang="en-US" sz="3400" b="1" dirty="0">
                <a:solidFill>
                  <a:schemeClr val="tx1"/>
                </a:solidFill>
                <a:latin typeface="Arial" pitchFamily="34" charset="0"/>
                <a:ea typeface="Arial" pitchFamily="34" charset="-122"/>
                <a:cs typeface="Arial" pitchFamily="34" charset="-120"/>
              </a:rPr>
              <a:t>&lt; 200 ms</a:t>
            </a:r>
            <a:endParaRPr lang="en-US" sz="3400" dirty="0"/>
          </a:p>
        </p:txBody>
      </p:sp>
      <p:sp>
        <p:nvSpPr>
          <p:cNvPr id="22" name="Text 17"/>
          <p:cNvSpPr txBox="1"/>
          <p:nvPr/>
        </p:nvSpPr>
        <p:spPr>
          <a:xfrm>
            <a:off x="548640" y="5202936"/>
            <a:ext cx="5044288" cy="310896"/>
          </a:xfrm>
          <a:prstGeom prst="rect">
            <a:avLst/>
          </a:prstGeom>
          <a:noFill/>
          <a:ln/>
        </p:spPr>
        <p:txBody>
          <a:bodyPr wrap="square" lIns="0" tIns="0" rIns="0" bIns="0" rtlCol="0" anchor="t"/>
          <a:lstStyle/>
          <a:p>
            <a:pPr indent="0" marL="0">
              <a:buNone/>
            </a:pPr>
            <a:r>
              <a:rPr lang="en-US" sz="1700" b="1" dirty="0">
                <a:solidFill>
                  <a:schemeClr val="tx1"/>
                </a:solidFill>
              </a:rPr>
              <a:t>Hybrid semantic vector search</a:t>
            </a:r>
            <a:endParaRPr lang="en-US" sz="1700" dirty="0"/>
          </a:p>
        </p:txBody>
      </p:sp>
      <p:sp>
        <p:nvSpPr>
          <p:cNvPr id="23" name="Text 18"/>
          <p:cNvSpPr txBox="1"/>
          <p:nvPr/>
        </p:nvSpPr>
        <p:spPr>
          <a:xfrm>
            <a:off x="548640" y="5541264"/>
            <a:ext cx="5044288" cy="713232"/>
          </a:xfrm>
          <a:prstGeom prst="rect">
            <a:avLst/>
          </a:prstGeom>
          <a:noFill/>
          <a:ln/>
        </p:spPr>
        <p:txBody>
          <a:bodyPr wrap="square" lIns="0" tIns="0" rIns="0" bIns="0" rtlCol="0" anchor="t"/>
          <a:lstStyle/>
          <a:p>
            <a:pPr indent="0" marL="0">
              <a:buNone/>
            </a:pPr>
            <a:r>
              <a:rPr lang="en-US" sz="1400" dirty="0">
                <a:solidFill>
                  <a:schemeClr val="accent2"/>
                </a:solidFill>
              </a:rPr>
              <a:t>Cosine similarity over 768-dim embeddings plus a 500-entry in-memory LRU cache. Queries are normalised and duplicate in-flight requests collapsed.</a:t>
            </a:r>
            <a:endParaRPr lang="en-US" sz="1400" dirty="0"/>
          </a:p>
        </p:txBody>
      </p:sp>
      <p:sp>
        <p:nvSpPr>
          <p:cNvPr id="24" name="Shape 19"/>
          <p:cNvSpPr/>
          <p:nvPr/>
        </p:nvSpPr>
        <p:spPr>
          <a:xfrm>
            <a:off x="6507328" y="4187952"/>
            <a:ext cx="365760" cy="365760"/>
          </a:xfrm>
          <a:prstGeom prst="ellipse">
            <a:avLst/>
          </a:prstGeom>
          <a:solidFill>
            <a:schemeClr val="bg2"/>
          </a:solidFill>
          <a:ln/>
        </p:spPr>
      </p:sp>
      <p:pic>
        <p:nvPicPr>
          <p:cNvPr id="25" name="Image 3" descr="Icon">    </p:cNvPr>
          <p:cNvPicPr>
            <a:picLocks noChangeAspect="1"/>
          </p:cNvPicPr>
          <p:nvPr/>
        </p:nvPicPr>
        <p:blipFill>
          <a:blip r:embed="rId4"/>
          <a:stretch>
            <a:fillRect/>
          </a:stretch>
        </p:blipFill>
        <p:spPr>
          <a:xfrm>
            <a:off x="6589624" y="4270248"/>
            <a:ext cx="201168" cy="201168"/>
          </a:xfrm>
          <a:prstGeom prst="rect">
            <a:avLst/>
          </a:prstGeom>
        </p:spPr>
      </p:pic>
      <p:sp>
        <p:nvSpPr>
          <p:cNvPr id="26" name="Text 20"/>
          <p:cNvSpPr txBox="1"/>
          <p:nvPr/>
        </p:nvSpPr>
        <p:spPr>
          <a:xfrm>
            <a:off x="7010248" y="4261104"/>
            <a:ext cx="4632808"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ENTERPRISE SECURITY</a:t>
            </a:r>
            <a:endParaRPr lang="en-US" sz="1050" dirty="0"/>
          </a:p>
        </p:txBody>
      </p:sp>
      <p:sp>
        <p:nvSpPr>
          <p:cNvPr id="27" name="Text 21"/>
          <p:cNvSpPr txBox="1"/>
          <p:nvPr/>
        </p:nvSpPr>
        <p:spPr>
          <a:xfrm>
            <a:off x="6507328" y="4608576"/>
            <a:ext cx="5135728" cy="566928"/>
          </a:xfrm>
          <a:prstGeom prst="rect">
            <a:avLst/>
          </a:prstGeom>
          <a:noFill/>
          <a:ln/>
        </p:spPr>
        <p:txBody>
          <a:bodyPr wrap="square" lIns="0" tIns="0" rIns="0" bIns="0" rtlCol="0" anchor="t"/>
          <a:lstStyle/>
          <a:p>
            <a:pPr indent="0" marL="0">
              <a:buNone/>
            </a:pPr>
            <a:r>
              <a:rPr lang="en-US" sz="3400" b="1" dirty="0">
                <a:solidFill>
                  <a:schemeClr val="tx1"/>
                </a:solidFill>
                <a:latin typeface="Arial" pitchFamily="34" charset="0"/>
                <a:ea typeface="Arial" pitchFamily="34" charset="-122"/>
                <a:cs typeface="Arial" pitchFamily="34" charset="-120"/>
              </a:rPr>
              <a:t>100% RLS</a:t>
            </a:r>
            <a:endParaRPr lang="en-US" sz="3400" dirty="0"/>
          </a:p>
        </p:txBody>
      </p:sp>
      <p:sp>
        <p:nvSpPr>
          <p:cNvPr id="28" name="Text 22"/>
          <p:cNvSpPr txBox="1"/>
          <p:nvPr/>
        </p:nvSpPr>
        <p:spPr>
          <a:xfrm>
            <a:off x="6507328" y="5202936"/>
            <a:ext cx="5135728" cy="310896"/>
          </a:xfrm>
          <a:prstGeom prst="rect">
            <a:avLst/>
          </a:prstGeom>
          <a:noFill/>
          <a:ln/>
        </p:spPr>
        <p:txBody>
          <a:bodyPr wrap="square" lIns="0" tIns="0" rIns="0" bIns="0" rtlCol="0" anchor="t"/>
          <a:lstStyle/>
          <a:p>
            <a:pPr indent="0" marL="0">
              <a:buNone/>
            </a:pPr>
            <a:r>
              <a:rPr lang="en-US" sz="1700" b="1" dirty="0">
                <a:solidFill>
                  <a:schemeClr val="tx1"/>
                </a:solidFill>
              </a:rPr>
              <a:t>Multi-tenant lease isolation</a:t>
            </a:r>
            <a:endParaRPr lang="en-US" sz="1700" dirty="0"/>
          </a:p>
        </p:txBody>
      </p:sp>
      <p:sp>
        <p:nvSpPr>
          <p:cNvPr id="29" name="Text 23"/>
          <p:cNvSpPr txBox="1"/>
          <p:nvPr/>
        </p:nvSpPr>
        <p:spPr>
          <a:xfrm>
            <a:off x="6507328" y="5541264"/>
            <a:ext cx="5135728" cy="713232"/>
          </a:xfrm>
          <a:prstGeom prst="rect">
            <a:avLst/>
          </a:prstGeom>
          <a:noFill/>
          <a:ln/>
        </p:spPr>
        <p:txBody>
          <a:bodyPr wrap="square" lIns="0" tIns="0" rIns="0" bIns="0" rtlCol="0" anchor="t"/>
          <a:lstStyle/>
          <a:p>
            <a:pPr indent="0" marL="0">
              <a:buNone/>
            </a:pPr>
            <a:r>
              <a:rPr lang="en-US" sz="1400" dirty="0">
                <a:solidFill>
                  <a:schemeClr val="accent2"/>
                </a:solidFill>
              </a:rPr>
              <a:t>Row-Level Security blocks cross-tenant reads. Workers claim jobs with SKIP LOCKED and UUID fencing tokens: no double-processing, no stale writes.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From drag-and-drop to searchable in five steps</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The lifecycle of every file, from browser upload to an indexed, searchable document.</a:t>
            </a:r>
            <a:endParaRPr lang="en-US" sz="1500" dirty="0"/>
          </a:p>
        </p:txBody>
      </p:sp>
      <p:sp>
        <p:nvSpPr>
          <p:cNvPr id="4" name="Shape 2"/>
          <p:cNvSpPr/>
          <p:nvPr/>
        </p:nvSpPr>
        <p:spPr>
          <a:xfrm>
            <a:off x="804672" y="2039112"/>
            <a:ext cx="9037015" cy="0"/>
          </a:xfrm>
          <a:prstGeom prst="line">
            <a:avLst/>
          </a:prstGeom>
          <a:noFill/>
          <a:ln w="9525">
            <a:solidFill>
              <a:srgbClr val="B8BEC7"/>
            </a:solidFill>
            <a:prstDash val="solid"/>
          </a:ln>
        </p:spPr>
      </p:sp>
      <p:sp>
        <p:nvSpPr>
          <p:cNvPr id="5" name="Shape 3"/>
          <p:cNvSpPr/>
          <p:nvPr/>
        </p:nvSpPr>
        <p:spPr>
          <a:xfrm>
            <a:off x="548640" y="1783080"/>
            <a:ext cx="512064" cy="512064"/>
          </a:xfrm>
          <a:prstGeom prst="ellipse">
            <a:avLst/>
          </a:prstGeom>
          <a:solidFill>
            <a:schemeClr val="tx2"/>
          </a:solidFill>
          <a:ln/>
        </p:spPr>
      </p:sp>
      <p:sp>
        <p:nvSpPr>
          <p:cNvPr id="6" name="Text 4"/>
          <p:cNvSpPr txBox="1"/>
          <p:nvPr/>
        </p:nvSpPr>
        <p:spPr>
          <a:xfrm>
            <a:off x="548640" y="178308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548640" y="2514600"/>
            <a:ext cx="20574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INGEST</a:t>
            </a:r>
            <a:endParaRPr lang="en-US" sz="1050" dirty="0"/>
          </a:p>
        </p:txBody>
      </p:sp>
      <p:sp>
        <p:nvSpPr>
          <p:cNvPr id="8" name="Text 6"/>
          <p:cNvSpPr txBox="1"/>
          <p:nvPr/>
        </p:nvSpPr>
        <p:spPr>
          <a:xfrm>
            <a:off x="548640" y="2770632"/>
            <a:ext cx="2057400" cy="566928"/>
          </a:xfrm>
          <a:prstGeom prst="rect">
            <a:avLst/>
          </a:prstGeom>
          <a:noFill/>
          <a:ln/>
        </p:spPr>
        <p:txBody>
          <a:bodyPr wrap="square" lIns="0" tIns="0" rIns="0" bIns="0" rtlCol="0" anchor="t"/>
          <a:lstStyle/>
          <a:p>
            <a:pPr indent="0" marL="0">
              <a:buNone/>
            </a:pPr>
            <a:r>
              <a:rPr lang="en-US" sz="1600" b="1" dirty="0">
                <a:solidFill>
                  <a:schemeClr val="tx1"/>
                </a:solidFill>
              </a:rPr>
              <a:t>Client batch upload</a:t>
            </a:r>
            <a:endParaRPr lang="en-US" sz="1600" dirty="0"/>
          </a:p>
        </p:txBody>
      </p:sp>
      <p:sp>
        <p:nvSpPr>
          <p:cNvPr id="9" name="Text 7"/>
          <p:cNvSpPr txBox="1"/>
          <p:nvPr/>
        </p:nvSpPr>
        <p:spPr>
          <a:xfrm>
            <a:off x="548640" y="3355848"/>
            <a:ext cx="2057400" cy="1828800"/>
          </a:xfrm>
          <a:prstGeom prst="rect">
            <a:avLst/>
          </a:prstGeom>
          <a:noFill/>
          <a:ln/>
        </p:spPr>
        <p:txBody>
          <a:bodyPr wrap="square" lIns="0" tIns="0" rIns="0" bIns="0" rtlCol="0" anchor="t"/>
          <a:lstStyle/>
          <a:p>
            <a:pPr indent="0" marL="0">
              <a:buNone/>
            </a:pPr>
            <a:r>
              <a:rPr lang="en-US" sz="1400" dirty="0">
                <a:solidFill>
                  <a:schemeClr val="accent2"/>
                </a:solidFill>
              </a:rPr>
              <a:t>The browser checks the 49 MiB limit, then a sliding-window queue streams files straight to the private bucket, with no server bottleneck.</a:t>
            </a:r>
            <a:endParaRPr lang="en-US" sz="1400" dirty="0"/>
          </a:p>
        </p:txBody>
      </p:sp>
      <p:sp>
        <p:nvSpPr>
          <p:cNvPr id="10" name="Shape 8"/>
          <p:cNvSpPr/>
          <p:nvPr/>
        </p:nvSpPr>
        <p:spPr>
          <a:xfrm>
            <a:off x="2807894" y="1783080"/>
            <a:ext cx="512064" cy="512064"/>
          </a:xfrm>
          <a:prstGeom prst="ellipse">
            <a:avLst/>
          </a:prstGeom>
          <a:solidFill>
            <a:schemeClr val="tx2"/>
          </a:solidFill>
          <a:ln/>
        </p:spPr>
      </p:sp>
      <p:sp>
        <p:nvSpPr>
          <p:cNvPr id="11" name="Text 9"/>
          <p:cNvSpPr txBox="1"/>
          <p:nvPr/>
        </p:nvSpPr>
        <p:spPr>
          <a:xfrm>
            <a:off x="2807894" y="178308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2807894" y="2514600"/>
            <a:ext cx="20574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VERIFY</a:t>
            </a:r>
            <a:endParaRPr lang="en-US" sz="1050" dirty="0"/>
          </a:p>
        </p:txBody>
      </p:sp>
      <p:sp>
        <p:nvSpPr>
          <p:cNvPr id="13" name="Text 11"/>
          <p:cNvSpPr txBox="1"/>
          <p:nvPr/>
        </p:nvSpPr>
        <p:spPr>
          <a:xfrm>
            <a:off x="2807894" y="2770632"/>
            <a:ext cx="2057400" cy="566928"/>
          </a:xfrm>
          <a:prstGeom prst="rect">
            <a:avLst/>
          </a:prstGeom>
          <a:noFill/>
          <a:ln/>
        </p:spPr>
        <p:txBody>
          <a:bodyPr wrap="square" lIns="0" tIns="0" rIns="0" bIns="0" rtlCol="0" anchor="t"/>
          <a:lstStyle/>
          <a:p>
            <a:pPr indent="0" marL="0">
              <a:buNone/>
            </a:pPr>
            <a:r>
              <a:rPr lang="en-US" sz="1600" b="1" dirty="0">
                <a:solidFill>
                  <a:schemeClr val="tx1"/>
                </a:solidFill>
              </a:rPr>
              <a:t>Atomic quota check</a:t>
            </a:r>
            <a:endParaRPr lang="en-US" sz="1600" dirty="0"/>
          </a:p>
        </p:txBody>
      </p:sp>
      <p:sp>
        <p:nvSpPr>
          <p:cNvPr id="14" name="Text 12"/>
          <p:cNvSpPr txBox="1"/>
          <p:nvPr/>
        </p:nvSpPr>
        <p:spPr>
          <a:xfrm>
            <a:off x="2807894" y="3355848"/>
            <a:ext cx="2057400" cy="1828800"/>
          </a:xfrm>
          <a:prstGeom prst="rect">
            <a:avLst/>
          </a:prstGeom>
          <a:noFill/>
          <a:ln/>
        </p:spPr>
        <p:txBody>
          <a:bodyPr wrap="square" lIns="0" tIns="0" rIns="0" bIns="0" rtlCol="0" anchor="t"/>
          <a:lstStyle/>
          <a:p>
            <a:pPr indent="0" marL="0">
              <a:buNone/>
            </a:pPr>
            <a:r>
              <a:rPr lang="en-US" sz="1400" dirty="0">
                <a:solidFill>
                  <a:schemeClr val="accent2"/>
                </a:solidFill>
              </a:rPr>
              <a:t>A stored procedure confirms the object exists and takes </a:t>
            </a:r>
            <a:pPr indent="0" marL="0">
              <a:buNone/>
            </a:pPr>
            <a:r>
              <a:rPr lang="en-US" sz="1200" b="1" dirty="0">
                <a:solidFill>
                  <a:schemeClr val="tx1"/>
                </a:solidFill>
                <a:latin typeface="Courier New" pitchFamily="34" charset="0"/>
                <a:ea typeface="Courier New" pitchFamily="34" charset="-122"/>
                <a:cs typeface="Courier New" pitchFamily="34" charset="-120"/>
              </a:rPr>
              <a:t>pg_advisory_xact_lock</a:t>
            </a:r>
            <a:pPr indent="0" marL="0">
              <a:buNone/>
            </a:pPr>
            <a:r>
              <a:rPr lang="en-US" sz="1400" dirty="0">
                <a:solidFill>
                  <a:schemeClr val="accent2"/>
                </a:solidFill>
              </a:rPr>
              <a:t> to enforce the 2 GB per-user quota.</a:t>
            </a:r>
            <a:endParaRPr lang="en-US" sz="1400" dirty="0"/>
          </a:p>
        </p:txBody>
      </p:sp>
      <p:sp>
        <p:nvSpPr>
          <p:cNvPr id="15" name="Shape 13"/>
          <p:cNvSpPr/>
          <p:nvPr/>
        </p:nvSpPr>
        <p:spPr>
          <a:xfrm>
            <a:off x="5067148" y="1783080"/>
            <a:ext cx="512064" cy="512064"/>
          </a:xfrm>
          <a:prstGeom prst="ellipse">
            <a:avLst/>
          </a:prstGeom>
          <a:solidFill>
            <a:schemeClr val="tx2"/>
          </a:solidFill>
          <a:ln/>
        </p:spPr>
      </p:sp>
      <p:sp>
        <p:nvSpPr>
          <p:cNvPr id="16" name="Text 14"/>
          <p:cNvSpPr txBox="1"/>
          <p:nvPr/>
        </p:nvSpPr>
        <p:spPr>
          <a:xfrm>
            <a:off x="5067148" y="178308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7" name="Text 15"/>
          <p:cNvSpPr txBox="1"/>
          <p:nvPr/>
        </p:nvSpPr>
        <p:spPr>
          <a:xfrm>
            <a:off x="5067148" y="2514600"/>
            <a:ext cx="20574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LOCK</a:t>
            </a:r>
            <a:endParaRPr lang="en-US" sz="1050" dirty="0"/>
          </a:p>
        </p:txBody>
      </p:sp>
      <p:sp>
        <p:nvSpPr>
          <p:cNvPr id="18" name="Text 16"/>
          <p:cNvSpPr txBox="1"/>
          <p:nvPr/>
        </p:nvSpPr>
        <p:spPr>
          <a:xfrm>
            <a:off x="5067148" y="2770632"/>
            <a:ext cx="2057400" cy="566928"/>
          </a:xfrm>
          <a:prstGeom prst="rect">
            <a:avLst/>
          </a:prstGeom>
          <a:noFill/>
          <a:ln/>
        </p:spPr>
        <p:txBody>
          <a:bodyPr wrap="square" lIns="0" tIns="0" rIns="0" bIns="0" rtlCol="0" anchor="t"/>
          <a:lstStyle/>
          <a:p>
            <a:pPr indent="0" marL="0">
              <a:buNone/>
            </a:pPr>
            <a:r>
              <a:rPr lang="en-US" sz="1600" b="1" dirty="0">
                <a:solidFill>
                  <a:schemeClr val="tx1"/>
                </a:solidFill>
              </a:rPr>
              <a:t>Queue lease claim</a:t>
            </a:r>
            <a:endParaRPr lang="en-US" sz="1600" dirty="0"/>
          </a:p>
        </p:txBody>
      </p:sp>
      <p:sp>
        <p:nvSpPr>
          <p:cNvPr id="19" name="Text 17"/>
          <p:cNvSpPr txBox="1"/>
          <p:nvPr/>
        </p:nvSpPr>
        <p:spPr>
          <a:xfrm>
            <a:off x="5067148" y="3355848"/>
            <a:ext cx="2057400" cy="1828800"/>
          </a:xfrm>
          <a:prstGeom prst="rect">
            <a:avLst/>
          </a:prstGeom>
          <a:noFill/>
          <a:ln/>
        </p:spPr>
        <p:txBody>
          <a:bodyPr wrap="square" lIns="0" tIns="0" rIns="0" bIns="0" rtlCol="0" anchor="t"/>
          <a:lstStyle/>
          <a:p>
            <a:pPr indent="0" marL="0">
              <a:buNone/>
            </a:pPr>
            <a:r>
              <a:rPr lang="en-US" sz="1400" dirty="0">
                <a:solidFill>
                  <a:schemeClr val="accent2"/>
                </a:solidFill>
              </a:rPr>
              <a:t>A worker claims the next job with </a:t>
            </a:r>
            <a:pPr indent="0" marL="0">
              <a:buNone/>
            </a:pPr>
            <a:r>
              <a:rPr lang="en-US" sz="1200" b="1" dirty="0">
                <a:solidFill>
                  <a:schemeClr val="tx1"/>
                </a:solidFill>
                <a:latin typeface="Courier New" pitchFamily="34" charset="0"/>
                <a:ea typeface="Courier New" pitchFamily="34" charset="-122"/>
                <a:cs typeface="Courier New" pitchFamily="34" charset="-120"/>
              </a:rPr>
              <a:t>FOR UPDATE SKIP LOCKED</a:t>
            </a:r>
            <a:pPr indent="0" marL="0">
              <a:buNone/>
            </a:pPr>
            <a:r>
              <a:rPr lang="en-US" sz="1400" dirty="0">
                <a:solidFill>
                  <a:schemeClr val="accent2"/>
                </a:solidFill>
              </a:rPr>
              <a:t> and gets a UUID fencing token, so no file is processed twice.</a:t>
            </a:r>
            <a:endParaRPr lang="en-US" sz="1400" dirty="0"/>
          </a:p>
        </p:txBody>
      </p:sp>
      <p:sp>
        <p:nvSpPr>
          <p:cNvPr id="20" name="Shape 18"/>
          <p:cNvSpPr/>
          <p:nvPr/>
        </p:nvSpPr>
        <p:spPr>
          <a:xfrm>
            <a:off x="7326401" y="1783080"/>
            <a:ext cx="512064" cy="512064"/>
          </a:xfrm>
          <a:prstGeom prst="ellipse">
            <a:avLst/>
          </a:prstGeom>
          <a:solidFill>
            <a:schemeClr val="accent1"/>
          </a:solidFill>
          <a:ln/>
        </p:spPr>
      </p:sp>
      <p:sp>
        <p:nvSpPr>
          <p:cNvPr id="21" name="Text 19"/>
          <p:cNvSpPr txBox="1"/>
          <p:nvPr/>
        </p:nvSpPr>
        <p:spPr>
          <a:xfrm>
            <a:off x="7326401" y="1783080"/>
            <a:ext cx="512064" cy="512064"/>
          </a:xfrm>
          <a:prstGeom prst="rect">
            <a:avLst/>
          </a:prstGeom>
          <a:noFill/>
          <a:ln/>
        </p:spPr>
        <p:txBody>
          <a:bodyPr wrap="square" lIns="0" tIns="0" rIns="0" bIns="0" rtlCol="0" anchor="ctr"/>
          <a:lstStyle/>
          <a:p>
            <a:pPr algn="ctr" indent="0" marL="0">
              <a:buNone/>
            </a:pPr>
            <a:r>
              <a:rPr lang="en-US" sz="1800" b="1" dirty="0">
                <a:solidFill>
                  <a:schemeClr val="tx2"/>
                </a:solidFill>
                <a:latin typeface="Arial" pitchFamily="34" charset="0"/>
                <a:ea typeface="Arial" pitchFamily="34" charset="-122"/>
                <a:cs typeface="Arial" pitchFamily="34" charset="-120"/>
              </a:rPr>
              <a:t>4</a:t>
            </a:r>
            <a:endParaRPr lang="en-US" sz="1800" dirty="0"/>
          </a:p>
        </p:txBody>
      </p:sp>
      <p:sp>
        <p:nvSpPr>
          <p:cNvPr id="22" name="Text 20"/>
          <p:cNvSpPr txBox="1"/>
          <p:nvPr/>
        </p:nvSpPr>
        <p:spPr>
          <a:xfrm>
            <a:off x="7326401" y="2514600"/>
            <a:ext cx="20574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UNDERSTAND</a:t>
            </a:r>
            <a:endParaRPr lang="en-US" sz="1050" dirty="0"/>
          </a:p>
        </p:txBody>
      </p:sp>
      <p:sp>
        <p:nvSpPr>
          <p:cNvPr id="23" name="Text 21"/>
          <p:cNvSpPr txBox="1"/>
          <p:nvPr/>
        </p:nvSpPr>
        <p:spPr>
          <a:xfrm>
            <a:off x="7326401" y="2770632"/>
            <a:ext cx="2057400" cy="566928"/>
          </a:xfrm>
          <a:prstGeom prst="rect">
            <a:avLst/>
          </a:prstGeom>
          <a:noFill/>
          <a:ln/>
        </p:spPr>
        <p:txBody>
          <a:bodyPr wrap="square" lIns="0" tIns="0" rIns="0" bIns="0" rtlCol="0" anchor="t"/>
          <a:lstStyle/>
          <a:p>
            <a:pPr indent="0" marL="0">
              <a:buNone/>
            </a:pPr>
            <a:r>
              <a:rPr lang="en-US" sz="1600" b="1" dirty="0">
                <a:solidFill>
                  <a:schemeClr val="tx1"/>
                </a:solidFill>
              </a:rPr>
              <a:t>Multimodal extraction</a:t>
            </a:r>
            <a:endParaRPr lang="en-US" sz="1600" dirty="0"/>
          </a:p>
        </p:txBody>
      </p:sp>
      <p:sp>
        <p:nvSpPr>
          <p:cNvPr id="24" name="Text 22"/>
          <p:cNvSpPr txBox="1"/>
          <p:nvPr/>
        </p:nvSpPr>
        <p:spPr>
          <a:xfrm>
            <a:off x="7326401" y="3355848"/>
            <a:ext cx="2057400" cy="1828800"/>
          </a:xfrm>
          <a:prstGeom prst="rect">
            <a:avLst/>
          </a:prstGeom>
          <a:noFill/>
          <a:ln/>
        </p:spPr>
        <p:txBody>
          <a:bodyPr wrap="square" lIns="0" tIns="0" rIns="0" bIns="0" rtlCol="0" anchor="t"/>
          <a:lstStyle/>
          <a:p>
            <a:pPr indent="0" marL="0">
              <a:buNone/>
            </a:pPr>
            <a:r>
              <a:rPr lang="en-US" sz="1400" dirty="0">
                <a:solidFill>
                  <a:schemeClr val="accent2"/>
                </a:solidFill>
              </a:rPr>
              <a:t>The PDF goes to the Gemini Files API. A model cascade (3.6-flash → 3.8-flash → preview) with backoff extracts category, tags and pages.</a:t>
            </a:r>
            <a:endParaRPr lang="en-US" sz="1400" dirty="0"/>
          </a:p>
        </p:txBody>
      </p:sp>
      <p:sp>
        <p:nvSpPr>
          <p:cNvPr id="25" name="Shape 23"/>
          <p:cNvSpPr/>
          <p:nvPr/>
        </p:nvSpPr>
        <p:spPr>
          <a:xfrm>
            <a:off x="9585655" y="1783080"/>
            <a:ext cx="512064" cy="512064"/>
          </a:xfrm>
          <a:prstGeom prst="ellipse">
            <a:avLst/>
          </a:prstGeom>
          <a:solidFill>
            <a:schemeClr val="tx2"/>
          </a:solidFill>
          <a:ln/>
        </p:spPr>
      </p:sp>
      <p:sp>
        <p:nvSpPr>
          <p:cNvPr id="26" name="Text 24"/>
          <p:cNvSpPr txBox="1"/>
          <p:nvPr/>
        </p:nvSpPr>
        <p:spPr>
          <a:xfrm>
            <a:off x="9585655" y="178308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5</a:t>
            </a:r>
            <a:endParaRPr lang="en-US" sz="1800" dirty="0"/>
          </a:p>
        </p:txBody>
      </p:sp>
      <p:sp>
        <p:nvSpPr>
          <p:cNvPr id="27" name="Text 25"/>
          <p:cNvSpPr txBox="1"/>
          <p:nvPr/>
        </p:nvSpPr>
        <p:spPr>
          <a:xfrm>
            <a:off x="9585655" y="2514600"/>
            <a:ext cx="20574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INDEX</a:t>
            </a:r>
            <a:endParaRPr lang="en-US" sz="1050" dirty="0"/>
          </a:p>
        </p:txBody>
      </p:sp>
      <p:sp>
        <p:nvSpPr>
          <p:cNvPr id="28" name="Text 26"/>
          <p:cNvSpPr txBox="1"/>
          <p:nvPr/>
        </p:nvSpPr>
        <p:spPr>
          <a:xfrm>
            <a:off x="9585655" y="2770632"/>
            <a:ext cx="2057400" cy="566928"/>
          </a:xfrm>
          <a:prstGeom prst="rect">
            <a:avLst/>
          </a:prstGeom>
          <a:noFill/>
          <a:ln/>
        </p:spPr>
        <p:txBody>
          <a:bodyPr wrap="square" lIns="0" tIns="0" rIns="0" bIns="0" rtlCol="0" anchor="t"/>
          <a:lstStyle/>
          <a:p>
            <a:pPr indent="0" marL="0">
              <a:buNone/>
            </a:pPr>
            <a:r>
              <a:rPr lang="en-US" sz="1600" b="1" dirty="0">
                <a:solidFill>
                  <a:schemeClr val="tx1"/>
                </a:solidFill>
              </a:rPr>
              <a:t>Vector index commit</a:t>
            </a:r>
            <a:endParaRPr lang="en-US" sz="1600" dirty="0"/>
          </a:p>
        </p:txBody>
      </p:sp>
      <p:sp>
        <p:nvSpPr>
          <p:cNvPr id="29" name="Text 27"/>
          <p:cNvSpPr txBox="1"/>
          <p:nvPr/>
        </p:nvSpPr>
        <p:spPr>
          <a:xfrm>
            <a:off x="9585655" y="3355848"/>
            <a:ext cx="2057400" cy="1828800"/>
          </a:xfrm>
          <a:prstGeom prst="rect">
            <a:avLst/>
          </a:prstGeom>
          <a:noFill/>
          <a:ln/>
        </p:spPr>
        <p:txBody>
          <a:bodyPr wrap="square" lIns="0" tIns="0" rIns="0" bIns="0" rtlCol="0" anchor="t"/>
          <a:lstStyle/>
          <a:p>
            <a:pPr indent="0" marL="0">
              <a:buNone/>
            </a:pPr>
            <a:r>
              <a:rPr lang="en-US" sz="1400" dirty="0">
                <a:solidFill>
                  <a:schemeClr val="accent2"/>
                </a:solidFill>
              </a:rPr>
              <a:t>The finalize RPC validates the lease token, commits metadata atomically and schedules 768-dim embeddings.</a:t>
            </a:r>
            <a:endParaRPr lang="en-US" sz="1400" dirty="0"/>
          </a:p>
        </p:txBody>
      </p:sp>
      <p:sp>
        <p:nvSpPr>
          <p:cNvPr id="30" name="Shape 28"/>
          <p:cNvSpPr/>
          <p:nvPr/>
        </p:nvSpPr>
        <p:spPr>
          <a:xfrm>
            <a:off x="548640" y="5440680"/>
            <a:ext cx="11094415" cy="713232"/>
          </a:xfrm>
          <a:prstGeom prst="roundRect">
            <a:avLst>
              <a:gd name="adj" fmla="val 12821"/>
            </a:avLst>
          </a:prstGeom>
          <a:solidFill>
            <a:schemeClr val="bg2"/>
          </a:solidFill>
          <a:ln/>
        </p:spPr>
      </p:sp>
      <p:sp>
        <p:nvSpPr>
          <p:cNvPr id="31" name="Text 29"/>
          <p:cNvSpPr txBox="1"/>
          <p:nvPr/>
        </p:nvSpPr>
        <p:spPr>
          <a:xfrm>
            <a:off x="868680" y="5687568"/>
            <a:ext cx="219456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BUILT TO FAIL SAFELY</a:t>
            </a:r>
            <a:endParaRPr lang="en-US" sz="1050" dirty="0"/>
          </a:p>
        </p:txBody>
      </p:sp>
      <p:pic>
        <p:nvPicPr>
          <p:cNvPr id="32" name="Image 0" descr="Icon">    </p:cNvPr>
          <p:cNvPicPr>
            <a:picLocks noChangeAspect="1"/>
          </p:cNvPicPr>
          <p:nvPr/>
        </p:nvPicPr>
        <p:blipFill>
          <a:blip r:embed="rId1"/>
          <a:stretch>
            <a:fillRect/>
          </a:stretch>
        </p:blipFill>
        <p:spPr>
          <a:xfrm>
            <a:off x="2926080" y="5669280"/>
            <a:ext cx="256032" cy="256032"/>
          </a:xfrm>
          <a:prstGeom prst="rect">
            <a:avLst/>
          </a:prstGeom>
        </p:spPr>
      </p:pic>
      <p:sp>
        <p:nvSpPr>
          <p:cNvPr id="33" name="Text 30"/>
          <p:cNvSpPr txBox="1"/>
          <p:nvPr/>
        </p:nvSpPr>
        <p:spPr>
          <a:xfrm>
            <a:off x="3291840" y="5550408"/>
            <a:ext cx="2606040" cy="493776"/>
          </a:xfrm>
          <a:prstGeom prst="rect">
            <a:avLst/>
          </a:prstGeom>
          <a:noFill/>
          <a:ln/>
        </p:spPr>
        <p:txBody>
          <a:bodyPr wrap="square" lIns="0" tIns="0" rIns="0" bIns="0" rtlCol="0" anchor="ctr"/>
          <a:lstStyle/>
          <a:p>
            <a:pPr indent="0" marL="0">
              <a:buNone/>
            </a:pPr>
            <a:r>
              <a:rPr lang="en-US" sz="1400" dirty="0">
                <a:solidFill>
                  <a:schemeClr val="tx1"/>
                </a:solidFill>
              </a:rPr>
              <a:t>Per-file error isolation</a:t>
            </a:r>
            <a:endParaRPr lang="en-US" sz="1400" dirty="0"/>
          </a:p>
        </p:txBody>
      </p:sp>
      <p:pic>
        <p:nvPicPr>
          <p:cNvPr id="34" name="Image 1" descr="Icon">    </p:cNvPr>
          <p:cNvPicPr>
            <a:picLocks noChangeAspect="1"/>
          </p:cNvPicPr>
          <p:nvPr/>
        </p:nvPicPr>
        <p:blipFill>
          <a:blip r:embed="rId2"/>
          <a:stretch>
            <a:fillRect/>
          </a:stretch>
        </p:blipFill>
        <p:spPr>
          <a:xfrm>
            <a:off x="5715000" y="5669280"/>
            <a:ext cx="256032" cy="256032"/>
          </a:xfrm>
          <a:prstGeom prst="rect">
            <a:avLst/>
          </a:prstGeom>
        </p:spPr>
      </p:pic>
      <p:sp>
        <p:nvSpPr>
          <p:cNvPr id="35" name="Text 31"/>
          <p:cNvSpPr txBox="1"/>
          <p:nvPr/>
        </p:nvSpPr>
        <p:spPr>
          <a:xfrm>
            <a:off x="6080760" y="5550408"/>
            <a:ext cx="2606040" cy="493776"/>
          </a:xfrm>
          <a:prstGeom prst="rect">
            <a:avLst/>
          </a:prstGeom>
          <a:noFill/>
          <a:ln/>
        </p:spPr>
        <p:txBody>
          <a:bodyPr wrap="square" lIns="0" tIns="0" rIns="0" bIns="0" rtlCol="0" anchor="ctr"/>
          <a:lstStyle/>
          <a:p>
            <a:pPr indent="0" marL="0">
              <a:buNone/>
            </a:pPr>
            <a:r>
              <a:rPr lang="en-US" sz="1400" dirty="0">
                <a:solidFill>
                  <a:schemeClr val="tx1"/>
                </a:solidFill>
              </a:rPr>
              <a:t>Exponential backoff with jitter</a:t>
            </a:r>
            <a:endParaRPr lang="en-US" sz="1400" dirty="0"/>
          </a:p>
        </p:txBody>
      </p:sp>
      <p:pic>
        <p:nvPicPr>
          <p:cNvPr id="36" name="Image 2" descr="Icon">    </p:cNvPr>
          <p:cNvPicPr>
            <a:picLocks noChangeAspect="1"/>
          </p:cNvPicPr>
          <p:nvPr/>
        </p:nvPicPr>
        <p:blipFill>
          <a:blip r:embed="rId3"/>
          <a:stretch>
            <a:fillRect/>
          </a:stretch>
        </p:blipFill>
        <p:spPr>
          <a:xfrm>
            <a:off x="8641080" y="5669280"/>
            <a:ext cx="256032" cy="256032"/>
          </a:xfrm>
          <a:prstGeom prst="rect">
            <a:avLst/>
          </a:prstGeom>
        </p:spPr>
      </p:pic>
      <p:sp>
        <p:nvSpPr>
          <p:cNvPr id="37" name="Text 32"/>
          <p:cNvSpPr txBox="1"/>
          <p:nvPr/>
        </p:nvSpPr>
        <p:spPr>
          <a:xfrm>
            <a:off x="9006840" y="5550408"/>
            <a:ext cx="2606040" cy="493776"/>
          </a:xfrm>
          <a:prstGeom prst="rect">
            <a:avLst/>
          </a:prstGeom>
          <a:noFill/>
          <a:ln/>
        </p:spPr>
        <p:txBody>
          <a:bodyPr wrap="square" lIns="0" tIns="0" rIns="0" bIns="0" rtlCol="0" anchor="ctr"/>
          <a:lstStyle/>
          <a:p>
            <a:pPr indent="0" marL="0">
              <a:buNone/>
            </a:pPr>
            <a:r>
              <a:rPr lang="en-US" sz="1400" dirty="0">
                <a:solidFill>
                  <a:schemeClr val="tx1"/>
                </a:solidFill>
              </a:rPr>
              <a:t>Background jobs via pg_cron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Built and running today</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The working app: a dark-mode interface built with Next.js 16, Tailwind CSS v4 and Lucide icons.</a:t>
            </a:r>
            <a:endParaRPr lang="en-US" sz="1500" dirty="0"/>
          </a:p>
        </p:txBody>
      </p:sp>
      <p:sp>
        <p:nvSpPr>
          <p:cNvPr id="4" name="Shape 2"/>
          <p:cNvSpPr/>
          <p:nvPr/>
        </p:nvSpPr>
        <p:spPr>
          <a:xfrm>
            <a:off x="548640" y="1600200"/>
            <a:ext cx="11094415" cy="4059615"/>
          </a:xfrm>
          <a:prstGeom prst="roundRect">
            <a:avLst>
              <a:gd name="adj" fmla="val 3604"/>
            </a:avLst>
          </a:prstGeom>
          <a:solidFill>
            <a:schemeClr val="bg2"/>
          </a:solidFill>
          <a:ln/>
        </p:spPr>
      </p:sp>
      <p:sp>
        <p:nvSpPr>
          <p:cNvPr id="5" name="Shape 3"/>
          <p:cNvSpPr/>
          <p:nvPr/>
        </p:nvSpPr>
        <p:spPr>
          <a:xfrm>
            <a:off x="841248" y="1892808"/>
            <a:ext cx="5071720" cy="3474399"/>
          </a:xfrm>
          <a:prstGeom prst="roundRect">
            <a:avLst>
              <a:gd name="adj" fmla="val 2632"/>
            </a:avLst>
          </a:prstGeom>
          <a:solidFill>
            <a:schemeClr val="bg1"/>
          </a:solidFill>
          <a:ln w="9525">
            <a:solidFill>
              <a:schemeClr val="accent5"/>
            </a:solidFill>
            <a:prstDash val="solid"/>
          </a:ln>
          <a:effectLst>
            <a:outerShdw sx="100000" sy="100000" kx="0" ky="0" algn="bl" rotWithShape="0" blurRad="203200" dist="63500" dir="5400000">
              <a:srgbClr val="1B2330">
                <a:alpha val="14000"/>
              </a:srgbClr>
            </a:outerShdw>
          </a:effectLst>
        </p:spPr>
      </p:sp>
      <p:sp>
        <p:nvSpPr>
          <p:cNvPr id="6" name="Shape 4"/>
          <p:cNvSpPr/>
          <p:nvPr/>
        </p:nvSpPr>
        <p:spPr>
          <a:xfrm>
            <a:off x="987552" y="1997964"/>
            <a:ext cx="100584" cy="100584"/>
          </a:xfrm>
          <a:prstGeom prst="ellipse">
            <a:avLst/>
          </a:prstGeom>
          <a:solidFill>
            <a:srgbClr val="CDD2D9"/>
          </a:solidFill>
          <a:ln/>
        </p:spPr>
      </p:sp>
      <p:sp>
        <p:nvSpPr>
          <p:cNvPr id="7" name="Shape 5"/>
          <p:cNvSpPr/>
          <p:nvPr/>
        </p:nvSpPr>
        <p:spPr>
          <a:xfrm>
            <a:off x="1143000" y="1997964"/>
            <a:ext cx="100584" cy="100584"/>
          </a:xfrm>
          <a:prstGeom prst="ellipse">
            <a:avLst/>
          </a:prstGeom>
          <a:solidFill>
            <a:srgbClr val="CDD2D9"/>
          </a:solidFill>
          <a:ln/>
        </p:spPr>
      </p:sp>
      <p:sp>
        <p:nvSpPr>
          <p:cNvPr id="8" name="Shape 6"/>
          <p:cNvSpPr/>
          <p:nvPr/>
        </p:nvSpPr>
        <p:spPr>
          <a:xfrm>
            <a:off x="1298448" y="1997964"/>
            <a:ext cx="100584" cy="100584"/>
          </a:xfrm>
          <a:prstGeom prst="ellipse">
            <a:avLst/>
          </a:prstGeom>
          <a:solidFill>
            <a:srgbClr val="CDD2D9"/>
          </a:solidFill>
          <a:ln/>
        </p:spPr>
      </p:sp>
      <p:sp>
        <p:nvSpPr>
          <p:cNvPr id="9" name="Shape 7"/>
          <p:cNvSpPr/>
          <p:nvPr/>
        </p:nvSpPr>
        <p:spPr>
          <a:xfrm>
            <a:off x="2188388" y="1956816"/>
            <a:ext cx="2377440" cy="182880"/>
          </a:xfrm>
          <a:prstGeom prst="roundRect">
            <a:avLst>
              <a:gd name="adj" fmla="val 50000"/>
            </a:avLst>
          </a:prstGeom>
          <a:solidFill>
            <a:schemeClr val="bg2"/>
          </a:solidFill>
          <a:ln/>
        </p:spPr>
      </p:sp>
      <p:sp>
        <p:nvSpPr>
          <p:cNvPr id="10" name="Text 8"/>
          <p:cNvSpPr txBox="1"/>
          <p:nvPr/>
        </p:nvSpPr>
        <p:spPr>
          <a:xfrm>
            <a:off x="2188388" y="1956816"/>
            <a:ext cx="2377440" cy="182880"/>
          </a:xfrm>
          <a:prstGeom prst="rect">
            <a:avLst/>
          </a:prstGeom>
          <a:noFill/>
          <a:ln/>
        </p:spPr>
        <p:txBody>
          <a:bodyPr wrap="square" lIns="0" tIns="0" rIns="0" bIns="0" rtlCol="0" anchor="ctr"/>
          <a:lstStyle/>
          <a:p>
            <a:pPr algn="ctr" indent="0" marL="0">
              <a:buNone/>
            </a:pPr>
            <a:r>
              <a:rPr lang="en-US" sz="900" dirty="0">
                <a:solidFill>
                  <a:schemeClr val="accent2"/>
                </a:solidFill>
              </a:rPr>
              <a:t>filemind.vault/dashboard</a:t>
            </a:r>
            <a:endParaRPr lang="en-US" sz="900" dirty="0"/>
          </a:p>
        </p:txBody>
      </p:sp>
      <p:pic>
        <p:nvPicPr>
          <p:cNvPr id="11" name="Image 0" descr="FileMind dashboard with storage quota and batch upload zone">    </p:cNvPr>
          <p:cNvPicPr>
            <a:picLocks noChangeAspect="1"/>
          </p:cNvPicPr>
          <p:nvPr/>
        </p:nvPicPr>
        <p:blipFill>
          <a:blip r:embed="rId1"/>
          <a:stretch>
            <a:fillRect/>
          </a:stretch>
        </p:blipFill>
        <p:spPr>
          <a:xfrm>
            <a:off x="859536" y="2203704"/>
            <a:ext cx="5035144" cy="3145215"/>
          </a:xfrm>
          <a:prstGeom prst="rect">
            <a:avLst/>
          </a:prstGeom>
        </p:spPr>
      </p:pic>
      <p:sp>
        <p:nvSpPr>
          <p:cNvPr id="12" name="Shape 9"/>
          <p:cNvSpPr/>
          <p:nvPr/>
        </p:nvSpPr>
        <p:spPr>
          <a:xfrm>
            <a:off x="3667310" y="2874225"/>
            <a:ext cx="310896" cy="310896"/>
          </a:xfrm>
          <a:prstGeom prst="ellipse">
            <a:avLst/>
          </a:prstGeom>
          <a:solidFill>
            <a:schemeClr val="accent1"/>
          </a:solidFill>
          <a:ln w="19050">
            <a:solidFill>
              <a:schemeClr val="bg1"/>
            </a:solidFill>
            <a:prstDash val="solid"/>
          </a:ln>
        </p:spPr>
      </p:sp>
      <p:sp>
        <p:nvSpPr>
          <p:cNvPr id="13" name="Text 10"/>
          <p:cNvSpPr txBox="1"/>
          <p:nvPr/>
        </p:nvSpPr>
        <p:spPr>
          <a:xfrm>
            <a:off x="3667310" y="2874225"/>
            <a:ext cx="310896" cy="310896"/>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1</a:t>
            </a:r>
            <a:endParaRPr lang="en-US" sz="1200" dirty="0"/>
          </a:p>
        </p:txBody>
      </p:sp>
      <p:sp>
        <p:nvSpPr>
          <p:cNvPr id="14" name="Shape 11"/>
          <p:cNvSpPr/>
          <p:nvPr/>
        </p:nvSpPr>
        <p:spPr>
          <a:xfrm>
            <a:off x="841248" y="5888415"/>
            <a:ext cx="256032" cy="256032"/>
          </a:xfrm>
          <a:prstGeom prst="ellipse">
            <a:avLst/>
          </a:prstGeom>
          <a:solidFill>
            <a:schemeClr val="accent1"/>
          </a:solidFill>
          <a:ln/>
        </p:spPr>
      </p:sp>
      <p:sp>
        <p:nvSpPr>
          <p:cNvPr id="15" name="Text 12"/>
          <p:cNvSpPr txBox="1"/>
          <p:nvPr/>
        </p:nvSpPr>
        <p:spPr>
          <a:xfrm>
            <a:off x="841248" y="5888415"/>
            <a:ext cx="256032" cy="256032"/>
          </a:xfrm>
          <a:prstGeom prst="rect">
            <a:avLst/>
          </a:prstGeom>
          <a:noFill/>
          <a:ln/>
        </p:spPr>
        <p:txBody>
          <a:bodyPr wrap="square" lIns="0" tIns="0" rIns="0" bIns="0" rtlCol="0" anchor="ctr"/>
          <a:lstStyle/>
          <a:p>
            <a:pPr algn="ctr" indent="0" marL="0">
              <a:buNone/>
            </a:pPr>
            <a:r>
              <a:rPr lang="en-US" sz="1100" b="1" dirty="0">
                <a:solidFill>
                  <a:schemeClr val="tx2"/>
                </a:solidFill>
                <a:latin typeface="Arial" pitchFamily="34" charset="0"/>
                <a:ea typeface="Arial" pitchFamily="34" charset="-122"/>
                <a:cs typeface="Arial" pitchFamily="34" charset="-120"/>
              </a:rPr>
              <a:t>1</a:t>
            </a:r>
            <a:endParaRPr lang="en-US" sz="1100" dirty="0"/>
          </a:p>
        </p:txBody>
      </p:sp>
      <p:sp>
        <p:nvSpPr>
          <p:cNvPr id="16" name="Text 13"/>
          <p:cNvSpPr txBox="1"/>
          <p:nvPr/>
        </p:nvSpPr>
        <p:spPr>
          <a:xfrm>
            <a:off x="1207008" y="5870127"/>
            <a:ext cx="2124380" cy="292608"/>
          </a:xfrm>
          <a:prstGeom prst="rect">
            <a:avLst/>
          </a:prstGeom>
          <a:noFill/>
          <a:ln/>
        </p:spPr>
        <p:txBody>
          <a:bodyPr wrap="square" lIns="0" tIns="0" rIns="0" bIns="0" rtlCol="0" anchor="ctr"/>
          <a:lstStyle/>
          <a:p>
            <a:pPr indent="0" marL="0">
              <a:buNone/>
            </a:pPr>
            <a:r>
              <a:rPr lang="en-US" sz="1300" dirty="0">
                <a:solidFill>
                  <a:schemeClr val="tx1"/>
                </a:solidFill>
              </a:rPr>
              <a:t>Live storage quota metrics</a:t>
            </a:r>
            <a:endParaRPr lang="en-US" sz="1300" dirty="0"/>
          </a:p>
        </p:txBody>
      </p:sp>
      <p:sp>
        <p:nvSpPr>
          <p:cNvPr id="17" name="Shape 14"/>
          <p:cNvSpPr/>
          <p:nvPr/>
        </p:nvSpPr>
        <p:spPr>
          <a:xfrm>
            <a:off x="3667310" y="3802857"/>
            <a:ext cx="310896" cy="310896"/>
          </a:xfrm>
          <a:prstGeom prst="ellipse">
            <a:avLst/>
          </a:prstGeom>
          <a:solidFill>
            <a:schemeClr val="accent1"/>
          </a:solidFill>
          <a:ln w="19050">
            <a:solidFill>
              <a:schemeClr val="bg1"/>
            </a:solidFill>
            <a:prstDash val="solid"/>
          </a:ln>
        </p:spPr>
      </p:sp>
      <p:sp>
        <p:nvSpPr>
          <p:cNvPr id="18" name="Text 15"/>
          <p:cNvSpPr txBox="1"/>
          <p:nvPr/>
        </p:nvSpPr>
        <p:spPr>
          <a:xfrm>
            <a:off x="3667310" y="3802857"/>
            <a:ext cx="310896" cy="310896"/>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2</a:t>
            </a:r>
            <a:endParaRPr lang="en-US" sz="1200" dirty="0"/>
          </a:p>
        </p:txBody>
      </p:sp>
      <p:sp>
        <p:nvSpPr>
          <p:cNvPr id="19" name="Shape 16"/>
          <p:cNvSpPr/>
          <p:nvPr/>
        </p:nvSpPr>
        <p:spPr>
          <a:xfrm>
            <a:off x="3377108" y="5888415"/>
            <a:ext cx="256032" cy="256032"/>
          </a:xfrm>
          <a:prstGeom prst="ellipse">
            <a:avLst/>
          </a:prstGeom>
          <a:solidFill>
            <a:schemeClr val="accent1"/>
          </a:solidFill>
          <a:ln/>
        </p:spPr>
      </p:sp>
      <p:sp>
        <p:nvSpPr>
          <p:cNvPr id="20" name="Text 17"/>
          <p:cNvSpPr txBox="1"/>
          <p:nvPr/>
        </p:nvSpPr>
        <p:spPr>
          <a:xfrm>
            <a:off x="3377108" y="5888415"/>
            <a:ext cx="256032" cy="256032"/>
          </a:xfrm>
          <a:prstGeom prst="rect">
            <a:avLst/>
          </a:prstGeom>
          <a:noFill/>
          <a:ln/>
        </p:spPr>
        <p:txBody>
          <a:bodyPr wrap="square" lIns="0" tIns="0" rIns="0" bIns="0" rtlCol="0" anchor="ctr"/>
          <a:lstStyle/>
          <a:p>
            <a:pPr algn="ctr" indent="0" marL="0">
              <a:buNone/>
            </a:pPr>
            <a:r>
              <a:rPr lang="en-US" sz="1100" b="1" dirty="0">
                <a:solidFill>
                  <a:schemeClr val="tx2"/>
                </a:solidFill>
                <a:latin typeface="Arial" pitchFamily="34" charset="0"/>
                <a:ea typeface="Arial" pitchFamily="34" charset="-122"/>
                <a:cs typeface="Arial" pitchFamily="34" charset="-120"/>
              </a:rPr>
              <a:t>2</a:t>
            </a:r>
            <a:endParaRPr lang="en-US" sz="1100" dirty="0"/>
          </a:p>
        </p:txBody>
      </p:sp>
      <p:sp>
        <p:nvSpPr>
          <p:cNvPr id="21" name="Text 18"/>
          <p:cNvSpPr txBox="1"/>
          <p:nvPr/>
        </p:nvSpPr>
        <p:spPr>
          <a:xfrm>
            <a:off x="3742868" y="5870127"/>
            <a:ext cx="2124380" cy="292608"/>
          </a:xfrm>
          <a:prstGeom prst="rect">
            <a:avLst/>
          </a:prstGeom>
          <a:noFill/>
          <a:ln/>
        </p:spPr>
        <p:txBody>
          <a:bodyPr wrap="square" lIns="0" tIns="0" rIns="0" bIns="0" rtlCol="0" anchor="ctr"/>
          <a:lstStyle/>
          <a:p>
            <a:pPr indent="0" marL="0">
              <a:buNone/>
            </a:pPr>
            <a:r>
              <a:rPr lang="en-US" sz="1300" dirty="0">
                <a:solidFill>
                  <a:schemeClr val="tx1"/>
                </a:solidFill>
              </a:rPr>
              <a:t>150-file batch drop zone</a:t>
            </a:r>
            <a:endParaRPr lang="en-US" sz="1300" dirty="0"/>
          </a:p>
        </p:txBody>
      </p:sp>
      <p:sp>
        <p:nvSpPr>
          <p:cNvPr id="22" name="Shape 19"/>
          <p:cNvSpPr/>
          <p:nvPr/>
        </p:nvSpPr>
        <p:spPr>
          <a:xfrm>
            <a:off x="6278728" y="1892808"/>
            <a:ext cx="5071720" cy="3474399"/>
          </a:xfrm>
          <a:prstGeom prst="roundRect">
            <a:avLst>
              <a:gd name="adj" fmla="val 2632"/>
            </a:avLst>
          </a:prstGeom>
          <a:solidFill>
            <a:schemeClr val="bg1"/>
          </a:solidFill>
          <a:ln w="9525">
            <a:solidFill>
              <a:schemeClr val="accent5"/>
            </a:solidFill>
            <a:prstDash val="solid"/>
          </a:ln>
          <a:effectLst>
            <a:outerShdw sx="100000" sy="100000" kx="0" ky="0" algn="bl" rotWithShape="0" blurRad="203200" dist="63500" dir="5400000">
              <a:srgbClr val="1B2330">
                <a:alpha val="14000"/>
              </a:srgbClr>
            </a:outerShdw>
          </a:effectLst>
        </p:spPr>
      </p:sp>
      <p:sp>
        <p:nvSpPr>
          <p:cNvPr id="23" name="Shape 20"/>
          <p:cNvSpPr/>
          <p:nvPr/>
        </p:nvSpPr>
        <p:spPr>
          <a:xfrm>
            <a:off x="6425032" y="1997964"/>
            <a:ext cx="100584" cy="100584"/>
          </a:xfrm>
          <a:prstGeom prst="ellipse">
            <a:avLst/>
          </a:prstGeom>
          <a:solidFill>
            <a:srgbClr val="CDD2D9"/>
          </a:solidFill>
          <a:ln/>
        </p:spPr>
      </p:sp>
      <p:sp>
        <p:nvSpPr>
          <p:cNvPr id="24" name="Shape 21"/>
          <p:cNvSpPr/>
          <p:nvPr/>
        </p:nvSpPr>
        <p:spPr>
          <a:xfrm>
            <a:off x="6580480" y="1997964"/>
            <a:ext cx="100584" cy="100584"/>
          </a:xfrm>
          <a:prstGeom prst="ellipse">
            <a:avLst/>
          </a:prstGeom>
          <a:solidFill>
            <a:srgbClr val="CDD2D9"/>
          </a:solidFill>
          <a:ln/>
        </p:spPr>
      </p:sp>
      <p:sp>
        <p:nvSpPr>
          <p:cNvPr id="25" name="Shape 22"/>
          <p:cNvSpPr/>
          <p:nvPr/>
        </p:nvSpPr>
        <p:spPr>
          <a:xfrm>
            <a:off x="6735928" y="1997964"/>
            <a:ext cx="100584" cy="100584"/>
          </a:xfrm>
          <a:prstGeom prst="ellipse">
            <a:avLst/>
          </a:prstGeom>
          <a:solidFill>
            <a:srgbClr val="CDD2D9"/>
          </a:solidFill>
          <a:ln/>
        </p:spPr>
      </p:sp>
      <p:sp>
        <p:nvSpPr>
          <p:cNvPr id="26" name="Shape 23"/>
          <p:cNvSpPr/>
          <p:nvPr/>
        </p:nvSpPr>
        <p:spPr>
          <a:xfrm>
            <a:off x="7625867" y="1956816"/>
            <a:ext cx="2377440" cy="182880"/>
          </a:xfrm>
          <a:prstGeom prst="roundRect">
            <a:avLst>
              <a:gd name="adj" fmla="val 50000"/>
            </a:avLst>
          </a:prstGeom>
          <a:solidFill>
            <a:schemeClr val="bg2"/>
          </a:solidFill>
          <a:ln/>
        </p:spPr>
      </p:sp>
      <p:sp>
        <p:nvSpPr>
          <p:cNvPr id="27" name="Text 24"/>
          <p:cNvSpPr txBox="1"/>
          <p:nvPr/>
        </p:nvSpPr>
        <p:spPr>
          <a:xfrm>
            <a:off x="7625867" y="1956816"/>
            <a:ext cx="2377440" cy="182880"/>
          </a:xfrm>
          <a:prstGeom prst="rect">
            <a:avLst/>
          </a:prstGeom>
          <a:noFill/>
          <a:ln/>
        </p:spPr>
        <p:txBody>
          <a:bodyPr wrap="square" lIns="0" tIns="0" rIns="0" bIns="0" rtlCol="0" anchor="ctr"/>
          <a:lstStyle/>
          <a:p>
            <a:pPr algn="ctr" indent="0" marL="0">
              <a:buNone/>
            </a:pPr>
            <a:r>
              <a:rPr lang="en-US" sz="900" dirty="0">
                <a:solidFill>
                  <a:schemeClr val="accent2"/>
                </a:solidFill>
              </a:rPr>
              <a:t>filemind.vault/documents</a:t>
            </a:r>
            <a:endParaRPr lang="en-US" sz="900" dirty="0"/>
          </a:p>
        </p:txBody>
      </p:sp>
      <p:pic>
        <p:nvPicPr>
          <p:cNvPr id="28" name="Image 1" descr="FileMind document vault with extracted categories and tags">    </p:cNvPr>
          <p:cNvPicPr>
            <a:picLocks noChangeAspect="1"/>
          </p:cNvPicPr>
          <p:nvPr/>
        </p:nvPicPr>
        <p:blipFill>
          <a:blip r:embed="rId2"/>
          <a:stretch>
            <a:fillRect/>
          </a:stretch>
        </p:blipFill>
        <p:spPr>
          <a:xfrm>
            <a:off x="6297016" y="2203704"/>
            <a:ext cx="5035144" cy="3145215"/>
          </a:xfrm>
          <a:prstGeom prst="rect">
            <a:avLst/>
          </a:prstGeom>
        </p:spPr>
      </p:pic>
      <p:sp>
        <p:nvSpPr>
          <p:cNvPr id="29" name="Shape 25"/>
          <p:cNvSpPr/>
          <p:nvPr/>
        </p:nvSpPr>
        <p:spPr>
          <a:xfrm>
            <a:off x="9781430" y="4372168"/>
            <a:ext cx="310896" cy="310896"/>
          </a:xfrm>
          <a:prstGeom prst="ellipse">
            <a:avLst/>
          </a:prstGeom>
          <a:solidFill>
            <a:schemeClr val="accent1"/>
          </a:solidFill>
          <a:ln w="19050">
            <a:solidFill>
              <a:schemeClr val="bg1"/>
            </a:solidFill>
            <a:prstDash val="solid"/>
          </a:ln>
        </p:spPr>
      </p:sp>
      <p:sp>
        <p:nvSpPr>
          <p:cNvPr id="30" name="Text 26"/>
          <p:cNvSpPr txBox="1"/>
          <p:nvPr/>
        </p:nvSpPr>
        <p:spPr>
          <a:xfrm>
            <a:off x="9781430" y="4372168"/>
            <a:ext cx="310896" cy="310896"/>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3</a:t>
            </a:r>
            <a:endParaRPr lang="en-US" sz="1200" dirty="0"/>
          </a:p>
        </p:txBody>
      </p:sp>
      <p:sp>
        <p:nvSpPr>
          <p:cNvPr id="31" name="Shape 27"/>
          <p:cNvSpPr/>
          <p:nvPr/>
        </p:nvSpPr>
        <p:spPr>
          <a:xfrm>
            <a:off x="6278728" y="5888415"/>
            <a:ext cx="256032" cy="256032"/>
          </a:xfrm>
          <a:prstGeom prst="ellipse">
            <a:avLst/>
          </a:prstGeom>
          <a:solidFill>
            <a:schemeClr val="accent1"/>
          </a:solidFill>
          <a:ln/>
        </p:spPr>
      </p:sp>
      <p:sp>
        <p:nvSpPr>
          <p:cNvPr id="32" name="Text 28"/>
          <p:cNvSpPr txBox="1"/>
          <p:nvPr/>
        </p:nvSpPr>
        <p:spPr>
          <a:xfrm>
            <a:off x="6278728" y="5888415"/>
            <a:ext cx="256032" cy="256032"/>
          </a:xfrm>
          <a:prstGeom prst="rect">
            <a:avLst/>
          </a:prstGeom>
          <a:noFill/>
          <a:ln/>
        </p:spPr>
        <p:txBody>
          <a:bodyPr wrap="square" lIns="0" tIns="0" rIns="0" bIns="0" rtlCol="0" anchor="ctr"/>
          <a:lstStyle/>
          <a:p>
            <a:pPr algn="ctr" indent="0" marL="0">
              <a:buNone/>
            </a:pPr>
            <a:r>
              <a:rPr lang="en-US" sz="1100" b="1" dirty="0">
                <a:solidFill>
                  <a:schemeClr val="tx2"/>
                </a:solidFill>
                <a:latin typeface="Arial" pitchFamily="34" charset="0"/>
                <a:ea typeface="Arial" pitchFamily="34" charset="-122"/>
                <a:cs typeface="Arial" pitchFamily="34" charset="-120"/>
              </a:rPr>
              <a:t>3</a:t>
            </a:r>
            <a:endParaRPr lang="en-US" sz="1100" dirty="0"/>
          </a:p>
        </p:txBody>
      </p:sp>
      <p:sp>
        <p:nvSpPr>
          <p:cNvPr id="33" name="Text 29"/>
          <p:cNvSpPr txBox="1"/>
          <p:nvPr/>
        </p:nvSpPr>
        <p:spPr>
          <a:xfrm>
            <a:off x="6644488" y="5870127"/>
            <a:ext cx="2124380" cy="292608"/>
          </a:xfrm>
          <a:prstGeom prst="rect">
            <a:avLst/>
          </a:prstGeom>
          <a:noFill/>
          <a:ln/>
        </p:spPr>
        <p:txBody>
          <a:bodyPr wrap="square" lIns="0" tIns="0" rIns="0" bIns="0" rtlCol="0" anchor="ctr"/>
          <a:lstStyle/>
          <a:p>
            <a:pPr indent="0" marL="0">
              <a:buNone/>
            </a:pPr>
            <a:r>
              <a:rPr lang="en-US" sz="1300" dirty="0">
                <a:solidFill>
                  <a:schemeClr val="tx1"/>
                </a:solidFill>
              </a:rPr>
              <a:t>Ready / processing / failed</a:t>
            </a:r>
            <a:endParaRPr lang="en-US" sz="1300" dirty="0"/>
          </a:p>
        </p:txBody>
      </p:sp>
      <p:sp>
        <p:nvSpPr>
          <p:cNvPr id="34" name="Shape 30"/>
          <p:cNvSpPr/>
          <p:nvPr/>
        </p:nvSpPr>
        <p:spPr>
          <a:xfrm>
            <a:off x="7844837" y="4605493"/>
            <a:ext cx="310896" cy="310896"/>
          </a:xfrm>
          <a:prstGeom prst="ellipse">
            <a:avLst/>
          </a:prstGeom>
          <a:solidFill>
            <a:schemeClr val="accent1"/>
          </a:solidFill>
          <a:ln w="19050">
            <a:solidFill>
              <a:schemeClr val="bg1"/>
            </a:solidFill>
            <a:prstDash val="solid"/>
          </a:ln>
        </p:spPr>
      </p:sp>
      <p:sp>
        <p:nvSpPr>
          <p:cNvPr id="35" name="Text 31"/>
          <p:cNvSpPr txBox="1"/>
          <p:nvPr/>
        </p:nvSpPr>
        <p:spPr>
          <a:xfrm>
            <a:off x="7844837" y="4605493"/>
            <a:ext cx="310896" cy="310896"/>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4</a:t>
            </a:r>
            <a:endParaRPr lang="en-US" sz="1200" dirty="0"/>
          </a:p>
        </p:txBody>
      </p:sp>
      <p:sp>
        <p:nvSpPr>
          <p:cNvPr id="36" name="Shape 32"/>
          <p:cNvSpPr/>
          <p:nvPr/>
        </p:nvSpPr>
        <p:spPr>
          <a:xfrm>
            <a:off x="8814587" y="5888415"/>
            <a:ext cx="256032" cy="256032"/>
          </a:xfrm>
          <a:prstGeom prst="ellipse">
            <a:avLst/>
          </a:prstGeom>
          <a:solidFill>
            <a:schemeClr val="accent1"/>
          </a:solidFill>
          <a:ln/>
        </p:spPr>
      </p:sp>
      <p:sp>
        <p:nvSpPr>
          <p:cNvPr id="37" name="Text 33"/>
          <p:cNvSpPr txBox="1"/>
          <p:nvPr/>
        </p:nvSpPr>
        <p:spPr>
          <a:xfrm>
            <a:off x="8814587" y="5888415"/>
            <a:ext cx="256032" cy="256032"/>
          </a:xfrm>
          <a:prstGeom prst="rect">
            <a:avLst/>
          </a:prstGeom>
          <a:noFill/>
          <a:ln/>
        </p:spPr>
        <p:txBody>
          <a:bodyPr wrap="square" lIns="0" tIns="0" rIns="0" bIns="0" rtlCol="0" anchor="ctr"/>
          <a:lstStyle/>
          <a:p>
            <a:pPr algn="ctr" indent="0" marL="0">
              <a:buNone/>
            </a:pPr>
            <a:r>
              <a:rPr lang="en-US" sz="1100" b="1" dirty="0">
                <a:solidFill>
                  <a:schemeClr val="tx2"/>
                </a:solidFill>
                <a:latin typeface="Arial" pitchFamily="34" charset="0"/>
                <a:ea typeface="Arial" pitchFamily="34" charset="-122"/>
                <a:cs typeface="Arial" pitchFamily="34" charset="-120"/>
              </a:rPr>
              <a:t>4</a:t>
            </a:r>
            <a:endParaRPr lang="en-US" sz="1100" dirty="0"/>
          </a:p>
        </p:txBody>
      </p:sp>
      <p:sp>
        <p:nvSpPr>
          <p:cNvPr id="38" name="Text 34"/>
          <p:cNvSpPr txBox="1"/>
          <p:nvPr/>
        </p:nvSpPr>
        <p:spPr>
          <a:xfrm>
            <a:off x="9180347" y="5870127"/>
            <a:ext cx="2124380" cy="292608"/>
          </a:xfrm>
          <a:prstGeom prst="rect">
            <a:avLst/>
          </a:prstGeom>
          <a:noFill/>
          <a:ln/>
        </p:spPr>
        <p:txBody>
          <a:bodyPr wrap="square" lIns="0" tIns="0" rIns="0" bIns="0" rtlCol="0" anchor="ctr"/>
          <a:lstStyle/>
          <a:p>
            <a:pPr indent="0" marL="0">
              <a:buNone/>
            </a:pPr>
            <a:r>
              <a:rPr lang="en-US" sz="1300" dirty="0">
                <a:solidFill>
                  <a:schemeClr val="tx1"/>
                </a:solidFill>
              </a:rPr>
              <a:t>Gemini categories &amp; tags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A modern, type-safe stack</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Production-grade frameworks across the interface, the data layer and the AI pipeline.</a:t>
            </a:r>
            <a:endParaRPr lang="en-US" sz="1500" dirty="0"/>
          </a:p>
        </p:txBody>
      </p:sp>
      <p:sp>
        <p:nvSpPr>
          <p:cNvPr id="4" name="Text 2"/>
          <p:cNvSpPr txBox="1"/>
          <p:nvPr/>
        </p:nvSpPr>
        <p:spPr>
          <a:xfrm>
            <a:off x="548640" y="1719072"/>
            <a:ext cx="3393338"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FRONTEND &amp; APPLICATION</a:t>
            </a:r>
            <a:endParaRPr lang="en-US" sz="1050" dirty="0"/>
          </a:p>
        </p:txBody>
      </p:sp>
      <p:sp>
        <p:nvSpPr>
          <p:cNvPr id="5" name="Text 3"/>
          <p:cNvSpPr txBox="1"/>
          <p:nvPr/>
        </p:nvSpPr>
        <p:spPr>
          <a:xfrm>
            <a:off x="548640" y="1984248"/>
            <a:ext cx="3393338" cy="329184"/>
          </a:xfrm>
          <a:prstGeom prst="rect">
            <a:avLst/>
          </a:prstGeom>
          <a:noFill/>
          <a:ln/>
        </p:spPr>
        <p:txBody>
          <a:bodyPr wrap="square" lIns="0" tIns="0" rIns="0" bIns="0" rtlCol="0" anchor="t"/>
          <a:lstStyle/>
          <a:p>
            <a:pPr indent="0" marL="0">
              <a:buNone/>
            </a:pPr>
            <a:r>
              <a:rPr lang="en-US" sz="1700" b="1" dirty="0">
                <a:solidFill>
                  <a:schemeClr val="tx1"/>
                </a:solidFill>
              </a:rPr>
              <a:t>Server-rendered, streaming UI</a:t>
            </a:r>
            <a:endParaRPr lang="en-US" sz="1700" dirty="0"/>
          </a:p>
        </p:txBody>
      </p:sp>
      <p:sp>
        <p:nvSpPr>
          <p:cNvPr id="6" name="Shape 4"/>
          <p:cNvSpPr/>
          <p:nvPr/>
        </p:nvSpPr>
        <p:spPr>
          <a:xfrm>
            <a:off x="548640" y="2514600"/>
            <a:ext cx="457200" cy="457200"/>
          </a:xfrm>
          <a:prstGeom prst="roundRect">
            <a:avLst>
              <a:gd name="adj" fmla="val 16000"/>
            </a:avLst>
          </a:prstGeom>
          <a:solidFill>
            <a:schemeClr val="bg2"/>
          </a:solidFill>
          <a:ln/>
        </p:spPr>
      </p:sp>
      <p:pic>
        <p:nvPicPr>
          <p:cNvPr id="7" name="Image 0" descr="Icon">    </p:cNvPr>
          <p:cNvPicPr>
            <a:picLocks noChangeAspect="1"/>
          </p:cNvPicPr>
          <p:nvPr/>
        </p:nvPicPr>
        <p:blipFill>
          <a:blip r:embed="rId1"/>
          <a:stretch>
            <a:fillRect/>
          </a:stretch>
        </p:blipFill>
        <p:spPr>
          <a:xfrm>
            <a:off x="649224" y="2615184"/>
            <a:ext cx="256032" cy="256032"/>
          </a:xfrm>
          <a:prstGeom prst="rect">
            <a:avLst/>
          </a:prstGeom>
        </p:spPr>
      </p:pic>
      <p:sp>
        <p:nvSpPr>
          <p:cNvPr id="8" name="Text 5"/>
          <p:cNvSpPr txBox="1"/>
          <p:nvPr/>
        </p:nvSpPr>
        <p:spPr>
          <a:xfrm>
            <a:off x="1170432" y="2496312"/>
            <a:ext cx="2771546" cy="274320"/>
          </a:xfrm>
          <a:prstGeom prst="rect">
            <a:avLst/>
          </a:prstGeom>
          <a:noFill/>
          <a:ln/>
        </p:spPr>
        <p:txBody>
          <a:bodyPr wrap="square" lIns="0" tIns="0" rIns="0" bIns="0" rtlCol="0" anchor="t"/>
          <a:lstStyle/>
          <a:p>
            <a:pPr indent="0" marL="0">
              <a:buNone/>
            </a:pPr>
            <a:r>
              <a:rPr lang="en-US" sz="1500" b="1" dirty="0">
                <a:solidFill>
                  <a:schemeClr val="tx1"/>
                </a:solidFill>
              </a:rPr>
              <a:t>Next.js 16.3 (App Router)</a:t>
            </a:r>
            <a:endParaRPr lang="en-US" sz="1500" dirty="0"/>
          </a:p>
        </p:txBody>
      </p:sp>
      <p:sp>
        <p:nvSpPr>
          <p:cNvPr id="9" name="Text 6"/>
          <p:cNvSpPr txBox="1"/>
          <p:nvPr/>
        </p:nvSpPr>
        <p:spPr>
          <a:xfrm>
            <a:off x="1170432" y="2788920"/>
            <a:ext cx="2771546" cy="868680"/>
          </a:xfrm>
          <a:prstGeom prst="rect">
            <a:avLst/>
          </a:prstGeom>
          <a:noFill/>
          <a:ln/>
        </p:spPr>
        <p:txBody>
          <a:bodyPr wrap="square" lIns="0" tIns="0" rIns="0" bIns="0" rtlCol="0" anchor="t"/>
          <a:lstStyle/>
          <a:p>
            <a:pPr indent="0" marL="0">
              <a:buNone/>
            </a:pPr>
            <a:r>
              <a:rPr lang="en-US" sz="1300" dirty="0">
                <a:solidFill>
                  <a:schemeClr val="accent2"/>
                </a:solidFill>
              </a:rPr>
              <a:t>Turbopack, Server Components and </a:t>
            </a:r>
            <a:pPr indent="0" marL="0">
              <a:buNone/>
            </a:pPr>
            <a:r>
              <a:rPr lang="en-US" sz="1100" b="1" dirty="0">
                <a:solidFill>
                  <a:schemeClr val="tx1"/>
                </a:solidFill>
                <a:latin typeface="Courier New" pitchFamily="34" charset="0"/>
                <a:ea typeface="Courier New" pitchFamily="34" charset="-122"/>
                <a:cs typeface="Courier New" pitchFamily="34" charset="-120"/>
              </a:rPr>
              <a:t>after()</a:t>
            </a:r>
            <a:pPr indent="0" marL="0">
              <a:buNone/>
            </a:pPr>
            <a:r>
              <a:rPr lang="en-US" sz="1300" dirty="0">
                <a:solidFill>
                  <a:schemeClr val="accent2"/>
                </a:solidFill>
              </a:rPr>
              <a:t> for background work.</a:t>
            </a:r>
            <a:endParaRPr lang="en-US" sz="1400" dirty="0"/>
          </a:p>
        </p:txBody>
      </p:sp>
      <p:sp>
        <p:nvSpPr>
          <p:cNvPr id="10" name="Shape 7"/>
          <p:cNvSpPr/>
          <p:nvPr/>
        </p:nvSpPr>
        <p:spPr>
          <a:xfrm>
            <a:off x="548640" y="3721608"/>
            <a:ext cx="457200" cy="457200"/>
          </a:xfrm>
          <a:prstGeom prst="roundRect">
            <a:avLst>
              <a:gd name="adj" fmla="val 16000"/>
            </a:avLst>
          </a:prstGeom>
          <a:solidFill>
            <a:schemeClr val="bg2"/>
          </a:solidFill>
          <a:ln/>
        </p:spPr>
      </p:sp>
      <p:pic>
        <p:nvPicPr>
          <p:cNvPr id="11" name="Image 1" descr="Icon">    </p:cNvPr>
          <p:cNvPicPr>
            <a:picLocks noChangeAspect="1"/>
          </p:cNvPicPr>
          <p:nvPr/>
        </p:nvPicPr>
        <p:blipFill>
          <a:blip r:embed="rId2"/>
          <a:stretch>
            <a:fillRect/>
          </a:stretch>
        </p:blipFill>
        <p:spPr>
          <a:xfrm>
            <a:off x="649224" y="3822192"/>
            <a:ext cx="256032" cy="256032"/>
          </a:xfrm>
          <a:prstGeom prst="rect">
            <a:avLst/>
          </a:prstGeom>
        </p:spPr>
      </p:pic>
      <p:sp>
        <p:nvSpPr>
          <p:cNvPr id="12" name="Text 8"/>
          <p:cNvSpPr txBox="1"/>
          <p:nvPr/>
        </p:nvSpPr>
        <p:spPr>
          <a:xfrm>
            <a:off x="1170432" y="3703320"/>
            <a:ext cx="2771546" cy="274320"/>
          </a:xfrm>
          <a:prstGeom prst="rect">
            <a:avLst/>
          </a:prstGeom>
          <a:noFill/>
          <a:ln/>
        </p:spPr>
        <p:txBody>
          <a:bodyPr wrap="square" lIns="0" tIns="0" rIns="0" bIns="0" rtlCol="0" anchor="t"/>
          <a:lstStyle/>
          <a:p>
            <a:pPr indent="0" marL="0">
              <a:buNone/>
            </a:pPr>
            <a:r>
              <a:rPr lang="en-US" sz="1500" b="1" dirty="0">
                <a:solidFill>
                  <a:schemeClr val="tx1"/>
                </a:solidFill>
              </a:rPr>
              <a:t>React 19.2</a:t>
            </a:r>
            <a:endParaRPr lang="en-US" sz="1500" dirty="0"/>
          </a:p>
        </p:txBody>
      </p:sp>
      <p:sp>
        <p:nvSpPr>
          <p:cNvPr id="13" name="Text 9"/>
          <p:cNvSpPr txBox="1"/>
          <p:nvPr/>
        </p:nvSpPr>
        <p:spPr>
          <a:xfrm>
            <a:off x="1170432" y="3995928"/>
            <a:ext cx="2771546" cy="868680"/>
          </a:xfrm>
          <a:prstGeom prst="rect">
            <a:avLst/>
          </a:prstGeom>
          <a:noFill/>
          <a:ln/>
        </p:spPr>
        <p:txBody>
          <a:bodyPr wrap="square" lIns="0" tIns="0" rIns="0" bIns="0" rtlCol="0" anchor="t"/>
          <a:lstStyle/>
          <a:p>
            <a:pPr indent="0" marL="0">
              <a:buNone/>
            </a:pPr>
            <a:r>
              <a:rPr lang="en-US" sz="1300" dirty="0">
                <a:solidFill>
                  <a:schemeClr val="accent2"/>
                </a:solidFill>
              </a:rPr>
              <a:t>Streaming transitions and optimistic UI updates.</a:t>
            </a:r>
            <a:endParaRPr lang="en-US" sz="1400" dirty="0"/>
          </a:p>
        </p:txBody>
      </p:sp>
      <p:sp>
        <p:nvSpPr>
          <p:cNvPr id="14" name="Shape 10"/>
          <p:cNvSpPr/>
          <p:nvPr/>
        </p:nvSpPr>
        <p:spPr>
          <a:xfrm>
            <a:off x="548640" y="4928616"/>
            <a:ext cx="457200" cy="457200"/>
          </a:xfrm>
          <a:prstGeom prst="roundRect">
            <a:avLst>
              <a:gd name="adj" fmla="val 16000"/>
            </a:avLst>
          </a:prstGeom>
          <a:solidFill>
            <a:schemeClr val="bg2"/>
          </a:solidFill>
          <a:ln/>
        </p:spPr>
      </p:sp>
      <p:pic>
        <p:nvPicPr>
          <p:cNvPr id="15" name="Image 2" descr="Icon">    </p:cNvPr>
          <p:cNvPicPr>
            <a:picLocks noChangeAspect="1"/>
          </p:cNvPicPr>
          <p:nvPr/>
        </p:nvPicPr>
        <p:blipFill>
          <a:blip r:embed="rId3"/>
          <a:stretch>
            <a:fillRect/>
          </a:stretch>
        </p:blipFill>
        <p:spPr>
          <a:xfrm>
            <a:off x="649224" y="5029200"/>
            <a:ext cx="256032" cy="256032"/>
          </a:xfrm>
          <a:prstGeom prst="rect">
            <a:avLst/>
          </a:prstGeom>
        </p:spPr>
      </p:pic>
      <p:sp>
        <p:nvSpPr>
          <p:cNvPr id="16" name="Text 11"/>
          <p:cNvSpPr txBox="1"/>
          <p:nvPr/>
        </p:nvSpPr>
        <p:spPr>
          <a:xfrm>
            <a:off x="1170432" y="4910328"/>
            <a:ext cx="2771546" cy="274320"/>
          </a:xfrm>
          <a:prstGeom prst="rect">
            <a:avLst/>
          </a:prstGeom>
          <a:noFill/>
          <a:ln/>
        </p:spPr>
        <p:txBody>
          <a:bodyPr wrap="square" lIns="0" tIns="0" rIns="0" bIns="0" rtlCol="0" anchor="t"/>
          <a:lstStyle/>
          <a:p>
            <a:pPr indent="0" marL="0">
              <a:buNone/>
            </a:pPr>
            <a:r>
              <a:rPr lang="en-US" sz="1500" b="1" dirty="0">
                <a:solidFill>
                  <a:schemeClr val="tx1"/>
                </a:solidFill>
              </a:rPr>
              <a:t>Tailwind CSS v4</a:t>
            </a:r>
            <a:endParaRPr lang="en-US" sz="1500" dirty="0"/>
          </a:p>
        </p:txBody>
      </p:sp>
      <p:sp>
        <p:nvSpPr>
          <p:cNvPr id="17" name="Text 12"/>
          <p:cNvSpPr txBox="1"/>
          <p:nvPr/>
        </p:nvSpPr>
        <p:spPr>
          <a:xfrm>
            <a:off x="1170432" y="5202936"/>
            <a:ext cx="2771546" cy="868680"/>
          </a:xfrm>
          <a:prstGeom prst="rect">
            <a:avLst/>
          </a:prstGeom>
          <a:noFill/>
          <a:ln/>
        </p:spPr>
        <p:txBody>
          <a:bodyPr wrap="square" lIns="0" tIns="0" rIns="0" bIns="0" rtlCol="0" anchor="t"/>
          <a:lstStyle/>
          <a:p>
            <a:pPr indent="0" marL="0">
              <a:buNone/>
            </a:pPr>
            <a:r>
              <a:rPr lang="en-US" sz="1300" dirty="0">
                <a:solidFill>
                  <a:schemeClr val="accent2"/>
                </a:solidFill>
              </a:rPr>
              <a:t>High-contrast dark theme with no CSS-in-JS runtime.</a:t>
            </a:r>
            <a:endParaRPr lang="en-US" sz="1400" dirty="0"/>
          </a:p>
        </p:txBody>
      </p:sp>
      <p:sp>
        <p:nvSpPr>
          <p:cNvPr id="18" name="Shape 13"/>
          <p:cNvSpPr/>
          <p:nvPr/>
        </p:nvSpPr>
        <p:spPr>
          <a:xfrm>
            <a:off x="4170578" y="1737360"/>
            <a:ext cx="0" cy="4434840"/>
          </a:xfrm>
          <a:prstGeom prst="line">
            <a:avLst/>
          </a:prstGeom>
          <a:noFill/>
          <a:ln w="9525">
            <a:solidFill>
              <a:schemeClr val="accent5"/>
            </a:solidFill>
            <a:prstDash val="solid"/>
          </a:ln>
        </p:spPr>
      </p:sp>
      <p:sp>
        <p:nvSpPr>
          <p:cNvPr id="19" name="Text 14"/>
          <p:cNvSpPr txBox="1"/>
          <p:nvPr/>
        </p:nvSpPr>
        <p:spPr>
          <a:xfrm>
            <a:off x="4399178" y="1719072"/>
            <a:ext cx="3393338"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BACKEND, DATA &amp; SECURITY</a:t>
            </a:r>
            <a:endParaRPr lang="en-US" sz="1050" dirty="0"/>
          </a:p>
        </p:txBody>
      </p:sp>
      <p:sp>
        <p:nvSpPr>
          <p:cNvPr id="20" name="Text 15"/>
          <p:cNvSpPr txBox="1"/>
          <p:nvPr/>
        </p:nvSpPr>
        <p:spPr>
          <a:xfrm>
            <a:off x="4399178" y="1984248"/>
            <a:ext cx="3393338" cy="329184"/>
          </a:xfrm>
          <a:prstGeom prst="rect">
            <a:avLst/>
          </a:prstGeom>
          <a:noFill/>
          <a:ln/>
        </p:spPr>
        <p:txBody>
          <a:bodyPr wrap="square" lIns="0" tIns="0" rIns="0" bIns="0" rtlCol="0" anchor="t"/>
          <a:lstStyle/>
          <a:p>
            <a:pPr indent="0" marL="0">
              <a:buNone/>
            </a:pPr>
            <a:r>
              <a:rPr lang="en-US" sz="1700" b="1" dirty="0">
                <a:solidFill>
                  <a:schemeClr val="tx1"/>
                </a:solidFill>
              </a:rPr>
              <a:t>Isolation and atomic locking</a:t>
            </a:r>
            <a:endParaRPr lang="en-US" sz="1700" dirty="0"/>
          </a:p>
        </p:txBody>
      </p:sp>
      <p:sp>
        <p:nvSpPr>
          <p:cNvPr id="21" name="Shape 16"/>
          <p:cNvSpPr/>
          <p:nvPr/>
        </p:nvSpPr>
        <p:spPr>
          <a:xfrm>
            <a:off x="4399178" y="2514600"/>
            <a:ext cx="457200" cy="457200"/>
          </a:xfrm>
          <a:prstGeom prst="roundRect">
            <a:avLst>
              <a:gd name="adj" fmla="val 16000"/>
            </a:avLst>
          </a:prstGeom>
          <a:solidFill>
            <a:schemeClr val="bg2"/>
          </a:solidFill>
          <a:ln/>
        </p:spPr>
      </p:sp>
      <p:pic>
        <p:nvPicPr>
          <p:cNvPr id="22" name="Image 3" descr="Icon">    </p:cNvPr>
          <p:cNvPicPr>
            <a:picLocks noChangeAspect="1"/>
          </p:cNvPicPr>
          <p:nvPr/>
        </p:nvPicPr>
        <p:blipFill>
          <a:blip r:embed="rId4"/>
          <a:stretch>
            <a:fillRect/>
          </a:stretch>
        </p:blipFill>
        <p:spPr>
          <a:xfrm>
            <a:off x="4499762" y="2615184"/>
            <a:ext cx="256032" cy="256032"/>
          </a:xfrm>
          <a:prstGeom prst="rect">
            <a:avLst/>
          </a:prstGeom>
        </p:spPr>
      </p:pic>
      <p:sp>
        <p:nvSpPr>
          <p:cNvPr id="23" name="Text 17"/>
          <p:cNvSpPr txBox="1"/>
          <p:nvPr/>
        </p:nvSpPr>
        <p:spPr>
          <a:xfrm>
            <a:off x="5020970" y="2496312"/>
            <a:ext cx="2771546" cy="274320"/>
          </a:xfrm>
          <a:prstGeom prst="rect">
            <a:avLst/>
          </a:prstGeom>
          <a:noFill/>
          <a:ln/>
        </p:spPr>
        <p:txBody>
          <a:bodyPr wrap="square" lIns="0" tIns="0" rIns="0" bIns="0" rtlCol="0" anchor="t"/>
          <a:lstStyle/>
          <a:p>
            <a:pPr indent="0" marL="0">
              <a:buNone/>
            </a:pPr>
            <a:r>
              <a:rPr lang="en-US" sz="1500" b="1" dirty="0">
                <a:solidFill>
                  <a:schemeClr val="tx1"/>
                </a:solidFill>
              </a:rPr>
              <a:t>Supabase PostgreSQL 15+</a:t>
            </a:r>
            <a:endParaRPr lang="en-US" sz="1500" dirty="0"/>
          </a:p>
        </p:txBody>
      </p:sp>
      <p:sp>
        <p:nvSpPr>
          <p:cNvPr id="24" name="Text 18"/>
          <p:cNvSpPr txBox="1"/>
          <p:nvPr/>
        </p:nvSpPr>
        <p:spPr>
          <a:xfrm>
            <a:off x="5020970" y="2788920"/>
            <a:ext cx="2771546" cy="868680"/>
          </a:xfrm>
          <a:prstGeom prst="rect">
            <a:avLst/>
          </a:prstGeom>
          <a:noFill/>
          <a:ln/>
        </p:spPr>
        <p:txBody>
          <a:bodyPr wrap="square" lIns="0" tIns="0" rIns="0" bIns="0" rtlCol="0" anchor="t"/>
          <a:lstStyle/>
          <a:p>
            <a:pPr indent="0" marL="0">
              <a:buNone/>
            </a:pPr>
            <a:r>
              <a:rPr lang="en-US" sz="1300" dirty="0">
                <a:solidFill>
                  <a:schemeClr val="accent2"/>
                </a:solidFill>
              </a:rPr>
              <a:t>Row-Level Security for strict multi-tenant vault isolation.</a:t>
            </a:r>
            <a:endParaRPr lang="en-US" sz="1400" dirty="0"/>
          </a:p>
        </p:txBody>
      </p:sp>
      <p:sp>
        <p:nvSpPr>
          <p:cNvPr id="25" name="Shape 19"/>
          <p:cNvSpPr/>
          <p:nvPr/>
        </p:nvSpPr>
        <p:spPr>
          <a:xfrm>
            <a:off x="4399178" y="3721608"/>
            <a:ext cx="457200" cy="457200"/>
          </a:xfrm>
          <a:prstGeom prst="roundRect">
            <a:avLst>
              <a:gd name="adj" fmla="val 16000"/>
            </a:avLst>
          </a:prstGeom>
          <a:solidFill>
            <a:schemeClr val="bg2"/>
          </a:solidFill>
          <a:ln/>
        </p:spPr>
      </p:sp>
      <p:pic>
        <p:nvPicPr>
          <p:cNvPr id="26" name="Image 4" descr="Icon">    </p:cNvPr>
          <p:cNvPicPr>
            <a:picLocks noChangeAspect="1"/>
          </p:cNvPicPr>
          <p:nvPr/>
        </p:nvPicPr>
        <p:blipFill>
          <a:blip r:embed="rId5"/>
          <a:stretch>
            <a:fillRect/>
          </a:stretch>
        </p:blipFill>
        <p:spPr>
          <a:xfrm>
            <a:off x="4499762" y="3822192"/>
            <a:ext cx="256032" cy="256032"/>
          </a:xfrm>
          <a:prstGeom prst="rect">
            <a:avLst/>
          </a:prstGeom>
        </p:spPr>
      </p:pic>
      <p:sp>
        <p:nvSpPr>
          <p:cNvPr id="27" name="Text 20"/>
          <p:cNvSpPr txBox="1"/>
          <p:nvPr/>
        </p:nvSpPr>
        <p:spPr>
          <a:xfrm>
            <a:off x="5020970" y="3703320"/>
            <a:ext cx="2771546" cy="274320"/>
          </a:xfrm>
          <a:prstGeom prst="rect">
            <a:avLst/>
          </a:prstGeom>
          <a:noFill/>
          <a:ln/>
        </p:spPr>
        <p:txBody>
          <a:bodyPr wrap="square" lIns="0" tIns="0" rIns="0" bIns="0" rtlCol="0" anchor="t"/>
          <a:lstStyle/>
          <a:p>
            <a:pPr indent="0" marL="0">
              <a:buNone/>
            </a:pPr>
            <a:r>
              <a:rPr lang="en-US" sz="1500" b="1" dirty="0">
                <a:solidFill>
                  <a:schemeClr val="tx1"/>
                </a:solidFill>
              </a:rPr>
              <a:t>PL/pgSQL stored procedures</a:t>
            </a:r>
            <a:endParaRPr lang="en-US" sz="1500" dirty="0"/>
          </a:p>
        </p:txBody>
      </p:sp>
      <p:sp>
        <p:nvSpPr>
          <p:cNvPr id="28" name="Text 21"/>
          <p:cNvSpPr txBox="1"/>
          <p:nvPr/>
        </p:nvSpPr>
        <p:spPr>
          <a:xfrm>
            <a:off x="5020970" y="3995928"/>
            <a:ext cx="2771546" cy="868680"/>
          </a:xfrm>
          <a:prstGeom prst="rect">
            <a:avLst/>
          </a:prstGeom>
          <a:noFill/>
          <a:ln/>
        </p:spPr>
        <p:txBody>
          <a:bodyPr wrap="square" lIns="0" tIns="0" rIns="0" bIns="0" rtlCol="0" anchor="t"/>
          <a:lstStyle/>
          <a:p>
            <a:pPr indent="0" marL="0">
              <a:buNone/>
            </a:pPr>
            <a:r>
              <a:rPr lang="en-US" sz="1300" dirty="0">
                <a:solidFill>
                  <a:schemeClr val="accent2"/>
                </a:solidFill>
              </a:rPr>
              <a:t>Atomic RPCs:</a:t>
            </a:r>
            <a:pPr indent="0" marL="0">
              <a:buNone/>
            </a:pPr>
            <a:endParaRPr lang="en-US" sz="1400" dirty="0"/>
          </a:p>
          <a:p>
            <a:pPr indent="0" marL="0">
              <a:buNone/>
            </a:pPr>
            <a:r>
              <a:rPr lang="en-US" sz="1100" b="1" dirty="0">
                <a:solidFill>
                  <a:schemeClr val="tx1"/>
                </a:solidFill>
                <a:latin typeface="Courier New" pitchFamily="34" charset="0"/>
                <a:ea typeface="Courier New" pitchFamily="34" charset="-122"/>
                <a:cs typeface="Courier New" pitchFamily="34" charset="-120"/>
              </a:rPr>
              <a:t>create_document_with_quota</a:t>
            </a:r>
            <a:endParaRPr lang="en-US" sz="1400" dirty="0"/>
          </a:p>
          <a:p>
            <a:pPr indent="0" marL="0">
              <a:buNone/>
            </a:pPr>
            <a:r>
              <a:rPr lang="en-US" sz="1100" b="1" dirty="0">
                <a:solidFill>
                  <a:schemeClr val="tx1"/>
                </a:solidFill>
                <a:latin typeface="Courier New" pitchFamily="34" charset="0"/>
                <a:ea typeface="Courier New" pitchFamily="34" charset="-122"/>
                <a:cs typeface="Courier New" pitchFamily="34" charset="-120"/>
              </a:rPr>
              <a:t>claim_next_pending_document</a:t>
            </a:r>
            <a:endParaRPr lang="en-US" sz="1400" dirty="0"/>
          </a:p>
          <a:p>
            <a:pPr indent="0" marL="0">
              <a:buNone/>
            </a:pPr>
            <a:r>
              <a:rPr lang="en-US" sz="1100" b="1" dirty="0">
                <a:solidFill>
                  <a:schemeClr val="tx1"/>
                </a:solidFill>
                <a:latin typeface="Courier New" pitchFamily="34" charset="0"/>
                <a:ea typeface="Courier New" pitchFamily="34" charset="-122"/>
                <a:cs typeface="Courier New" pitchFamily="34" charset="-120"/>
              </a:rPr>
              <a:t>finalize_document_processing</a:t>
            </a:r>
            <a:endParaRPr lang="en-US" sz="1400" dirty="0"/>
          </a:p>
        </p:txBody>
      </p:sp>
      <p:sp>
        <p:nvSpPr>
          <p:cNvPr id="29" name="Shape 22"/>
          <p:cNvSpPr/>
          <p:nvPr/>
        </p:nvSpPr>
        <p:spPr>
          <a:xfrm>
            <a:off x="4399178" y="4928616"/>
            <a:ext cx="457200" cy="457200"/>
          </a:xfrm>
          <a:prstGeom prst="roundRect">
            <a:avLst>
              <a:gd name="adj" fmla="val 16000"/>
            </a:avLst>
          </a:prstGeom>
          <a:solidFill>
            <a:schemeClr val="bg2"/>
          </a:solidFill>
          <a:ln/>
        </p:spPr>
      </p:sp>
      <p:pic>
        <p:nvPicPr>
          <p:cNvPr id="30" name="Image 5" descr="Icon">    </p:cNvPr>
          <p:cNvPicPr>
            <a:picLocks noChangeAspect="1"/>
          </p:cNvPicPr>
          <p:nvPr/>
        </p:nvPicPr>
        <p:blipFill>
          <a:blip r:embed="rId6"/>
          <a:stretch>
            <a:fillRect/>
          </a:stretch>
        </p:blipFill>
        <p:spPr>
          <a:xfrm>
            <a:off x="4499762" y="5029200"/>
            <a:ext cx="256032" cy="256032"/>
          </a:xfrm>
          <a:prstGeom prst="rect">
            <a:avLst/>
          </a:prstGeom>
        </p:spPr>
      </p:pic>
      <p:sp>
        <p:nvSpPr>
          <p:cNvPr id="31" name="Text 23"/>
          <p:cNvSpPr txBox="1"/>
          <p:nvPr/>
        </p:nvSpPr>
        <p:spPr>
          <a:xfrm>
            <a:off x="5020970" y="4910328"/>
            <a:ext cx="2771546" cy="274320"/>
          </a:xfrm>
          <a:prstGeom prst="rect">
            <a:avLst/>
          </a:prstGeom>
          <a:noFill/>
          <a:ln/>
        </p:spPr>
        <p:txBody>
          <a:bodyPr wrap="square" lIns="0" tIns="0" rIns="0" bIns="0" rtlCol="0" anchor="t"/>
          <a:lstStyle/>
          <a:p>
            <a:pPr indent="0" marL="0">
              <a:buNone/>
            </a:pPr>
            <a:r>
              <a:rPr lang="en-US" sz="1500" b="1" dirty="0">
                <a:solidFill>
                  <a:schemeClr val="tx1"/>
                </a:solidFill>
              </a:rPr>
              <a:t>Supabase Storage (S3)</a:t>
            </a:r>
            <a:endParaRPr lang="en-US" sz="1500" dirty="0"/>
          </a:p>
        </p:txBody>
      </p:sp>
      <p:sp>
        <p:nvSpPr>
          <p:cNvPr id="32" name="Text 24"/>
          <p:cNvSpPr txBox="1"/>
          <p:nvPr/>
        </p:nvSpPr>
        <p:spPr>
          <a:xfrm>
            <a:off x="5020970" y="5202936"/>
            <a:ext cx="2771546" cy="868680"/>
          </a:xfrm>
          <a:prstGeom prst="rect">
            <a:avLst/>
          </a:prstGeom>
          <a:noFill/>
          <a:ln/>
        </p:spPr>
        <p:txBody>
          <a:bodyPr wrap="square" lIns="0" tIns="0" rIns="0" bIns="0" rtlCol="0" anchor="t"/>
          <a:lstStyle/>
          <a:p>
            <a:pPr indent="0" marL="0">
              <a:buNone/>
            </a:pPr>
            <a:r>
              <a:rPr lang="en-US" sz="1300" dirty="0">
                <a:solidFill>
                  <a:schemeClr val="accent2"/>
                </a:solidFill>
              </a:rPr>
              <a:t>Private bucket with authenticated, presigned download URLs.</a:t>
            </a:r>
            <a:endParaRPr lang="en-US" sz="1400" dirty="0"/>
          </a:p>
        </p:txBody>
      </p:sp>
      <p:sp>
        <p:nvSpPr>
          <p:cNvPr id="33" name="Shape 25"/>
          <p:cNvSpPr/>
          <p:nvPr/>
        </p:nvSpPr>
        <p:spPr>
          <a:xfrm>
            <a:off x="8021117" y="1737360"/>
            <a:ext cx="0" cy="4434840"/>
          </a:xfrm>
          <a:prstGeom prst="line">
            <a:avLst/>
          </a:prstGeom>
          <a:noFill/>
          <a:ln w="9525">
            <a:solidFill>
              <a:schemeClr val="accent5"/>
            </a:solidFill>
            <a:prstDash val="solid"/>
          </a:ln>
        </p:spPr>
      </p:sp>
      <p:sp>
        <p:nvSpPr>
          <p:cNvPr id="34" name="Text 26"/>
          <p:cNvSpPr txBox="1"/>
          <p:nvPr/>
        </p:nvSpPr>
        <p:spPr>
          <a:xfrm>
            <a:off x="8249717" y="1719072"/>
            <a:ext cx="3393338"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MULTIMODAL AI &amp; ACCELERATION</a:t>
            </a:r>
            <a:endParaRPr lang="en-US" sz="1050" dirty="0"/>
          </a:p>
        </p:txBody>
      </p:sp>
      <p:sp>
        <p:nvSpPr>
          <p:cNvPr id="35" name="Text 27"/>
          <p:cNvSpPr txBox="1"/>
          <p:nvPr/>
        </p:nvSpPr>
        <p:spPr>
          <a:xfrm>
            <a:off x="8249717" y="1984248"/>
            <a:ext cx="3393338" cy="329184"/>
          </a:xfrm>
          <a:prstGeom prst="rect">
            <a:avLst/>
          </a:prstGeom>
          <a:noFill/>
          <a:ln/>
        </p:spPr>
        <p:txBody>
          <a:bodyPr wrap="square" lIns="0" tIns="0" rIns="0" bIns="0" rtlCol="0" anchor="t"/>
          <a:lstStyle/>
          <a:p>
            <a:pPr indent="0" marL="0">
              <a:buNone/>
            </a:pPr>
            <a:r>
              <a:rPr lang="en-US" sz="1700" b="1" dirty="0">
                <a:solidFill>
                  <a:schemeClr val="tx1"/>
                </a:solidFill>
              </a:rPr>
              <a:t>Vision AI and vector caching</a:t>
            </a:r>
            <a:endParaRPr lang="en-US" sz="1700" dirty="0"/>
          </a:p>
        </p:txBody>
      </p:sp>
      <p:sp>
        <p:nvSpPr>
          <p:cNvPr id="36" name="Shape 28"/>
          <p:cNvSpPr/>
          <p:nvPr/>
        </p:nvSpPr>
        <p:spPr>
          <a:xfrm>
            <a:off x="8249717" y="2514600"/>
            <a:ext cx="457200" cy="457200"/>
          </a:xfrm>
          <a:prstGeom prst="roundRect">
            <a:avLst>
              <a:gd name="adj" fmla="val 16000"/>
            </a:avLst>
          </a:prstGeom>
          <a:solidFill>
            <a:schemeClr val="bg2"/>
          </a:solidFill>
          <a:ln/>
        </p:spPr>
      </p:sp>
      <p:pic>
        <p:nvPicPr>
          <p:cNvPr id="37" name="Image 6" descr="Icon">    </p:cNvPr>
          <p:cNvPicPr>
            <a:picLocks noChangeAspect="1"/>
          </p:cNvPicPr>
          <p:nvPr/>
        </p:nvPicPr>
        <p:blipFill>
          <a:blip r:embed="rId7"/>
          <a:stretch>
            <a:fillRect/>
          </a:stretch>
        </p:blipFill>
        <p:spPr>
          <a:xfrm>
            <a:off x="8350301" y="2615184"/>
            <a:ext cx="256032" cy="256032"/>
          </a:xfrm>
          <a:prstGeom prst="rect">
            <a:avLst/>
          </a:prstGeom>
        </p:spPr>
      </p:pic>
      <p:sp>
        <p:nvSpPr>
          <p:cNvPr id="38" name="Text 29"/>
          <p:cNvSpPr txBox="1"/>
          <p:nvPr/>
        </p:nvSpPr>
        <p:spPr>
          <a:xfrm>
            <a:off x="8871509" y="2496312"/>
            <a:ext cx="2771546" cy="274320"/>
          </a:xfrm>
          <a:prstGeom prst="rect">
            <a:avLst/>
          </a:prstGeom>
          <a:noFill/>
          <a:ln/>
        </p:spPr>
        <p:txBody>
          <a:bodyPr wrap="square" lIns="0" tIns="0" rIns="0" bIns="0" rtlCol="0" anchor="t"/>
          <a:lstStyle/>
          <a:p>
            <a:pPr indent="0" marL="0">
              <a:buNone/>
            </a:pPr>
            <a:r>
              <a:rPr lang="en-US" sz="1500" b="1" dirty="0">
                <a:solidFill>
                  <a:schemeClr val="tx1"/>
                </a:solidFill>
              </a:rPr>
              <a:t>Gemini API (@google/genai)</a:t>
            </a:r>
            <a:endParaRPr lang="en-US" sz="1500" dirty="0"/>
          </a:p>
        </p:txBody>
      </p:sp>
      <p:sp>
        <p:nvSpPr>
          <p:cNvPr id="39" name="Text 30"/>
          <p:cNvSpPr txBox="1"/>
          <p:nvPr/>
        </p:nvSpPr>
        <p:spPr>
          <a:xfrm>
            <a:off x="8871509" y="2788920"/>
            <a:ext cx="2771546" cy="868680"/>
          </a:xfrm>
          <a:prstGeom prst="rect">
            <a:avLst/>
          </a:prstGeom>
          <a:noFill/>
          <a:ln/>
        </p:spPr>
        <p:txBody>
          <a:bodyPr wrap="square" lIns="0" tIns="0" rIns="0" bIns="0" rtlCol="0" anchor="t"/>
          <a:lstStyle/>
          <a:p>
            <a:pPr indent="0" marL="0">
              <a:buNone/>
            </a:pPr>
            <a:r>
              <a:rPr lang="en-US" sz="1300" dirty="0">
                <a:solidFill>
                  <a:schemeClr val="accent2"/>
                </a:solidFill>
              </a:rPr>
              <a:t>Direct PDF ingestion via the Files API, JSON-schema output and prompt-injection defence.</a:t>
            </a:r>
            <a:endParaRPr lang="en-US" sz="1400" dirty="0"/>
          </a:p>
        </p:txBody>
      </p:sp>
      <p:sp>
        <p:nvSpPr>
          <p:cNvPr id="40" name="Shape 31"/>
          <p:cNvSpPr/>
          <p:nvPr/>
        </p:nvSpPr>
        <p:spPr>
          <a:xfrm>
            <a:off x="8249717" y="3721608"/>
            <a:ext cx="457200" cy="457200"/>
          </a:xfrm>
          <a:prstGeom prst="roundRect">
            <a:avLst>
              <a:gd name="adj" fmla="val 16000"/>
            </a:avLst>
          </a:prstGeom>
          <a:solidFill>
            <a:schemeClr val="bg2"/>
          </a:solidFill>
          <a:ln/>
        </p:spPr>
      </p:sp>
      <p:pic>
        <p:nvPicPr>
          <p:cNvPr id="41" name="Image 7" descr="Icon">    </p:cNvPr>
          <p:cNvPicPr>
            <a:picLocks noChangeAspect="1"/>
          </p:cNvPicPr>
          <p:nvPr/>
        </p:nvPicPr>
        <p:blipFill>
          <a:blip r:embed="rId8"/>
          <a:stretch>
            <a:fillRect/>
          </a:stretch>
        </p:blipFill>
        <p:spPr>
          <a:xfrm>
            <a:off x="8350301" y="3822192"/>
            <a:ext cx="256032" cy="256032"/>
          </a:xfrm>
          <a:prstGeom prst="rect">
            <a:avLst/>
          </a:prstGeom>
        </p:spPr>
      </p:pic>
      <p:sp>
        <p:nvSpPr>
          <p:cNvPr id="42" name="Text 32"/>
          <p:cNvSpPr txBox="1"/>
          <p:nvPr/>
        </p:nvSpPr>
        <p:spPr>
          <a:xfrm>
            <a:off x="8871509" y="3703320"/>
            <a:ext cx="2771546" cy="274320"/>
          </a:xfrm>
          <a:prstGeom prst="rect">
            <a:avLst/>
          </a:prstGeom>
          <a:noFill/>
          <a:ln/>
        </p:spPr>
        <p:txBody>
          <a:bodyPr wrap="square" lIns="0" tIns="0" rIns="0" bIns="0" rtlCol="0" anchor="t"/>
          <a:lstStyle/>
          <a:p>
            <a:pPr indent="0" marL="0">
              <a:buNone/>
            </a:pPr>
            <a:r>
              <a:rPr lang="en-US" sz="1500" b="1" dirty="0">
                <a:solidFill>
                  <a:schemeClr val="tx1"/>
                </a:solidFill>
              </a:rPr>
              <a:t>Vector embeddings (768-dim)</a:t>
            </a:r>
            <a:endParaRPr lang="en-US" sz="1500" dirty="0"/>
          </a:p>
        </p:txBody>
      </p:sp>
      <p:sp>
        <p:nvSpPr>
          <p:cNvPr id="43" name="Text 33"/>
          <p:cNvSpPr txBox="1"/>
          <p:nvPr/>
        </p:nvSpPr>
        <p:spPr>
          <a:xfrm>
            <a:off x="8871509" y="3995928"/>
            <a:ext cx="2771546" cy="868680"/>
          </a:xfrm>
          <a:prstGeom prst="rect">
            <a:avLst/>
          </a:prstGeom>
          <a:noFill/>
          <a:ln/>
        </p:spPr>
        <p:txBody>
          <a:bodyPr wrap="square" lIns="0" tIns="0" rIns="0" bIns="0" rtlCol="0" anchor="t"/>
          <a:lstStyle/>
          <a:p>
            <a:pPr indent="0" marL="0">
              <a:buNone/>
            </a:pPr>
            <a:r>
              <a:rPr lang="en-US" sz="1300" dirty="0">
                <a:solidFill>
                  <a:schemeClr val="accent2"/>
                </a:solidFill>
              </a:rPr>
              <a:t>Hybrid semantic search with a 500-entry LRU query-embedding cache.</a:t>
            </a:r>
            <a:endParaRPr lang="en-US" sz="1400" dirty="0"/>
          </a:p>
        </p:txBody>
      </p:sp>
      <p:sp>
        <p:nvSpPr>
          <p:cNvPr id="44" name="Shape 34"/>
          <p:cNvSpPr/>
          <p:nvPr/>
        </p:nvSpPr>
        <p:spPr>
          <a:xfrm>
            <a:off x="8249717" y="4928616"/>
            <a:ext cx="457200" cy="457200"/>
          </a:xfrm>
          <a:prstGeom prst="roundRect">
            <a:avLst>
              <a:gd name="adj" fmla="val 16000"/>
            </a:avLst>
          </a:prstGeom>
          <a:solidFill>
            <a:schemeClr val="bg2"/>
          </a:solidFill>
          <a:ln/>
        </p:spPr>
      </p:sp>
      <p:pic>
        <p:nvPicPr>
          <p:cNvPr id="45" name="Image 8" descr="Icon">    </p:cNvPr>
          <p:cNvPicPr>
            <a:picLocks noChangeAspect="1"/>
          </p:cNvPicPr>
          <p:nvPr/>
        </p:nvPicPr>
        <p:blipFill>
          <a:blip r:embed="rId9"/>
          <a:stretch>
            <a:fillRect/>
          </a:stretch>
        </p:blipFill>
        <p:spPr>
          <a:xfrm>
            <a:off x="8350301" y="5029200"/>
            <a:ext cx="256032" cy="256032"/>
          </a:xfrm>
          <a:prstGeom prst="rect">
            <a:avLst/>
          </a:prstGeom>
        </p:spPr>
      </p:pic>
      <p:sp>
        <p:nvSpPr>
          <p:cNvPr id="46" name="Text 35"/>
          <p:cNvSpPr txBox="1"/>
          <p:nvPr/>
        </p:nvSpPr>
        <p:spPr>
          <a:xfrm>
            <a:off x="8871509" y="4910328"/>
            <a:ext cx="2771546" cy="274320"/>
          </a:xfrm>
          <a:prstGeom prst="rect">
            <a:avLst/>
          </a:prstGeom>
          <a:noFill/>
          <a:ln/>
        </p:spPr>
        <p:txBody>
          <a:bodyPr wrap="square" lIns="0" tIns="0" rIns="0" bIns="0" rtlCol="0" anchor="t"/>
          <a:lstStyle/>
          <a:p>
            <a:pPr indent="0" marL="0">
              <a:buNone/>
            </a:pPr>
            <a:r>
              <a:rPr lang="en-US" sz="1500" b="1" dirty="0">
                <a:solidFill>
                  <a:schemeClr val="tx1"/>
                </a:solidFill>
              </a:rPr>
              <a:t>pdf-lib</a:t>
            </a:r>
            <a:endParaRPr lang="en-US" sz="1500" dirty="0"/>
          </a:p>
        </p:txBody>
      </p:sp>
      <p:sp>
        <p:nvSpPr>
          <p:cNvPr id="47" name="Text 36"/>
          <p:cNvSpPr txBox="1"/>
          <p:nvPr/>
        </p:nvSpPr>
        <p:spPr>
          <a:xfrm>
            <a:off x="8871509" y="5202936"/>
            <a:ext cx="2771546" cy="868680"/>
          </a:xfrm>
          <a:prstGeom prst="rect">
            <a:avLst/>
          </a:prstGeom>
          <a:noFill/>
          <a:ln/>
        </p:spPr>
        <p:txBody>
          <a:bodyPr wrap="square" lIns="0" tIns="0" rIns="0" bIns="0" rtlCol="0" anchor="t"/>
          <a:lstStyle/>
          <a:p>
            <a:pPr indent="0" marL="0">
              <a:buNone/>
            </a:pPr>
            <a:r>
              <a:rPr lang="en-US" sz="1300" dirty="0">
                <a:solidFill>
                  <a:schemeClr val="accent2"/>
                </a:solidFill>
              </a:rPr>
              <a:t>Lossless stream compression that safely skips signed or encrypted PDFs.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Four layers, with security in the database</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Clear separation between the UI, the serverless gateway, the data tier and the AI engine.</a:t>
            </a:r>
            <a:endParaRPr lang="en-US" sz="1500" dirty="0"/>
          </a:p>
        </p:txBody>
      </p:sp>
      <p:sp>
        <p:nvSpPr>
          <p:cNvPr id="4" name="Shape 2"/>
          <p:cNvSpPr/>
          <p:nvPr/>
        </p:nvSpPr>
        <p:spPr>
          <a:xfrm>
            <a:off x="548640" y="1691640"/>
            <a:ext cx="11094415" cy="932688"/>
          </a:xfrm>
          <a:prstGeom prst="roundRect">
            <a:avLst>
              <a:gd name="adj" fmla="val 9804"/>
            </a:avLst>
          </a:prstGeom>
          <a:solidFill>
            <a:schemeClr val="bg2"/>
          </a:solidFill>
          <a:ln/>
        </p:spPr>
      </p:sp>
      <p:sp>
        <p:nvSpPr>
          <p:cNvPr id="5" name="Text 3"/>
          <p:cNvSpPr txBox="1"/>
          <p:nvPr/>
        </p:nvSpPr>
        <p:spPr>
          <a:xfrm>
            <a:off x="822960" y="1892808"/>
            <a:ext cx="224028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01  BROWSER</a:t>
            </a:r>
            <a:endParaRPr lang="en-US" sz="1050" dirty="0"/>
          </a:p>
        </p:txBody>
      </p:sp>
      <p:sp>
        <p:nvSpPr>
          <p:cNvPr id="6" name="Text 4"/>
          <p:cNvSpPr txBox="1"/>
          <p:nvPr/>
        </p:nvSpPr>
        <p:spPr>
          <a:xfrm>
            <a:off x="822960" y="2148840"/>
            <a:ext cx="2331720" cy="292608"/>
          </a:xfrm>
          <a:prstGeom prst="rect">
            <a:avLst/>
          </a:prstGeom>
          <a:noFill/>
          <a:ln/>
        </p:spPr>
        <p:txBody>
          <a:bodyPr wrap="square" lIns="0" tIns="0" rIns="0" bIns="0" rtlCol="0" anchor="t"/>
          <a:lstStyle/>
          <a:p>
            <a:pPr indent="0" marL="0">
              <a:buNone/>
            </a:pPr>
            <a:r>
              <a:rPr lang="en-US" sz="1500" b="1" dirty="0">
                <a:solidFill>
                  <a:schemeClr val="tx1"/>
                </a:solidFill>
              </a:rPr>
              <a:t>Client presentation</a:t>
            </a:r>
            <a:endParaRPr lang="en-US" sz="1500" dirty="0"/>
          </a:p>
        </p:txBody>
      </p:sp>
      <p:pic>
        <p:nvPicPr>
          <p:cNvPr id="7" name="Image 0" descr="Icon">    </p:cNvPr>
          <p:cNvPicPr>
            <a:picLocks noChangeAspect="1"/>
          </p:cNvPicPr>
          <p:nvPr/>
        </p:nvPicPr>
        <p:blipFill>
          <a:blip r:embed="rId1"/>
          <a:stretch>
            <a:fillRect/>
          </a:stretch>
        </p:blipFill>
        <p:spPr>
          <a:xfrm>
            <a:off x="822960" y="2656332"/>
            <a:ext cx="182880" cy="182880"/>
          </a:xfrm>
          <a:prstGeom prst="rect">
            <a:avLst/>
          </a:prstGeom>
        </p:spPr>
      </p:pic>
      <p:sp>
        <p:nvSpPr>
          <p:cNvPr id="8" name="Shape 5"/>
          <p:cNvSpPr/>
          <p:nvPr/>
        </p:nvSpPr>
        <p:spPr>
          <a:xfrm>
            <a:off x="3246120" y="1801368"/>
            <a:ext cx="1276567" cy="310896"/>
          </a:xfrm>
          <a:prstGeom prst="roundRect">
            <a:avLst>
              <a:gd name="adj" fmla="val 17647"/>
            </a:avLst>
          </a:prstGeom>
          <a:solidFill>
            <a:schemeClr val="bg1"/>
          </a:solidFill>
          <a:ln w="9525">
            <a:solidFill>
              <a:schemeClr val="accent5"/>
            </a:solidFill>
            <a:prstDash val="solid"/>
          </a:ln>
        </p:spPr>
      </p:sp>
      <p:sp>
        <p:nvSpPr>
          <p:cNvPr id="9" name="Text 6"/>
          <p:cNvSpPr txBox="1"/>
          <p:nvPr/>
        </p:nvSpPr>
        <p:spPr>
          <a:xfrm>
            <a:off x="3246120" y="1801368"/>
            <a:ext cx="1276567" cy="310896"/>
          </a:xfrm>
          <a:prstGeom prst="rect">
            <a:avLst/>
          </a:prstGeom>
          <a:noFill/>
          <a:ln/>
        </p:spPr>
        <p:txBody>
          <a:bodyPr wrap="square" lIns="0" tIns="0" rIns="0" bIns="0" rtlCol="0" anchor="ctr"/>
          <a:lstStyle/>
          <a:p>
            <a:pPr algn="ctr" indent="0" marL="0">
              <a:buNone/>
            </a:pPr>
            <a:r>
              <a:rPr lang="en-US" sz="1200" dirty="0">
                <a:solidFill>
                  <a:schemeClr val="tx1"/>
                </a:solidFill>
              </a:rPr>
              <a:t>App Router UI</a:t>
            </a:r>
            <a:endParaRPr lang="en-US" sz="1200" dirty="0"/>
          </a:p>
        </p:txBody>
      </p:sp>
      <p:sp>
        <p:nvSpPr>
          <p:cNvPr id="10" name="Shape 7"/>
          <p:cNvSpPr/>
          <p:nvPr/>
        </p:nvSpPr>
        <p:spPr>
          <a:xfrm>
            <a:off x="4632415" y="1801368"/>
            <a:ext cx="1056450" cy="310896"/>
          </a:xfrm>
          <a:prstGeom prst="roundRect">
            <a:avLst>
              <a:gd name="adj" fmla="val 17647"/>
            </a:avLst>
          </a:prstGeom>
          <a:solidFill>
            <a:schemeClr val="bg1"/>
          </a:solidFill>
          <a:ln w="9525">
            <a:solidFill>
              <a:schemeClr val="accent5"/>
            </a:solidFill>
            <a:prstDash val="solid"/>
          </a:ln>
        </p:spPr>
      </p:sp>
      <p:sp>
        <p:nvSpPr>
          <p:cNvPr id="11" name="Text 8"/>
          <p:cNvSpPr txBox="1"/>
          <p:nvPr/>
        </p:nvSpPr>
        <p:spPr>
          <a:xfrm>
            <a:off x="4632415" y="1801368"/>
            <a:ext cx="1056450" cy="310896"/>
          </a:xfrm>
          <a:prstGeom prst="rect">
            <a:avLst/>
          </a:prstGeom>
          <a:noFill/>
          <a:ln/>
        </p:spPr>
        <p:txBody>
          <a:bodyPr wrap="square" lIns="0" tIns="0" rIns="0" bIns="0" rtlCol="0" anchor="ctr"/>
          <a:lstStyle/>
          <a:p>
            <a:pPr algn="ctr" indent="0" marL="0">
              <a:buNone/>
            </a:pPr>
            <a:r>
              <a:rPr lang="en-US" sz="1200" dirty="0">
                <a:solidFill>
                  <a:schemeClr val="tx1"/>
                </a:solidFill>
              </a:rPr>
              <a:t>Dashboard</a:t>
            </a:r>
            <a:endParaRPr lang="en-US" sz="1200" dirty="0"/>
          </a:p>
        </p:txBody>
      </p:sp>
      <p:sp>
        <p:nvSpPr>
          <p:cNvPr id="12" name="Shape 9"/>
          <p:cNvSpPr/>
          <p:nvPr/>
        </p:nvSpPr>
        <p:spPr>
          <a:xfrm>
            <a:off x="5798594" y="1801368"/>
            <a:ext cx="1445934" cy="310896"/>
          </a:xfrm>
          <a:prstGeom prst="roundRect">
            <a:avLst>
              <a:gd name="adj" fmla="val 17647"/>
            </a:avLst>
          </a:prstGeom>
          <a:solidFill>
            <a:schemeClr val="bg1"/>
          </a:solidFill>
          <a:ln w="9525">
            <a:solidFill>
              <a:schemeClr val="accent5"/>
            </a:solidFill>
            <a:prstDash val="solid"/>
          </a:ln>
        </p:spPr>
      </p:sp>
      <p:sp>
        <p:nvSpPr>
          <p:cNvPr id="13" name="Text 10"/>
          <p:cNvSpPr txBox="1"/>
          <p:nvPr/>
        </p:nvSpPr>
        <p:spPr>
          <a:xfrm>
            <a:off x="5798594" y="1801368"/>
            <a:ext cx="1445934" cy="310896"/>
          </a:xfrm>
          <a:prstGeom prst="rect">
            <a:avLst/>
          </a:prstGeom>
          <a:noFill/>
          <a:ln/>
        </p:spPr>
        <p:txBody>
          <a:bodyPr wrap="square" lIns="0" tIns="0" rIns="0" bIns="0" rtlCol="0" anchor="ctr"/>
          <a:lstStyle/>
          <a:p>
            <a:pPr algn="ctr" indent="0" marL="0">
              <a:buNone/>
            </a:pPr>
            <a:r>
              <a:rPr lang="en-US" sz="1200" dirty="0">
                <a:solidFill>
                  <a:schemeClr val="tx1"/>
                </a:solidFill>
              </a:rPr>
              <a:t>Documents vault</a:t>
            </a:r>
            <a:endParaRPr lang="en-US" sz="1200" dirty="0"/>
          </a:p>
        </p:txBody>
      </p:sp>
      <p:sp>
        <p:nvSpPr>
          <p:cNvPr id="14" name="Shape 11"/>
          <p:cNvSpPr/>
          <p:nvPr/>
        </p:nvSpPr>
        <p:spPr>
          <a:xfrm>
            <a:off x="7354255" y="1801368"/>
            <a:ext cx="1250820" cy="310896"/>
          </a:xfrm>
          <a:prstGeom prst="roundRect">
            <a:avLst>
              <a:gd name="adj" fmla="val 17647"/>
            </a:avLst>
          </a:prstGeom>
          <a:solidFill>
            <a:schemeClr val="bg1"/>
          </a:solidFill>
          <a:ln w="9525">
            <a:solidFill>
              <a:schemeClr val="accent5"/>
            </a:solidFill>
            <a:prstDash val="solid"/>
          </a:ln>
        </p:spPr>
      </p:sp>
      <p:sp>
        <p:nvSpPr>
          <p:cNvPr id="15" name="Text 12"/>
          <p:cNvSpPr txBox="1"/>
          <p:nvPr/>
        </p:nvSpPr>
        <p:spPr>
          <a:xfrm>
            <a:off x="7354255" y="1801368"/>
            <a:ext cx="1250820" cy="310896"/>
          </a:xfrm>
          <a:prstGeom prst="rect">
            <a:avLst/>
          </a:prstGeom>
          <a:noFill/>
          <a:ln/>
        </p:spPr>
        <p:txBody>
          <a:bodyPr wrap="square" lIns="0" tIns="0" rIns="0" bIns="0" rtlCol="0" anchor="ctr"/>
          <a:lstStyle/>
          <a:p>
            <a:pPr algn="ctr" indent="0" marL="0">
              <a:buNone/>
            </a:pPr>
            <a:r>
              <a:rPr lang="en-US" sz="1200" dirty="0">
                <a:solidFill>
                  <a:schemeClr val="tx1"/>
                </a:solidFill>
              </a:rPr>
              <a:t>PDF.js viewer</a:t>
            </a:r>
            <a:endParaRPr lang="en-US" sz="1200" dirty="0"/>
          </a:p>
        </p:txBody>
      </p:sp>
      <p:sp>
        <p:nvSpPr>
          <p:cNvPr id="16" name="Shape 13"/>
          <p:cNvSpPr/>
          <p:nvPr/>
        </p:nvSpPr>
        <p:spPr>
          <a:xfrm>
            <a:off x="8714804" y="1801368"/>
            <a:ext cx="2038865" cy="310896"/>
          </a:xfrm>
          <a:prstGeom prst="roundRect">
            <a:avLst>
              <a:gd name="adj" fmla="val 17647"/>
            </a:avLst>
          </a:prstGeom>
          <a:solidFill>
            <a:schemeClr val="bg1"/>
          </a:solidFill>
          <a:ln w="9525">
            <a:solidFill>
              <a:schemeClr val="accent5"/>
            </a:solidFill>
            <a:prstDash val="solid"/>
          </a:ln>
        </p:spPr>
      </p:sp>
      <p:sp>
        <p:nvSpPr>
          <p:cNvPr id="17" name="Text 14"/>
          <p:cNvSpPr txBox="1"/>
          <p:nvPr/>
        </p:nvSpPr>
        <p:spPr>
          <a:xfrm>
            <a:off x="8714804" y="1801368"/>
            <a:ext cx="2038865" cy="310896"/>
          </a:xfrm>
          <a:prstGeom prst="rect">
            <a:avLst/>
          </a:prstGeom>
          <a:noFill/>
          <a:ln/>
        </p:spPr>
        <p:txBody>
          <a:bodyPr wrap="square" lIns="0" tIns="0" rIns="0" bIns="0" rtlCol="0" anchor="ctr"/>
          <a:lstStyle/>
          <a:p>
            <a:pPr algn="ctr" indent="0" marL="0">
              <a:buNone/>
            </a:pPr>
            <a:r>
              <a:rPr lang="en-US" sz="1200" dirty="0">
                <a:solidFill>
                  <a:schemeClr val="tx1"/>
                </a:solidFill>
              </a:rPr>
              <a:t>Semantic search explorer</a:t>
            </a:r>
            <a:endParaRPr lang="en-US" sz="1200" dirty="0"/>
          </a:p>
        </p:txBody>
      </p:sp>
      <p:sp>
        <p:nvSpPr>
          <p:cNvPr id="18" name="Shape 15"/>
          <p:cNvSpPr/>
          <p:nvPr/>
        </p:nvSpPr>
        <p:spPr>
          <a:xfrm>
            <a:off x="3246120" y="2203704"/>
            <a:ext cx="3572390" cy="310896"/>
          </a:xfrm>
          <a:prstGeom prst="roundRect">
            <a:avLst>
              <a:gd name="adj" fmla="val 17647"/>
            </a:avLst>
          </a:prstGeom>
          <a:solidFill>
            <a:schemeClr val="bg1"/>
          </a:solidFill>
          <a:ln w="9525">
            <a:solidFill>
              <a:schemeClr val="accent5"/>
            </a:solidFill>
            <a:prstDash val="solid"/>
          </a:ln>
        </p:spPr>
      </p:sp>
      <p:sp>
        <p:nvSpPr>
          <p:cNvPr id="19" name="Text 16"/>
          <p:cNvSpPr txBox="1"/>
          <p:nvPr/>
        </p:nvSpPr>
        <p:spPr>
          <a:xfrm>
            <a:off x="3246120" y="2203704"/>
            <a:ext cx="3572390" cy="310896"/>
          </a:xfrm>
          <a:prstGeom prst="rect">
            <a:avLst/>
          </a:prstGeom>
          <a:noFill/>
          <a:ln/>
        </p:spPr>
        <p:txBody>
          <a:bodyPr wrap="square" lIns="0" tIns="0" rIns="0" bIns="0" rtlCol="0" anchor="ctr"/>
          <a:lstStyle/>
          <a:p>
            <a:pPr algn="ctr" indent="0" marL="0">
              <a:buNone/>
            </a:pPr>
            <a:r>
              <a:rPr lang="en-US" sz="1200" dirty="0">
                <a:solidFill>
                  <a:schemeClr val="tx1"/>
                </a:solidFill>
              </a:rPr>
              <a:t>Batch queue: 4 concurrent uploads, per-file retry</a:t>
            </a:r>
            <a:endParaRPr lang="en-US" sz="1200" dirty="0"/>
          </a:p>
        </p:txBody>
      </p:sp>
      <p:sp>
        <p:nvSpPr>
          <p:cNvPr id="20" name="Shape 17"/>
          <p:cNvSpPr/>
          <p:nvPr/>
        </p:nvSpPr>
        <p:spPr>
          <a:xfrm>
            <a:off x="548640" y="2871216"/>
            <a:ext cx="11094415" cy="932688"/>
          </a:xfrm>
          <a:prstGeom prst="roundRect">
            <a:avLst>
              <a:gd name="adj" fmla="val 9804"/>
            </a:avLst>
          </a:prstGeom>
          <a:solidFill>
            <a:schemeClr val="bg2"/>
          </a:solidFill>
          <a:ln/>
        </p:spPr>
      </p:sp>
      <p:sp>
        <p:nvSpPr>
          <p:cNvPr id="21" name="Text 18"/>
          <p:cNvSpPr txBox="1"/>
          <p:nvPr/>
        </p:nvSpPr>
        <p:spPr>
          <a:xfrm>
            <a:off x="822960" y="3072384"/>
            <a:ext cx="224028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02  NEXT.JS 16</a:t>
            </a:r>
            <a:endParaRPr lang="en-US" sz="1050" dirty="0"/>
          </a:p>
        </p:txBody>
      </p:sp>
      <p:sp>
        <p:nvSpPr>
          <p:cNvPr id="22" name="Text 19"/>
          <p:cNvSpPr txBox="1"/>
          <p:nvPr/>
        </p:nvSpPr>
        <p:spPr>
          <a:xfrm>
            <a:off x="822960" y="3328416"/>
            <a:ext cx="2331720" cy="292608"/>
          </a:xfrm>
          <a:prstGeom prst="rect">
            <a:avLst/>
          </a:prstGeom>
          <a:noFill/>
          <a:ln/>
        </p:spPr>
        <p:txBody>
          <a:bodyPr wrap="square" lIns="0" tIns="0" rIns="0" bIns="0" rtlCol="0" anchor="t"/>
          <a:lstStyle/>
          <a:p>
            <a:pPr indent="0" marL="0">
              <a:buNone/>
            </a:pPr>
            <a:r>
              <a:rPr lang="en-US" sz="1500" b="1" dirty="0">
                <a:solidFill>
                  <a:schemeClr val="tx1"/>
                </a:solidFill>
              </a:rPr>
              <a:t>Gateway &amp; serverless</a:t>
            </a:r>
            <a:endParaRPr lang="en-US" sz="1500" dirty="0"/>
          </a:p>
        </p:txBody>
      </p:sp>
      <p:pic>
        <p:nvPicPr>
          <p:cNvPr id="23" name="Image 1" descr="Icon">    </p:cNvPr>
          <p:cNvPicPr>
            <a:picLocks noChangeAspect="1"/>
          </p:cNvPicPr>
          <p:nvPr/>
        </p:nvPicPr>
        <p:blipFill>
          <a:blip r:embed="rId2"/>
          <a:stretch>
            <a:fillRect/>
          </a:stretch>
        </p:blipFill>
        <p:spPr>
          <a:xfrm>
            <a:off x="822960" y="3835908"/>
            <a:ext cx="182880" cy="182880"/>
          </a:xfrm>
          <a:prstGeom prst="rect">
            <a:avLst/>
          </a:prstGeom>
        </p:spPr>
      </p:pic>
      <p:sp>
        <p:nvSpPr>
          <p:cNvPr id="24" name="Shape 20"/>
          <p:cNvSpPr/>
          <p:nvPr/>
        </p:nvSpPr>
        <p:spPr>
          <a:xfrm>
            <a:off x="3246120" y="2980944"/>
            <a:ext cx="1301868" cy="310896"/>
          </a:xfrm>
          <a:prstGeom prst="roundRect">
            <a:avLst>
              <a:gd name="adj" fmla="val 17647"/>
            </a:avLst>
          </a:prstGeom>
          <a:solidFill>
            <a:schemeClr val="bg1"/>
          </a:solidFill>
          <a:ln w="9525">
            <a:solidFill>
              <a:schemeClr val="accent5"/>
            </a:solidFill>
            <a:prstDash val="solid"/>
          </a:ln>
        </p:spPr>
      </p:sp>
      <p:sp>
        <p:nvSpPr>
          <p:cNvPr id="25" name="Text 21"/>
          <p:cNvSpPr txBox="1"/>
          <p:nvPr/>
        </p:nvSpPr>
        <p:spPr>
          <a:xfrm>
            <a:off x="3246120" y="2980944"/>
            <a:ext cx="1301868" cy="310896"/>
          </a:xfrm>
          <a:prstGeom prst="rect">
            <a:avLst/>
          </a:prstGeom>
          <a:noFill/>
          <a:ln/>
        </p:spPr>
        <p:txBody>
          <a:bodyPr wrap="square" lIns="0" tIns="0" rIns="0" bIns="0" rtlCol="0" anchor="ctr"/>
          <a:lstStyle/>
          <a:p>
            <a:pPr algn="ctr" indent="0" marL="0">
              <a:buNone/>
            </a:pPr>
            <a:r>
              <a:rPr lang="en-US" sz="1200" dirty="0">
                <a:solidFill>
                  <a:schemeClr val="tx1"/>
                </a:solidFill>
              </a:rPr>
              <a:t>Server Actions</a:t>
            </a:r>
            <a:endParaRPr lang="en-US" sz="1200" dirty="0"/>
          </a:p>
        </p:txBody>
      </p:sp>
      <p:sp>
        <p:nvSpPr>
          <p:cNvPr id="26" name="Shape 22"/>
          <p:cNvSpPr/>
          <p:nvPr/>
        </p:nvSpPr>
        <p:spPr>
          <a:xfrm>
            <a:off x="4657716" y="2980944"/>
            <a:ext cx="1484567" cy="310896"/>
          </a:xfrm>
          <a:prstGeom prst="roundRect">
            <a:avLst>
              <a:gd name="adj" fmla="val 17647"/>
            </a:avLst>
          </a:prstGeom>
          <a:solidFill>
            <a:schemeClr val="bg1"/>
          </a:solidFill>
          <a:ln w="9525">
            <a:solidFill>
              <a:schemeClr val="accent5"/>
            </a:solidFill>
            <a:prstDash val="solid"/>
          </a:ln>
        </p:spPr>
      </p:sp>
      <p:sp>
        <p:nvSpPr>
          <p:cNvPr id="27" name="Text 23"/>
          <p:cNvSpPr txBox="1"/>
          <p:nvPr/>
        </p:nvSpPr>
        <p:spPr>
          <a:xfrm>
            <a:off x="4657716" y="2980944"/>
            <a:ext cx="1484567" cy="310896"/>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/api/documents</a:t>
            </a:r>
            <a:endParaRPr lang="en-US" sz="1100" dirty="0"/>
          </a:p>
        </p:txBody>
      </p:sp>
      <p:sp>
        <p:nvSpPr>
          <p:cNvPr id="28" name="Shape 24"/>
          <p:cNvSpPr/>
          <p:nvPr/>
        </p:nvSpPr>
        <p:spPr>
          <a:xfrm>
            <a:off x="6252011" y="2980944"/>
            <a:ext cx="1233066" cy="310896"/>
          </a:xfrm>
          <a:prstGeom prst="roundRect">
            <a:avLst>
              <a:gd name="adj" fmla="val 17647"/>
            </a:avLst>
          </a:prstGeom>
          <a:solidFill>
            <a:schemeClr val="bg1"/>
          </a:solidFill>
          <a:ln w="9525">
            <a:solidFill>
              <a:schemeClr val="accent5"/>
            </a:solidFill>
            <a:prstDash val="solid"/>
          </a:ln>
        </p:spPr>
      </p:sp>
      <p:sp>
        <p:nvSpPr>
          <p:cNvPr id="29" name="Text 25"/>
          <p:cNvSpPr txBox="1"/>
          <p:nvPr/>
        </p:nvSpPr>
        <p:spPr>
          <a:xfrm>
            <a:off x="6252011" y="2980944"/>
            <a:ext cx="1233066" cy="310896"/>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/api/search</a:t>
            </a:r>
            <a:endParaRPr lang="en-US" sz="1100" dirty="0"/>
          </a:p>
        </p:txBody>
      </p:sp>
      <p:sp>
        <p:nvSpPr>
          <p:cNvPr id="30" name="Shape 26"/>
          <p:cNvSpPr/>
          <p:nvPr/>
        </p:nvSpPr>
        <p:spPr>
          <a:xfrm>
            <a:off x="7594805" y="2980944"/>
            <a:ext cx="2239070" cy="310896"/>
          </a:xfrm>
          <a:prstGeom prst="roundRect">
            <a:avLst>
              <a:gd name="adj" fmla="val 17647"/>
            </a:avLst>
          </a:prstGeom>
          <a:solidFill>
            <a:schemeClr val="bg1"/>
          </a:solidFill>
          <a:ln w="9525">
            <a:solidFill>
              <a:schemeClr val="accent5"/>
            </a:solidFill>
            <a:prstDash val="solid"/>
          </a:ln>
        </p:spPr>
      </p:sp>
      <p:sp>
        <p:nvSpPr>
          <p:cNvPr id="31" name="Text 27"/>
          <p:cNvSpPr txBox="1"/>
          <p:nvPr/>
        </p:nvSpPr>
        <p:spPr>
          <a:xfrm>
            <a:off x="7594805" y="2980944"/>
            <a:ext cx="2239070" cy="310896"/>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/api/cron/process-queue</a:t>
            </a:r>
            <a:endParaRPr lang="en-US" sz="1100" dirty="0"/>
          </a:p>
        </p:txBody>
      </p:sp>
      <p:sp>
        <p:nvSpPr>
          <p:cNvPr id="32" name="Shape 28"/>
          <p:cNvSpPr/>
          <p:nvPr/>
        </p:nvSpPr>
        <p:spPr>
          <a:xfrm>
            <a:off x="3246120" y="3383280"/>
            <a:ext cx="1996747" cy="310896"/>
          </a:xfrm>
          <a:prstGeom prst="roundRect">
            <a:avLst>
              <a:gd name="adj" fmla="val 17647"/>
            </a:avLst>
          </a:prstGeom>
          <a:solidFill>
            <a:schemeClr val="bg1"/>
          </a:solidFill>
          <a:ln w="9525">
            <a:solidFill>
              <a:schemeClr val="accent5"/>
            </a:solidFill>
            <a:prstDash val="solid"/>
          </a:ln>
        </p:spPr>
      </p:sp>
      <p:sp>
        <p:nvSpPr>
          <p:cNvPr id="33" name="Text 29"/>
          <p:cNvSpPr txBox="1"/>
          <p:nvPr/>
        </p:nvSpPr>
        <p:spPr>
          <a:xfrm>
            <a:off x="3246120" y="3383280"/>
            <a:ext cx="1996747" cy="310896"/>
          </a:xfrm>
          <a:prstGeom prst="rect">
            <a:avLst/>
          </a:prstGeom>
          <a:noFill/>
          <a:ln/>
        </p:spPr>
        <p:txBody>
          <a:bodyPr wrap="square" lIns="0" tIns="0" rIns="0" bIns="0" rtlCol="0" anchor="ctr"/>
          <a:lstStyle/>
          <a:p>
            <a:pPr algn="ctr" indent="0" marL="0">
              <a:buNone/>
            </a:pPr>
            <a:r>
              <a:rPr lang="en-US" sz="1200" dirty="0">
                <a:solidFill>
                  <a:schemeClr val="tx1"/>
                </a:solidFill>
              </a:rPr>
              <a:t>after() execution budgets</a:t>
            </a:r>
            <a:endParaRPr lang="en-US" sz="1200" dirty="0"/>
          </a:p>
        </p:txBody>
      </p:sp>
      <p:sp>
        <p:nvSpPr>
          <p:cNvPr id="34" name="Shape 30"/>
          <p:cNvSpPr/>
          <p:nvPr/>
        </p:nvSpPr>
        <p:spPr>
          <a:xfrm>
            <a:off x="5352595" y="3383280"/>
            <a:ext cx="2343888" cy="310896"/>
          </a:xfrm>
          <a:prstGeom prst="roundRect">
            <a:avLst>
              <a:gd name="adj" fmla="val 17647"/>
            </a:avLst>
          </a:prstGeom>
          <a:solidFill>
            <a:schemeClr val="bg1"/>
          </a:solidFill>
          <a:ln w="9525">
            <a:solidFill>
              <a:schemeClr val="accent5"/>
            </a:solidFill>
            <a:prstDash val="solid"/>
          </a:ln>
        </p:spPr>
      </p:sp>
      <p:sp>
        <p:nvSpPr>
          <p:cNvPr id="35" name="Text 31"/>
          <p:cNvSpPr txBox="1"/>
          <p:nvPr/>
        </p:nvSpPr>
        <p:spPr>
          <a:xfrm>
            <a:off x="5352595" y="3383280"/>
            <a:ext cx="2343888" cy="310896"/>
          </a:xfrm>
          <a:prstGeom prst="rect">
            <a:avLst/>
          </a:prstGeom>
          <a:noFill/>
          <a:ln/>
        </p:spPr>
        <p:txBody>
          <a:bodyPr wrap="square" lIns="0" tIns="0" rIns="0" bIns="0" rtlCol="0" anchor="ctr"/>
          <a:lstStyle/>
          <a:p>
            <a:pPr algn="ctr" indent="0" marL="0">
              <a:buNone/>
            </a:pPr>
            <a:r>
              <a:rPr lang="en-US" sz="1200" dirty="0">
                <a:solidFill>
                  <a:schemeClr val="tx1"/>
                </a:solidFill>
              </a:rPr>
              <a:t>Supabase Auth JWT sessions</a:t>
            </a:r>
            <a:endParaRPr lang="en-US" sz="1200" dirty="0"/>
          </a:p>
        </p:txBody>
      </p:sp>
      <p:sp>
        <p:nvSpPr>
          <p:cNvPr id="36" name="Shape 32"/>
          <p:cNvSpPr/>
          <p:nvPr/>
        </p:nvSpPr>
        <p:spPr>
          <a:xfrm>
            <a:off x="548640" y="4050792"/>
            <a:ext cx="11094415" cy="932688"/>
          </a:xfrm>
          <a:prstGeom prst="roundRect">
            <a:avLst>
              <a:gd name="adj" fmla="val 9804"/>
            </a:avLst>
          </a:prstGeom>
          <a:solidFill>
            <a:srgbClr val="FFF4D1"/>
          </a:solidFill>
          <a:ln w="15875">
            <a:solidFill>
              <a:schemeClr val="accent1"/>
            </a:solidFill>
            <a:prstDash val="solid"/>
          </a:ln>
        </p:spPr>
      </p:sp>
      <p:sp>
        <p:nvSpPr>
          <p:cNvPr id="37" name="Text 33"/>
          <p:cNvSpPr txBox="1"/>
          <p:nvPr/>
        </p:nvSpPr>
        <p:spPr>
          <a:xfrm>
            <a:off x="822960" y="4251960"/>
            <a:ext cx="224028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03  SUPABASE</a:t>
            </a:r>
            <a:endParaRPr lang="en-US" sz="1050" dirty="0"/>
          </a:p>
        </p:txBody>
      </p:sp>
      <p:sp>
        <p:nvSpPr>
          <p:cNvPr id="38" name="Text 34"/>
          <p:cNvSpPr txBox="1"/>
          <p:nvPr/>
        </p:nvSpPr>
        <p:spPr>
          <a:xfrm>
            <a:off x="822960" y="4507992"/>
            <a:ext cx="2331720" cy="292608"/>
          </a:xfrm>
          <a:prstGeom prst="rect">
            <a:avLst/>
          </a:prstGeom>
          <a:noFill/>
          <a:ln/>
        </p:spPr>
        <p:txBody>
          <a:bodyPr wrap="square" lIns="0" tIns="0" rIns="0" bIns="0" rtlCol="0" anchor="t"/>
          <a:lstStyle/>
          <a:p>
            <a:pPr indent="0" marL="0">
              <a:buNone/>
            </a:pPr>
            <a:r>
              <a:rPr lang="en-US" sz="1500" b="1" dirty="0">
                <a:solidFill>
                  <a:schemeClr val="tx1"/>
                </a:solidFill>
              </a:rPr>
              <a:t>Database &amp; storage</a:t>
            </a:r>
            <a:endParaRPr lang="en-US" sz="1500" dirty="0"/>
          </a:p>
        </p:txBody>
      </p:sp>
      <p:pic>
        <p:nvPicPr>
          <p:cNvPr id="39" name="Image 2" descr="Icon">    </p:cNvPr>
          <p:cNvPicPr>
            <a:picLocks noChangeAspect="1"/>
          </p:cNvPicPr>
          <p:nvPr/>
        </p:nvPicPr>
        <p:blipFill>
          <a:blip r:embed="rId3"/>
          <a:stretch>
            <a:fillRect/>
          </a:stretch>
        </p:blipFill>
        <p:spPr>
          <a:xfrm>
            <a:off x="822960" y="5015484"/>
            <a:ext cx="182880" cy="182880"/>
          </a:xfrm>
          <a:prstGeom prst="rect">
            <a:avLst/>
          </a:prstGeom>
        </p:spPr>
      </p:pic>
      <p:sp>
        <p:nvSpPr>
          <p:cNvPr id="40" name="Shape 35"/>
          <p:cNvSpPr/>
          <p:nvPr/>
        </p:nvSpPr>
        <p:spPr>
          <a:xfrm>
            <a:off x="3246120" y="4160520"/>
            <a:ext cx="2627555" cy="310896"/>
          </a:xfrm>
          <a:prstGeom prst="roundRect">
            <a:avLst>
              <a:gd name="adj" fmla="val 17647"/>
            </a:avLst>
          </a:prstGeom>
          <a:solidFill>
            <a:schemeClr val="bg1"/>
          </a:solidFill>
          <a:ln w="9525">
            <a:solidFill>
              <a:srgbClr val="EFD08A"/>
            </a:solidFill>
            <a:prstDash val="solid"/>
          </a:ln>
        </p:spPr>
      </p:sp>
      <p:sp>
        <p:nvSpPr>
          <p:cNvPr id="41" name="Text 36"/>
          <p:cNvSpPr txBox="1"/>
          <p:nvPr/>
        </p:nvSpPr>
        <p:spPr>
          <a:xfrm>
            <a:off x="3246120" y="4160520"/>
            <a:ext cx="2627555" cy="310896"/>
          </a:xfrm>
          <a:prstGeom prst="rect">
            <a:avLst/>
          </a:prstGeom>
          <a:noFill/>
          <a:ln/>
        </p:spPr>
        <p:txBody>
          <a:bodyPr wrap="square" lIns="0" tIns="0" rIns="0" bIns="0" rtlCol="0" anchor="ctr"/>
          <a:lstStyle/>
          <a:p>
            <a:pPr algn="ctr" indent="0" marL="0">
              <a:buNone/>
            </a:pPr>
            <a:r>
              <a:rPr lang="en-US" sz="1200" dirty="0">
                <a:solidFill>
                  <a:schemeClr val="tx1"/>
                </a:solidFill>
              </a:rPr>
              <a:t>PostgreSQL + Row-Level Security</a:t>
            </a:r>
            <a:endParaRPr lang="en-US" sz="1200" dirty="0"/>
          </a:p>
        </p:txBody>
      </p:sp>
      <p:sp>
        <p:nvSpPr>
          <p:cNvPr id="42" name="Shape 37"/>
          <p:cNvSpPr/>
          <p:nvPr/>
        </p:nvSpPr>
        <p:spPr>
          <a:xfrm>
            <a:off x="5983403" y="4160520"/>
            <a:ext cx="1962516" cy="310896"/>
          </a:xfrm>
          <a:prstGeom prst="roundRect">
            <a:avLst>
              <a:gd name="adj" fmla="val 17647"/>
            </a:avLst>
          </a:prstGeom>
          <a:solidFill>
            <a:schemeClr val="bg1"/>
          </a:solidFill>
          <a:ln w="9525">
            <a:solidFill>
              <a:srgbClr val="EFD08A"/>
            </a:solidFill>
            <a:prstDash val="solid"/>
          </a:ln>
        </p:spPr>
      </p:sp>
      <p:sp>
        <p:nvSpPr>
          <p:cNvPr id="43" name="Text 38"/>
          <p:cNvSpPr txBox="1"/>
          <p:nvPr/>
        </p:nvSpPr>
        <p:spPr>
          <a:xfrm>
            <a:off x="5983403" y="4160520"/>
            <a:ext cx="1962516" cy="310896"/>
          </a:xfrm>
          <a:prstGeom prst="rect">
            <a:avLst/>
          </a:prstGeom>
          <a:noFill/>
          <a:ln/>
        </p:spPr>
        <p:txBody>
          <a:bodyPr wrap="square" lIns="0" tIns="0" rIns="0" bIns="0" rtlCol="0" anchor="ctr"/>
          <a:lstStyle/>
          <a:p>
            <a:pPr algn="ctr" indent="0" marL="0">
              <a:buNone/>
            </a:pPr>
            <a:r>
              <a:rPr lang="en-US" sz="1200" dirty="0">
                <a:solidFill>
                  <a:schemeClr val="tx1"/>
                </a:solidFill>
              </a:rPr>
              <a:t>Atomic PL/pgSQL RPCs</a:t>
            </a:r>
            <a:endParaRPr lang="en-US" sz="1200" dirty="0"/>
          </a:p>
        </p:txBody>
      </p:sp>
      <p:sp>
        <p:nvSpPr>
          <p:cNvPr id="44" name="Shape 39"/>
          <p:cNvSpPr/>
          <p:nvPr/>
        </p:nvSpPr>
        <p:spPr>
          <a:xfrm>
            <a:off x="8055647" y="4160520"/>
            <a:ext cx="2225123" cy="310896"/>
          </a:xfrm>
          <a:prstGeom prst="roundRect">
            <a:avLst>
              <a:gd name="adj" fmla="val 17647"/>
            </a:avLst>
          </a:prstGeom>
          <a:solidFill>
            <a:schemeClr val="bg1"/>
          </a:solidFill>
          <a:ln w="9525">
            <a:solidFill>
              <a:srgbClr val="EFD08A"/>
            </a:solidFill>
            <a:prstDash val="solid"/>
          </a:ln>
        </p:spPr>
      </p:sp>
      <p:sp>
        <p:nvSpPr>
          <p:cNvPr id="45" name="Text 40"/>
          <p:cNvSpPr txBox="1"/>
          <p:nvPr/>
        </p:nvSpPr>
        <p:spPr>
          <a:xfrm>
            <a:off x="8055647" y="4160520"/>
            <a:ext cx="2225123" cy="310896"/>
          </a:xfrm>
          <a:prstGeom prst="rect">
            <a:avLst/>
          </a:prstGeom>
          <a:noFill/>
          <a:ln/>
        </p:spPr>
        <p:txBody>
          <a:bodyPr wrap="square" lIns="0" tIns="0" rIns="0" bIns="0" rtlCol="0" anchor="ctr"/>
          <a:lstStyle/>
          <a:p>
            <a:pPr algn="ctr" indent="0" marL="0">
              <a:buNone/>
            </a:pPr>
            <a:r>
              <a:rPr lang="en-US" sz="1200" dirty="0">
                <a:solidFill>
                  <a:schemeClr val="tx1"/>
                </a:solidFill>
              </a:rPr>
              <a:t>Transactional advisory locks</a:t>
            </a:r>
            <a:endParaRPr lang="en-US" sz="1200" dirty="0"/>
          </a:p>
        </p:txBody>
      </p:sp>
      <p:sp>
        <p:nvSpPr>
          <p:cNvPr id="46" name="Shape 41"/>
          <p:cNvSpPr/>
          <p:nvPr/>
        </p:nvSpPr>
        <p:spPr>
          <a:xfrm>
            <a:off x="3246120" y="4562856"/>
            <a:ext cx="2406737" cy="310896"/>
          </a:xfrm>
          <a:prstGeom prst="roundRect">
            <a:avLst>
              <a:gd name="adj" fmla="val 17647"/>
            </a:avLst>
          </a:prstGeom>
          <a:solidFill>
            <a:schemeClr val="bg1"/>
          </a:solidFill>
          <a:ln w="9525">
            <a:solidFill>
              <a:srgbClr val="EFD08A"/>
            </a:solidFill>
            <a:prstDash val="solid"/>
          </a:ln>
        </p:spPr>
      </p:sp>
      <p:sp>
        <p:nvSpPr>
          <p:cNvPr id="47" name="Text 42"/>
          <p:cNvSpPr txBox="1"/>
          <p:nvPr/>
        </p:nvSpPr>
        <p:spPr>
          <a:xfrm>
            <a:off x="3246120" y="4562856"/>
            <a:ext cx="2406737" cy="310896"/>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private bucket: documents</a:t>
            </a:r>
            <a:endParaRPr lang="en-US" sz="1100" dirty="0"/>
          </a:p>
        </p:txBody>
      </p:sp>
      <p:sp>
        <p:nvSpPr>
          <p:cNvPr id="48" name="Shape 43"/>
          <p:cNvSpPr/>
          <p:nvPr/>
        </p:nvSpPr>
        <p:spPr>
          <a:xfrm>
            <a:off x="548640" y="5230368"/>
            <a:ext cx="11094415" cy="932688"/>
          </a:xfrm>
          <a:prstGeom prst="roundRect">
            <a:avLst>
              <a:gd name="adj" fmla="val 9804"/>
            </a:avLst>
          </a:prstGeom>
          <a:solidFill>
            <a:schemeClr val="bg2"/>
          </a:solidFill>
          <a:ln/>
        </p:spPr>
      </p:sp>
      <p:sp>
        <p:nvSpPr>
          <p:cNvPr id="49" name="Text 44"/>
          <p:cNvSpPr txBox="1"/>
          <p:nvPr/>
        </p:nvSpPr>
        <p:spPr>
          <a:xfrm>
            <a:off x="822960" y="5431536"/>
            <a:ext cx="224028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04  GEMINI</a:t>
            </a:r>
            <a:endParaRPr lang="en-US" sz="1050" dirty="0"/>
          </a:p>
        </p:txBody>
      </p:sp>
      <p:sp>
        <p:nvSpPr>
          <p:cNvPr id="50" name="Text 45"/>
          <p:cNvSpPr txBox="1"/>
          <p:nvPr/>
        </p:nvSpPr>
        <p:spPr>
          <a:xfrm>
            <a:off x="822960" y="5687568"/>
            <a:ext cx="2331720" cy="292608"/>
          </a:xfrm>
          <a:prstGeom prst="rect">
            <a:avLst/>
          </a:prstGeom>
          <a:noFill/>
          <a:ln/>
        </p:spPr>
        <p:txBody>
          <a:bodyPr wrap="square" lIns="0" tIns="0" rIns="0" bIns="0" rtlCol="0" anchor="t"/>
          <a:lstStyle/>
          <a:p>
            <a:pPr indent="0" marL="0">
              <a:buNone/>
            </a:pPr>
            <a:r>
              <a:rPr lang="en-US" sz="1500" b="1" dirty="0">
                <a:solidFill>
                  <a:schemeClr val="tx1"/>
                </a:solidFill>
              </a:rPr>
              <a:t>AI &amp; acceleration</a:t>
            </a:r>
            <a:endParaRPr lang="en-US" sz="1500" dirty="0"/>
          </a:p>
        </p:txBody>
      </p:sp>
      <p:sp>
        <p:nvSpPr>
          <p:cNvPr id="51" name="Shape 46"/>
          <p:cNvSpPr/>
          <p:nvPr/>
        </p:nvSpPr>
        <p:spPr>
          <a:xfrm>
            <a:off x="3246120" y="5340096"/>
            <a:ext cx="1445710" cy="310896"/>
          </a:xfrm>
          <a:prstGeom prst="roundRect">
            <a:avLst>
              <a:gd name="adj" fmla="val 17647"/>
            </a:avLst>
          </a:prstGeom>
          <a:solidFill>
            <a:schemeClr val="bg1"/>
          </a:solidFill>
          <a:ln w="9525">
            <a:solidFill>
              <a:schemeClr val="accent5"/>
            </a:solidFill>
            <a:prstDash val="solid"/>
          </a:ln>
        </p:spPr>
      </p:sp>
      <p:sp>
        <p:nvSpPr>
          <p:cNvPr id="52" name="Text 47"/>
          <p:cNvSpPr txBox="1"/>
          <p:nvPr/>
        </p:nvSpPr>
        <p:spPr>
          <a:xfrm>
            <a:off x="3246120" y="5340096"/>
            <a:ext cx="1445710" cy="310896"/>
          </a:xfrm>
          <a:prstGeom prst="rect">
            <a:avLst/>
          </a:prstGeom>
          <a:noFill/>
          <a:ln/>
        </p:spPr>
        <p:txBody>
          <a:bodyPr wrap="square" lIns="0" tIns="0" rIns="0" bIns="0" rtlCol="0" anchor="ctr"/>
          <a:lstStyle/>
          <a:p>
            <a:pPr algn="ctr" indent="0" marL="0">
              <a:buNone/>
            </a:pPr>
            <a:r>
              <a:rPr lang="en-US" sz="1200" dirty="0">
                <a:solidFill>
                  <a:schemeClr val="tx1"/>
                </a:solidFill>
              </a:rPr>
              <a:t>Gemini Files API</a:t>
            </a:r>
            <a:endParaRPr lang="en-US" sz="1200" dirty="0"/>
          </a:p>
        </p:txBody>
      </p:sp>
      <p:sp>
        <p:nvSpPr>
          <p:cNvPr id="53" name="Shape 48"/>
          <p:cNvSpPr/>
          <p:nvPr/>
        </p:nvSpPr>
        <p:spPr>
          <a:xfrm>
            <a:off x="4801558" y="5340096"/>
            <a:ext cx="2165815" cy="310896"/>
          </a:xfrm>
          <a:prstGeom prst="roundRect">
            <a:avLst>
              <a:gd name="adj" fmla="val 17647"/>
            </a:avLst>
          </a:prstGeom>
          <a:solidFill>
            <a:schemeClr val="bg1"/>
          </a:solidFill>
          <a:ln w="9525">
            <a:solidFill>
              <a:schemeClr val="accent5"/>
            </a:solidFill>
            <a:prstDash val="solid"/>
          </a:ln>
        </p:spPr>
      </p:sp>
      <p:sp>
        <p:nvSpPr>
          <p:cNvPr id="54" name="Text 49"/>
          <p:cNvSpPr txBox="1"/>
          <p:nvPr/>
        </p:nvSpPr>
        <p:spPr>
          <a:xfrm>
            <a:off x="4801558" y="5340096"/>
            <a:ext cx="2165815" cy="310896"/>
          </a:xfrm>
          <a:prstGeom prst="rect">
            <a:avLst/>
          </a:prstGeom>
          <a:noFill/>
          <a:ln/>
        </p:spPr>
        <p:txBody>
          <a:bodyPr wrap="square" lIns="0" tIns="0" rIns="0" bIns="0" rtlCol="0" anchor="ctr"/>
          <a:lstStyle/>
          <a:p>
            <a:pPr algn="ctr" indent="0" marL="0">
              <a:buNone/>
            </a:pPr>
            <a:r>
              <a:rPr lang="en-US" sz="1200" dirty="0">
                <a:solidFill>
                  <a:schemeClr val="tx1"/>
                </a:solidFill>
              </a:rPr>
              <a:t>Structured JSON extraction</a:t>
            </a:r>
            <a:endParaRPr lang="en-US" sz="1200" dirty="0"/>
          </a:p>
        </p:txBody>
      </p:sp>
      <p:sp>
        <p:nvSpPr>
          <p:cNvPr id="55" name="Shape 50"/>
          <p:cNvSpPr/>
          <p:nvPr/>
        </p:nvSpPr>
        <p:spPr>
          <a:xfrm>
            <a:off x="7077102" y="5340096"/>
            <a:ext cx="2445612" cy="310896"/>
          </a:xfrm>
          <a:prstGeom prst="roundRect">
            <a:avLst>
              <a:gd name="adj" fmla="val 17647"/>
            </a:avLst>
          </a:prstGeom>
          <a:solidFill>
            <a:schemeClr val="bg1"/>
          </a:solidFill>
          <a:ln w="9525">
            <a:solidFill>
              <a:schemeClr val="accent5"/>
            </a:solidFill>
            <a:prstDash val="solid"/>
          </a:ln>
        </p:spPr>
      </p:sp>
      <p:sp>
        <p:nvSpPr>
          <p:cNvPr id="56" name="Text 51"/>
          <p:cNvSpPr txBox="1"/>
          <p:nvPr/>
        </p:nvSpPr>
        <p:spPr>
          <a:xfrm>
            <a:off x="7077102" y="5340096"/>
            <a:ext cx="2445612" cy="310896"/>
          </a:xfrm>
          <a:prstGeom prst="rect">
            <a:avLst/>
          </a:prstGeom>
          <a:noFill/>
          <a:ln/>
        </p:spPr>
        <p:txBody>
          <a:bodyPr wrap="square" lIns="0" tIns="0" rIns="0" bIns="0" rtlCol="0" anchor="ctr"/>
          <a:lstStyle/>
          <a:p>
            <a:pPr algn="ctr" indent="0" marL="0">
              <a:buNone/>
            </a:pPr>
            <a:r>
              <a:rPr lang="en-US" sz="1200" dirty="0">
                <a:solidFill>
                  <a:schemeClr val="tx1"/>
                </a:solidFill>
              </a:rPr>
              <a:t>Category &amp; key-value metadata</a:t>
            </a:r>
            <a:endParaRPr lang="en-US" sz="1200" dirty="0"/>
          </a:p>
        </p:txBody>
      </p:sp>
      <p:sp>
        <p:nvSpPr>
          <p:cNvPr id="57" name="Shape 52"/>
          <p:cNvSpPr/>
          <p:nvPr/>
        </p:nvSpPr>
        <p:spPr>
          <a:xfrm>
            <a:off x="9632442" y="5340096"/>
            <a:ext cx="1734139" cy="310896"/>
          </a:xfrm>
          <a:prstGeom prst="roundRect">
            <a:avLst>
              <a:gd name="adj" fmla="val 17647"/>
            </a:avLst>
          </a:prstGeom>
          <a:solidFill>
            <a:schemeClr val="bg1"/>
          </a:solidFill>
          <a:ln w="9525">
            <a:solidFill>
              <a:schemeClr val="accent5"/>
            </a:solidFill>
            <a:prstDash val="solid"/>
          </a:ln>
        </p:spPr>
      </p:sp>
      <p:sp>
        <p:nvSpPr>
          <p:cNvPr id="58" name="Text 53"/>
          <p:cNvSpPr txBox="1"/>
          <p:nvPr/>
        </p:nvSpPr>
        <p:spPr>
          <a:xfrm>
            <a:off x="9632442" y="5340096"/>
            <a:ext cx="1734139" cy="310896"/>
          </a:xfrm>
          <a:prstGeom prst="rect">
            <a:avLst/>
          </a:prstGeom>
          <a:noFill/>
          <a:ln/>
        </p:spPr>
        <p:txBody>
          <a:bodyPr wrap="square" lIns="0" tIns="0" rIns="0" bIns="0" rtlCol="0" anchor="ctr"/>
          <a:lstStyle/>
          <a:p>
            <a:pPr algn="ctr" indent="0" marL="0">
              <a:buNone/>
            </a:pPr>
            <a:r>
              <a:rPr lang="en-US" sz="1200" dirty="0">
                <a:solidFill>
                  <a:schemeClr val="tx1"/>
                </a:solidFill>
              </a:rPr>
              <a:t>768-dim embeddings</a:t>
            </a:r>
            <a:endParaRPr lang="en-US" sz="1200" dirty="0"/>
          </a:p>
        </p:txBody>
      </p:sp>
      <p:sp>
        <p:nvSpPr>
          <p:cNvPr id="59" name="Shape 54"/>
          <p:cNvSpPr/>
          <p:nvPr/>
        </p:nvSpPr>
        <p:spPr>
          <a:xfrm>
            <a:off x="3246120" y="5742432"/>
            <a:ext cx="1750957" cy="310896"/>
          </a:xfrm>
          <a:prstGeom prst="roundRect">
            <a:avLst>
              <a:gd name="adj" fmla="val 17647"/>
            </a:avLst>
          </a:prstGeom>
          <a:solidFill>
            <a:schemeClr val="bg1"/>
          </a:solidFill>
          <a:ln w="9525">
            <a:solidFill>
              <a:schemeClr val="accent5"/>
            </a:solidFill>
            <a:prstDash val="solid"/>
          </a:ln>
        </p:spPr>
      </p:sp>
      <p:sp>
        <p:nvSpPr>
          <p:cNvPr id="60" name="Text 55"/>
          <p:cNvSpPr txBox="1"/>
          <p:nvPr/>
        </p:nvSpPr>
        <p:spPr>
          <a:xfrm>
            <a:off x="3246120" y="5742432"/>
            <a:ext cx="1750957" cy="310896"/>
          </a:xfrm>
          <a:prstGeom prst="rect">
            <a:avLst/>
          </a:prstGeom>
          <a:noFill/>
          <a:ln/>
        </p:spPr>
        <p:txBody>
          <a:bodyPr wrap="square" lIns="0" tIns="0" rIns="0" bIns="0" rtlCol="0" anchor="ctr"/>
          <a:lstStyle/>
          <a:p>
            <a:pPr algn="ctr" indent="0" marL="0">
              <a:buNone/>
            </a:pPr>
            <a:r>
              <a:rPr lang="en-US" sz="1200" dirty="0">
                <a:solidFill>
                  <a:schemeClr val="tx1"/>
                </a:solidFill>
              </a:rPr>
              <a:t>500-entry LRU cache</a:t>
            </a:r>
            <a:endParaRPr lang="en-US" sz="1200" dirty="0"/>
          </a:p>
        </p:txBody>
      </p:sp>
      <p:sp>
        <p:nvSpPr>
          <p:cNvPr id="61" name="Shape 56"/>
          <p:cNvSpPr/>
          <p:nvPr/>
        </p:nvSpPr>
        <p:spPr>
          <a:xfrm>
            <a:off x="5106805" y="5742432"/>
            <a:ext cx="1894650" cy="310896"/>
          </a:xfrm>
          <a:prstGeom prst="roundRect">
            <a:avLst>
              <a:gd name="adj" fmla="val 17647"/>
            </a:avLst>
          </a:prstGeom>
          <a:solidFill>
            <a:schemeClr val="bg1"/>
          </a:solidFill>
          <a:ln w="9525">
            <a:solidFill>
              <a:schemeClr val="accent5"/>
            </a:solidFill>
            <a:prstDash val="solid"/>
          </a:ln>
        </p:spPr>
      </p:sp>
      <p:sp>
        <p:nvSpPr>
          <p:cNvPr id="62" name="Text 57"/>
          <p:cNvSpPr txBox="1"/>
          <p:nvPr/>
        </p:nvSpPr>
        <p:spPr>
          <a:xfrm>
            <a:off x="5106805" y="5742432"/>
            <a:ext cx="1894650" cy="310896"/>
          </a:xfrm>
          <a:prstGeom prst="rect">
            <a:avLst/>
          </a:prstGeom>
          <a:noFill/>
          <a:ln/>
        </p:spPr>
        <p:txBody>
          <a:bodyPr wrap="square" lIns="0" tIns="0" rIns="0" bIns="0" rtlCol="0" anchor="ctr"/>
          <a:lstStyle/>
          <a:p>
            <a:pPr algn="ctr" indent="0" marL="0">
              <a:buNone/>
            </a:pPr>
            <a:r>
              <a:rPr lang="en-US" sz="1200" dirty="0">
                <a:solidFill>
                  <a:schemeClr val="tx1"/>
                </a:solidFill>
              </a:rPr>
              <a:t>pdf-lib stream optimiser</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How FileMind compares</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Against local OS folders, generic cloud drives and OCR utilities.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514600"/>
                <a:gridCol w="2514600"/>
                <a:gridCol w="2606040"/>
                <a:gridCol w="3459175"/>
              </a:tblGrid>
              <a:tr h="475488">
                <a:tc>
                  <a:txBody>
                    <a:bodyPr/>
                    <a:lstStyle/>
                    <a:p>
                      <a:pPr indent="0" marL="0">
                        <a:buNone/>
                      </a:pPr>
                      <a:r>
                        <a:rPr lang="en-US" sz="1300" b="1" dirty="0">
                          <a:solidFill>
                            <a:schemeClr val="accent2"/>
                          </a:solidFill>
                        </a:rPr>
                        <a:t>Capability</a:t>
                      </a:r>
                      <a:endParaRPr lang="en-US" sz="1300" dirty="0"/>
                    </a:p>
                  </a:txBody>
                  <a:tcPr marL="164592" marR="164592" marT="54864" marB="54864" anchor="ctr">
                    <a:lnL w="0" cap="flat" cmpd="sng" algn="ctr">
                      <a:noFill/>
                    </a:lnL>
                    <a:lnR w="0" cap="flat" cmpd="sng" algn="ctr">
                      <a:noFill/>
                    </a:lnR>
                    <a:lnT w="0" cap="flat" cmpd="sng" algn="ctr">
                      <a:noFill/>
                    </a:lnT>
                    <a:lnB w="15875" cap="flat" cmpd="sng" algn="ctr">
                      <a:solidFill>
                        <a:srgbClr val="14171C"/>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Local OS folders</a:t>
                      </a:r>
                      <a:endParaRPr lang="en-US" sz="1300" dirty="0"/>
                    </a:p>
                  </a:txBody>
                  <a:tcPr marL="164592" marR="164592" marT="54864" marB="54864" anchor="ctr">
                    <a:lnL w="0" cap="flat" cmpd="sng" algn="ctr">
                      <a:noFill/>
                    </a:lnL>
                    <a:lnR w="0" cap="flat" cmpd="sng" algn="ctr">
                      <a:noFill/>
                    </a:lnR>
                    <a:lnT w="0" cap="flat" cmpd="sng" algn="ctr">
                      <a:noFill/>
                    </a:lnT>
                    <a:lnB w="15875" cap="flat" cmpd="sng" algn="ctr">
                      <a:solidFill>
                        <a:srgbClr val="14171C"/>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Generic cloud drive</a:t>
                      </a:r>
                      <a:endParaRPr lang="en-US" sz="1300" dirty="0"/>
                    </a:p>
                  </a:txBody>
                  <a:tcPr marL="164592" marR="164592" marT="54864" marB="54864" anchor="ctr">
                    <a:lnL w="0" cap="flat" cmpd="sng" algn="ctr">
                      <a:noFill/>
                    </a:lnL>
                    <a:lnR w="0" cap="flat" cmpd="sng" algn="ctr">
                      <a:noFill/>
                    </a:lnR>
                    <a:lnT w="0" cap="flat" cmpd="sng" algn="ctr">
                      <a:noFill/>
                    </a:lnT>
                    <a:lnB w="15875" cap="flat" cmpd="sng" algn="ctr">
                      <a:solidFill>
                        <a:srgbClr val="14171C"/>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FileMind AI vault</a:t>
                      </a:r>
                      <a:endParaRPr lang="en-US" sz="1300" dirty="0"/>
                    </a:p>
                  </a:txBody>
                  <a:tcPr marL="164592" marR="164592" marT="54864" marB="54864" anchor="ctr">
                    <a:lnL w="0" cap="flat" cmpd="sng" algn="ctr">
                      <a:noFill/>
                    </a:lnL>
                    <a:lnR w="0" cap="flat" cmpd="sng" algn="ctr">
                      <a:noFill/>
                    </a:lnR>
                    <a:lnT w="0" cap="flat" cmpd="sng" algn="ctr">
                      <a:noFill/>
                    </a:lnT>
                    <a:lnB w="15875" cap="flat" cmpd="sng" algn="ctr">
                      <a:solidFill>
                        <a:srgbClr val="14171C"/>
                      </a:solidFill>
                      <a:prstDash val="solid"/>
                      <a:round/>
                      <a:headEnd type="none" w="med" len="med"/>
                      <a:tailEnd type="none" w="med" len="med"/>
                    </a:lnB>
                    <a:solidFill>
                      <a:schemeClr val="accent1"/>
                    </a:solidFill>
                  </a:tcPr>
                </a:tc>
              </a:tr>
              <a:tr h="731520">
                <a:tc>
                  <a:txBody>
                    <a:bodyPr/>
                    <a:lstStyle/>
                    <a:p>
                      <a:pPr indent="0" marL="0">
                        <a:buNone/>
                      </a:pPr>
                      <a:r>
                        <a:rPr lang="en-US" sz="1400" b="1" dirty="0">
                          <a:solidFill>
                            <a:schemeClr val="tx1"/>
                          </a:solidFill>
                        </a:rPr>
                        <a:t>Search method</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Exact filename match only</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Keyword match on text-based PDFs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Semantic vector retrieval (768-dim embeddings)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rgbClr val="FFF4D1"/>
                    </a:solidFill>
                  </a:tcPr>
                </a:tc>
              </a:tr>
              <a:tr h="731520">
                <a:tc>
                  <a:txBody>
                    <a:bodyPr/>
                    <a:lstStyle/>
                    <a:p>
                      <a:pPr indent="0" marL="0">
                        <a:buNone/>
                      </a:pPr>
                      <a:r>
                        <a:rPr lang="en-US" sz="1400" b="1" dirty="0">
                          <a:solidFill>
                            <a:schemeClr val="tx1"/>
                          </a:solidFill>
                        </a:rPr>
                        <a:t>Document understanding</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None; manual reading</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Basic text OCR</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Structured JSON: category, tags, key-values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rgbClr val="FFF4D1"/>
                    </a:solidFill>
                  </a:tcPr>
                </a:tc>
              </a:tr>
              <a:tr h="731520">
                <a:tc>
                  <a:txBody>
                    <a:bodyPr/>
                    <a:lstStyle/>
                    <a:p>
                      <a:pPr indent="0" marL="0">
                        <a:buNone/>
                      </a:pPr>
                      <a:r>
                        <a:rPr lang="en-US" sz="1400" b="1" dirty="0">
                          <a:solidFill>
                            <a:schemeClr val="tx1"/>
                          </a:solidFill>
                        </a:rPr>
                        <a:t>Scanned &amp; image PDFs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Opaque and unsearchable</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Garbled multi-column text</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Read page by page with multimodal vision AI</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rgbClr val="FFF4D1"/>
                    </a:solidFill>
                  </a:tcPr>
                </a:tc>
              </a:tr>
              <a:tr h="731520">
                <a:tc>
                  <a:txBody>
                    <a:bodyPr/>
                    <a:lstStyle/>
                    <a:p>
                      <a:pPr indent="0" marL="0">
                        <a:buNone/>
                      </a:pPr>
                      <a:r>
                        <a:rPr lang="en-US" sz="1400" b="1" dirty="0">
                          <a:solidFill>
                            <a:schemeClr val="tx1"/>
                          </a:solidFill>
                        </a:rPr>
                        <a:t>Bulk processing</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OS file copy, no validation</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Slow sequential sync</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150-file sliding window, 4 concurrent streams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rgbClr val="FFF4D1"/>
                    </a:solidFill>
                  </a:tcPr>
                </a:tc>
              </a:tr>
              <a:tr h="731520">
                <a:tc>
                  <a:txBody>
                    <a:bodyPr/>
                    <a:lstStyle/>
                    <a:p>
                      <a:pPr indent="0" marL="0">
                        <a:buNone/>
                      </a:pPr>
                      <a:r>
                        <a:rPr lang="en-US" sz="1400" b="1" dirty="0">
                          <a:solidFill>
                            <a:schemeClr val="tx1"/>
                          </a:solidFill>
                        </a:rPr>
                        <a:t>Security &amp; isolation</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Local OS user permissions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Coarse folder sharing links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Row-Level Security and fencing leases</a:t>
                      </a:r>
                      <a:endParaRPr lang="en-US" sz="1400" dirty="0"/>
                    </a:p>
                  </a:txBody>
                  <a:tcPr marL="164592" marR="164592" marT="54864" marB="54864" anchor="ctr">
                    <a:lnL w="0" cap="flat" cmpd="sng" algn="ctr">
                      <a:noFill/>
                    </a:lnL>
                    <a:lnR w="0" cap="flat" cmpd="sng" algn="ctr">
                      <a:noFill/>
                    </a:lnR>
                    <a:lnT w="0" cap="flat" cmpd="sng" algn="ctr">
                      <a:noFill/>
                    </a:lnT>
                    <a:lnB w="9525" cap="flat" cmpd="sng" algn="ctr">
                      <a:solidFill>
                        <a:srgbClr val="DDE1E6"/>
                      </a:solidFill>
                      <a:prstDash val="solid"/>
                      <a:round/>
                      <a:headEnd type="none" w="med" len="med"/>
                      <a:tailEnd type="none" w="med" len="med"/>
                    </a:lnB>
                    <a:solidFill>
                      <a:srgbClr val="FFF4D1"/>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Hard problems we solved along the way</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Real failures we hit during development, and what we built to fix each one.</a:t>
            </a:r>
            <a:endParaRPr lang="en-US" sz="1500" dirty="0"/>
          </a:p>
        </p:txBody>
      </p:sp>
      <p:sp>
        <p:nvSpPr>
          <p:cNvPr id="4" name="Text 2"/>
          <p:cNvSpPr txBox="1"/>
          <p:nvPr/>
        </p:nvSpPr>
        <p:spPr>
          <a:xfrm>
            <a:off x="548640" y="1691640"/>
            <a:ext cx="315468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CHALLENGE</a:t>
            </a:r>
            <a:endParaRPr lang="en-US" sz="1050" dirty="0"/>
          </a:p>
        </p:txBody>
      </p:sp>
      <p:sp>
        <p:nvSpPr>
          <p:cNvPr id="5" name="Text 3"/>
          <p:cNvSpPr txBox="1"/>
          <p:nvPr/>
        </p:nvSpPr>
        <p:spPr>
          <a:xfrm>
            <a:off x="3977640" y="1691640"/>
            <a:ext cx="347472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WHAT WENT WRONG</a:t>
            </a:r>
            <a:endParaRPr lang="en-US" sz="1050" dirty="0"/>
          </a:p>
        </p:txBody>
      </p:sp>
      <p:sp>
        <p:nvSpPr>
          <p:cNvPr id="6" name="Text 4"/>
          <p:cNvSpPr txBox="1"/>
          <p:nvPr/>
        </p:nvSpPr>
        <p:spPr>
          <a:xfrm>
            <a:off x="7726680" y="1691640"/>
            <a:ext cx="3916375"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WHAT WE BUILT</a:t>
            </a:r>
            <a:endParaRPr lang="en-US" sz="1050" dirty="0"/>
          </a:p>
        </p:txBody>
      </p:sp>
      <p:sp>
        <p:nvSpPr>
          <p:cNvPr id="7" name="Shape 5"/>
          <p:cNvSpPr/>
          <p:nvPr/>
        </p:nvSpPr>
        <p:spPr>
          <a:xfrm>
            <a:off x="548640" y="2039112"/>
            <a:ext cx="11094415" cy="0"/>
          </a:xfrm>
          <a:prstGeom prst="line">
            <a:avLst/>
          </a:prstGeom>
          <a:noFill/>
          <a:ln w="9525">
            <a:solidFill>
              <a:schemeClr val="tx1"/>
            </a:solidFill>
            <a:prstDash val="solid"/>
          </a:ln>
        </p:spPr>
      </p:sp>
      <p:sp>
        <p:nvSpPr>
          <p:cNvPr id="8" name="Shape 6"/>
          <p:cNvSpPr/>
          <p:nvPr/>
        </p:nvSpPr>
        <p:spPr>
          <a:xfrm>
            <a:off x="548640" y="2221992"/>
            <a:ext cx="420624" cy="420624"/>
          </a:xfrm>
          <a:prstGeom prst="ellipse">
            <a:avLst/>
          </a:prstGeom>
          <a:solidFill>
            <a:schemeClr val="bg2"/>
          </a:solidFill>
          <a:ln/>
        </p:spPr>
      </p:sp>
      <p:pic>
        <p:nvPicPr>
          <p:cNvPr id="9" name="Image 0" descr="Icon">    </p:cNvPr>
          <p:cNvPicPr>
            <a:picLocks noChangeAspect="1"/>
          </p:cNvPicPr>
          <p:nvPr/>
        </p:nvPicPr>
        <p:blipFill>
          <a:blip r:embed="rId1"/>
          <a:stretch>
            <a:fillRect/>
          </a:stretch>
        </p:blipFill>
        <p:spPr>
          <a:xfrm>
            <a:off x="649590" y="2322942"/>
            <a:ext cx="218724" cy="218724"/>
          </a:xfrm>
          <a:prstGeom prst="rect">
            <a:avLst/>
          </a:prstGeom>
        </p:spPr>
      </p:pic>
      <p:sp>
        <p:nvSpPr>
          <p:cNvPr id="10" name="Text 7"/>
          <p:cNvSpPr txBox="1"/>
          <p:nvPr/>
        </p:nvSpPr>
        <p:spPr>
          <a:xfrm>
            <a:off x="1115568" y="2221992"/>
            <a:ext cx="2587752" cy="640080"/>
          </a:xfrm>
          <a:prstGeom prst="rect">
            <a:avLst/>
          </a:prstGeom>
          <a:noFill/>
          <a:ln/>
        </p:spPr>
        <p:txBody>
          <a:bodyPr wrap="square" lIns="0" tIns="0" rIns="0" bIns="0" rtlCol="0" anchor="t"/>
          <a:lstStyle/>
          <a:p>
            <a:pPr indent="0" marL="0">
              <a:buNone/>
            </a:pPr>
            <a:r>
              <a:rPr lang="en-US" sz="1500" b="1" dirty="0">
                <a:solidFill>
                  <a:schemeClr val="tx1"/>
                </a:solidFill>
              </a:rPr>
              <a:t>Gemini 503 spikes at peak hours</a:t>
            </a:r>
            <a:endParaRPr lang="en-US" sz="1500" dirty="0"/>
          </a:p>
        </p:txBody>
      </p:sp>
      <p:sp>
        <p:nvSpPr>
          <p:cNvPr id="11" name="Text 8"/>
          <p:cNvSpPr txBox="1"/>
          <p:nvPr/>
        </p:nvSpPr>
        <p:spPr>
          <a:xfrm>
            <a:off x="3977640" y="2221992"/>
            <a:ext cx="3474720" cy="777240"/>
          </a:xfrm>
          <a:prstGeom prst="rect">
            <a:avLst/>
          </a:prstGeom>
          <a:noFill/>
          <a:ln/>
        </p:spPr>
        <p:txBody>
          <a:bodyPr wrap="square" lIns="0" tIns="0" rIns="0" bIns="0" rtlCol="0" anchor="t"/>
          <a:lstStyle/>
          <a:p>
            <a:pPr indent="0" marL="0">
              <a:buNone/>
            </a:pPr>
            <a:r>
              <a:rPr lang="en-US" sz="1400" dirty="0">
                <a:solidFill>
                  <a:schemeClr val="accent2"/>
                </a:solidFill>
              </a:rPr>
              <a:t>Google’s standard tier returned 503 UNAVAILABLE at peak times, failing queue jobs and stranding files.</a:t>
            </a:r>
            <a:endParaRPr lang="en-US" sz="1400" dirty="0"/>
          </a:p>
        </p:txBody>
      </p:sp>
      <p:sp>
        <p:nvSpPr>
          <p:cNvPr id="12" name="Text 9"/>
          <p:cNvSpPr txBox="1"/>
          <p:nvPr/>
        </p:nvSpPr>
        <p:spPr>
          <a:xfrm>
            <a:off x="7726680" y="2221992"/>
            <a:ext cx="3916375" cy="777240"/>
          </a:xfrm>
          <a:prstGeom prst="rect">
            <a:avLst/>
          </a:prstGeom>
          <a:noFill/>
          <a:ln/>
        </p:spPr>
        <p:txBody>
          <a:bodyPr wrap="square" lIns="0" tIns="0" rIns="0" bIns="0" rtlCol="0" anchor="t"/>
          <a:lstStyle/>
          <a:p>
            <a:pPr indent="0" marL="0">
              <a:buNone/>
            </a:pPr>
            <a:r>
              <a:rPr lang="en-US" sz="1400" dirty="0">
                <a:solidFill>
                  <a:schemeClr val="tx1"/>
                </a:solidFill>
              </a:rPr>
              <a:t>3-tier fallback with backoff and jitter:</a:t>
            </a:r>
            <a:pPr indent="0" marL="0">
              <a:buNone/>
            </a:pPr>
            <a:endParaRPr lang="en-US" sz="1400" dirty="0"/>
          </a:p>
          <a:p>
            <a:pPr indent="0" marL="0">
              <a:buNone/>
            </a:pPr>
            <a:r>
              <a:rPr lang="en-US" sz="1200" b="1" dirty="0">
                <a:solidFill>
                  <a:schemeClr val="tx1"/>
                </a:solidFill>
                <a:latin typeface="Courier New" pitchFamily="34" charset="0"/>
                <a:ea typeface="Courier New" pitchFamily="34" charset="-122"/>
                <a:cs typeface="Courier New" pitchFamily="34" charset="-120"/>
              </a:rPr>
              <a:t>gemini-3.6-flash → gemini-3.8-flash →</a:t>
            </a:r>
            <a:endParaRPr lang="en-US" sz="1400" dirty="0"/>
          </a:p>
          <a:p>
            <a:pPr indent="0" marL="0">
              <a:buNone/>
            </a:pPr>
            <a:r>
              <a:rPr lang="en-US" sz="1200" b="1" dirty="0">
                <a:solidFill>
                  <a:schemeClr val="tx1"/>
                </a:solidFill>
                <a:latin typeface="Courier New" pitchFamily="34" charset="0"/>
                <a:ea typeface="Courier New" pitchFamily="34" charset="-122"/>
                <a:cs typeface="Courier New" pitchFamily="34" charset="-120"/>
              </a:rPr>
              <a:t>gemini-3-flash-preview</a:t>
            </a:r>
            <a:endParaRPr lang="en-US" sz="1400" dirty="0"/>
          </a:p>
        </p:txBody>
      </p:sp>
      <p:sp>
        <p:nvSpPr>
          <p:cNvPr id="13" name="Shape 10"/>
          <p:cNvSpPr/>
          <p:nvPr/>
        </p:nvSpPr>
        <p:spPr>
          <a:xfrm>
            <a:off x="548640" y="3072384"/>
            <a:ext cx="11094415" cy="0"/>
          </a:xfrm>
          <a:prstGeom prst="line">
            <a:avLst/>
          </a:prstGeom>
          <a:noFill/>
          <a:ln w="9525">
            <a:solidFill>
              <a:schemeClr val="accent5"/>
            </a:solidFill>
            <a:prstDash val="solid"/>
          </a:ln>
        </p:spPr>
      </p:sp>
      <p:sp>
        <p:nvSpPr>
          <p:cNvPr id="14" name="Shape 11"/>
          <p:cNvSpPr/>
          <p:nvPr/>
        </p:nvSpPr>
        <p:spPr>
          <a:xfrm>
            <a:off x="548640" y="3255264"/>
            <a:ext cx="420624" cy="420624"/>
          </a:xfrm>
          <a:prstGeom prst="ellipse">
            <a:avLst/>
          </a:prstGeom>
          <a:solidFill>
            <a:schemeClr val="bg2"/>
          </a:solidFill>
          <a:ln/>
        </p:spPr>
      </p:sp>
      <p:pic>
        <p:nvPicPr>
          <p:cNvPr id="15" name="Image 1" descr="Icon">    </p:cNvPr>
          <p:cNvPicPr>
            <a:picLocks noChangeAspect="1"/>
          </p:cNvPicPr>
          <p:nvPr/>
        </p:nvPicPr>
        <p:blipFill>
          <a:blip r:embed="rId2"/>
          <a:stretch>
            <a:fillRect/>
          </a:stretch>
        </p:blipFill>
        <p:spPr>
          <a:xfrm>
            <a:off x="649590" y="3356214"/>
            <a:ext cx="218724" cy="218724"/>
          </a:xfrm>
          <a:prstGeom prst="rect">
            <a:avLst/>
          </a:prstGeom>
        </p:spPr>
      </p:pic>
      <p:sp>
        <p:nvSpPr>
          <p:cNvPr id="16" name="Text 12"/>
          <p:cNvSpPr txBox="1"/>
          <p:nvPr/>
        </p:nvSpPr>
        <p:spPr>
          <a:xfrm>
            <a:off x="1115568" y="3255264"/>
            <a:ext cx="2587752" cy="640080"/>
          </a:xfrm>
          <a:prstGeom prst="rect">
            <a:avLst/>
          </a:prstGeom>
          <a:noFill/>
          <a:ln/>
        </p:spPr>
        <p:txBody>
          <a:bodyPr wrap="square" lIns="0" tIns="0" rIns="0" bIns="0" rtlCol="0" anchor="t"/>
          <a:lstStyle/>
          <a:p>
            <a:pPr indent="0" marL="0">
              <a:buNone/>
            </a:pPr>
            <a:r>
              <a:rPr lang="en-US" sz="1500" b="1" dirty="0">
                <a:solidFill>
                  <a:schemeClr val="tx1"/>
                </a:solidFill>
              </a:rPr>
              <a:t>Serverless limits on 150-file batches</a:t>
            </a:r>
            <a:endParaRPr lang="en-US" sz="1500" dirty="0"/>
          </a:p>
        </p:txBody>
      </p:sp>
      <p:sp>
        <p:nvSpPr>
          <p:cNvPr id="17" name="Text 13"/>
          <p:cNvSpPr txBox="1"/>
          <p:nvPr/>
        </p:nvSpPr>
        <p:spPr>
          <a:xfrm>
            <a:off x="3977640" y="3255264"/>
            <a:ext cx="3474720" cy="777240"/>
          </a:xfrm>
          <a:prstGeom prst="rect">
            <a:avLst/>
          </a:prstGeom>
          <a:noFill/>
          <a:ln/>
        </p:spPr>
        <p:txBody>
          <a:bodyPr wrap="square" lIns="0" tIns="0" rIns="0" bIns="0" rtlCol="0" anchor="t"/>
          <a:lstStyle/>
          <a:p>
            <a:pPr indent="0" marL="0">
              <a:buNone/>
            </a:pPr>
            <a:r>
              <a:rPr lang="en-US" sz="1400" dirty="0">
                <a:solidFill>
                  <a:schemeClr val="accent2"/>
                </a:solidFill>
              </a:rPr>
              <a:t>Processing 150 PDFs inside a 60-second serverless budget got functions killed mid-batch.</a:t>
            </a:r>
            <a:endParaRPr lang="en-US" sz="1400" dirty="0"/>
          </a:p>
        </p:txBody>
      </p:sp>
      <p:sp>
        <p:nvSpPr>
          <p:cNvPr id="18" name="Text 14"/>
          <p:cNvSpPr txBox="1"/>
          <p:nvPr/>
        </p:nvSpPr>
        <p:spPr>
          <a:xfrm>
            <a:off x="7726680" y="3255264"/>
            <a:ext cx="3916375" cy="777240"/>
          </a:xfrm>
          <a:prstGeom prst="rect">
            <a:avLst/>
          </a:prstGeom>
          <a:noFill/>
          <a:ln/>
        </p:spPr>
        <p:txBody>
          <a:bodyPr wrap="square" lIns="0" tIns="0" rIns="0" bIns="0" rtlCol="0" anchor="t"/>
          <a:lstStyle/>
          <a:p>
            <a:pPr indent="0" marL="0">
              <a:buNone/>
            </a:pPr>
            <a:r>
              <a:rPr lang="en-US" sz="1400" dirty="0">
                <a:solidFill>
                  <a:schemeClr val="tx1"/>
                </a:solidFill>
              </a:rPr>
              <a:t>Sliding-window batching (max 4 uploads, 2 AI workers), Next.js </a:t>
            </a:r>
            <a:pPr indent="0" marL="0">
              <a:buNone/>
            </a:pPr>
            <a:r>
              <a:rPr lang="en-US" sz="1200" b="1" dirty="0">
                <a:solidFill>
                  <a:schemeClr val="tx1"/>
                </a:solidFill>
                <a:latin typeface="Courier New" pitchFamily="34" charset="0"/>
                <a:ea typeface="Courier New" pitchFamily="34" charset="-122"/>
                <a:cs typeface="Courier New" pitchFamily="34" charset="-120"/>
              </a:rPr>
              <a:t>after()</a:t>
            </a:r>
            <a:pPr indent="0" marL="0">
              <a:buNone/>
            </a:pPr>
            <a:r>
              <a:rPr lang="en-US" sz="1400" dirty="0">
                <a:solidFill>
                  <a:schemeClr val="tx1"/>
                </a:solidFill>
              </a:rPr>
              <a:t> execution and a </a:t>
            </a:r>
            <a:pPr indent="0" marL="0">
              <a:buNone/>
            </a:pPr>
            <a:r>
              <a:rPr lang="en-US" sz="1200" b="1" dirty="0">
                <a:solidFill>
                  <a:schemeClr val="tx1"/>
                </a:solidFill>
                <a:latin typeface="Courier New" pitchFamily="34" charset="0"/>
                <a:ea typeface="Courier New" pitchFamily="34" charset="-122"/>
                <a:cs typeface="Courier New" pitchFamily="34" charset="-120"/>
              </a:rPr>
              <a:t>pg_cron</a:t>
            </a:r>
            <a:pPr indent="0" marL="0">
              <a:buNone/>
            </a:pPr>
            <a:r>
              <a:rPr lang="en-US" sz="1400" dirty="0">
                <a:solidFill>
                  <a:schemeClr val="tx1"/>
                </a:solidFill>
              </a:rPr>
              <a:t> background consumer.</a:t>
            </a:r>
            <a:endParaRPr lang="en-US" sz="1400" dirty="0"/>
          </a:p>
        </p:txBody>
      </p:sp>
      <p:sp>
        <p:nvSpPr>
          <p:cNvPr id="19" name="Shape 15"/>
          <p:cNvSpPr/>
          <p:nvPr/>
        </p:nvSpPr>
        <p:spPr>
          <a:xfrm>
            <a:off x="548640" y="4105656"/>
            <a:ext cx="11094415" cy="0"/>
          </a:xfrm>
          <a:prstGeom prst="line">
            <a:avLst/>
          </a:prstGeom>
          <a:noFill/>
          <a:ln w="9525">
            <a:solidFill>
              <a:schemeClr val="accent5"/>
            </a:solidFill>
            <a:prstDash val="solid"/>
          </a:ln>
        </p:spPr>
      </p:sp>
      <p:sp>
        <p:nvSpPr>
          <p:cNvPr id="20" name="Shape 16"/>
          <p:cNvSpPr/>
          <p:nvPr/>
        </p:nvSpPr>
        <p:spPr>
          <a:xfrm>
            <a:off x="548640" y="4288536"/>
            <a:ext cx="420624" cy="420624"/>
          </a:xfrm>
          <a:prstGeom prst="ellipse">
            <a:avLst/>
          </a:prstGeom>
          <a:solidFill>
            <a:schemeClr val="bg2"/>
          </a:solidFill>
          <a:ln/>
        </p:spPr>
      </p:sp>
      <p:pic>
        <p:nvPicPr>
          <p:cNvPr id="21" name="Image 2" descr="Icon">    </p:cNvPr>
          <p:cNvPicPr>
            <a:picLocks noChangeAspect="1"/>
          </p:cNvPicPr>
          <p:nvPr/>
        </p:nvPicPr>
        <p:blipFill>
          <a:blip r:embed="rId3"/>
          <a:stretch>
            <a:fillRect/>
          </a:stretch>
        </p:blipFill>
        <p:spPr>
          <a:xfrm>
            <a:off x="649590" y="4389486"/>
            <a:ext cx="218724" cy="218724"/>
          </a:xfrm>
          <a:prstGeom prst="rect">
            <a:avLst/>
          </a:prstGeom>
        </p:spPr>
      </p:pic>
      <p:sp>
        <p:nvSpPr>
          <p:cNvPr id="22" name="Text 17"/>
          <p:cNvSpPr txBox="1"/>
          <p:nvPr/>
        </p:nvSpPr>
        <p:spPr>
          <a:xfrm>
            <a:off x="1115568" y="4288536"/>
            <a:ext cx="2587752" cy="640080"/>
          </a:xfrm>
          <a:prstGeom prst="rect">
            <a:avLst/>
          </a:prstGeom>
          <a:noFill/>
          <a:ln/>
        </p:spPr>
        <p:txBody>
          <a:bodyPr wrap="square" lIns="0" tIns="0" rIns="0" bIns="0" rtlCol="0" anchor="t"/>
          <a:lstStyle/>
          <a:p>
            <a:pPr indent="0" marL="0">
              <a:buNone/>
            </a:pPr>
            <a:r>
              <a:rPr lang="en-US" sz="1500" b="1" dirty="0">
                <a:solidFill>
                  <a:schemeClr val="tx1"/>
                </a:solidFill>
              </a:rPr>
              <a:t>Race conditions under concurrent uploads</a:t>
            </a:r>
            <a:endParaRPr lang="en-US" sz="1500" dirty="0"/>
          </a:p>
        </p:txBody>
      </p:sp>
      <p:sp>
        <p:nvSpPr>
          <p:cNvPr id="23" name="Text 18"/>
          <p:cNvSpPr txBox="1"/>
          <p:nvPr/>
        </p:nvSpPr>
        <p:spPr>
          <a:xfrm>
            <a:off x="3977640" y="4288536"/>
            <a:ext cx="3474720" cy="777240"/>
          </a:xfrm>
          <a:prstGeom prst="rect">
            <a:avLst/>
          </a:prstGeom>
          <a:noFill/>
          <a:ln/>
        </p:spPr>
        <p:txBody>
          <a:bodyPr wrap="square" lIns="0" tIns="0" rIns="0" bIns="0" rtlCol="0" anchor="t"/>
          <a:lstStyle/>
          <a:p>
            <a:pPr indent="0" marL="0">
              <a:buNone/>
            </a:pPr>
            <a:r>
              <a:rPr lang="en-US" sz="1400" dirty="0">
                <a:solidFill>
                  <a:schemeClr val="accent2"/>
                </a:solidFill>
              </a:rPr>
              <a:t>Simultaneous confirmations created duplicate rows and let users slip past their storage quota.</a:t>
            </a:r>
            <a:endParaRPr lang="en-US" sz="1400" dirty="0"/>
          </a:p>
        </p:txBody>
      </p:sp>
      <p:sp>
        <p:nvSpPr>
          <p:cNvPr id="24" name="Text 19"/>
          <p:cNvSpPr txBox="1"/>
          <p:nvPr/>
        </p:nvSpPr>
        <p:spPr>
          <a:xfrm>
            <a:off x="7726680" y="4288536"/>
            <a:ext cx="3916375" cy="777240"/>
          </a:xfrm>
          <a:prstGeom prst="rect">
            <a:avLst/>
          </a:prstGeom>
          <a:noFill/>
          <a:ln/>
        </p:spPr>
        <p:txBody>
          <a:bodyPr wrap="square" lIns="0" tIns="0" rIns="0" bIns="0" rtlCol="0" anchor="t"/>
          <a:lstStyle/>
          <a:p>
            <a:pPr indent="0" marL="0">
              <a:buNone/>
            </a:pPr>
            <a:r>
              <a:rPr lang="en-US" sz="1400" dirty="0">
                <a:solidFill>
                  <a:schemeClr val="tx1"/>
                </a:solidFill>
              </a:rPr>
              <a:t>Transactional </a:t>
            </a:r>
            <a:pPr indent="0" marL="0">
              <a:buNone/>
            </a:pPr>
            <a:r>
              <a:rPr lang="en-US" sz="1200" b="1" dirty="0">
                <a:solidFill>
                  <a:schemeClr val="tx1"/>
                </a:solidFill>
                <a:latin typeface="Courier New" pitchFamily="34" charset="0"/>
                <a:ea typeface="Courier New" pitchFamily="34" charset="-122"/>
                <a:cs typeface="Courier New" pitchFamily="34" charset="-120"/>
              </a:rPr>
              <a:t>pg_advisory_xact_lock(user_id)</a:t>
            </a:r>
            <a:pPr indent="0" marL="0">
              <a:buNone/>
            </a:pPr>
            <a:r>
              <a:rPr lang="en-US" sz="1400" dirty="0">
                <a:solidFill>
                  <a:schemeClr val="tx1"/>
                </a:solidFill>
              </a:rPr>
              <a:t> plus atomic SKIP LOCKED queue claims with UUID fencing leases.</a:t>
            </a:r>
            <a:endParaRPr lang="en-US" sz="1400" dirty="0"/>
          </a:p>
        </p:txBody>
      </p:sp>
      <p:sp>
        <p:nvSpPr>
          <p:cNvPr id="25" name="Shape 20"/>
          <p:cNvSpPr/>
          <p:nvPr/>
        </p:nvSpPr>
        <p:spPr>
          <a:xfrm>
            <a:off x="548640" y="5138928"/>
            <a:ext cx="11094415" cy="0"/>
          </a:xfrm>
          <a:prstGeom prst="line">
            <a:avLst/>
          </a:prstGeom>
          <a:noFill/>
          <a:ln w="9525">
            <a:solidFill>
              <a:schemeClr val="accent5"/>
            </a:solidFill>
            <a:prstDash val="solid"/>
          </a:ln>
        </p:spPr>
      </p:sp>
      <p:sp>
        <p:nvSpPr>
          <p:cNvPr id="26" name="Shape 21"/>
          <p:cNvSpPr/>
          <p:nvPr/>
        </p:nvSpPr>
        <p:spPr>
          <a:xfrm>
            <a:off x="548640" y="5321808"/>
            <a:ext cx="420624" cy="420624"/>
          </a:xfrm>
          <a:prstGeom prst="ellipse">
            <a:avLst/>
          </a:prstGeom>
          <a:solidFill>
            <a:schemeClr val="bg2"/>
          </a:solidFill>
          <a:ln/>
        </p:spPr>
      </p:sp>
      <p:pic>
        <p:nvPicPr>
          <p:cNvPr id="27" name="Image 3" descr="Icon">    </p:cNvPr>
          <p:cNvPicPr>
            <a:picLocks noChangeAspect="1"/>
          </p:cNvPicPr>
          <p:nvPr/>
        </p:nvPicPr>
        <p:blipFill>
          <a:blip r:embed="rId4"/>
          <a:stretch>
            <a:fillRect/>
          </a:stretch>
        </p:blipFill>
        <p:spPr>
          <a:xfrm>
            <a:off x="649590" y="5422758"/>
            <a:ext cx="218724" cy="218724"/>
          </a:xfrm>
          <a:prstGeom prst="rect">
            <a:avLst/>
          </a:prstGeom>
        </p:spPr>
      </p:pic>
      <p:sp>
        <p:nvSpPr>
          <p:cNvPr id="28" name="Text 22"/>
          <p:cNvSpPr txBox="1"/>
          <p:nvPr/>
        </p:nvSpPr>
        <p:spPr>
          <a:xfrm>
            <a:off x="1115568" y="5321808"/>
            <a:ext cx="2587752" cy="640080"/>
          </a:xfrm>
          <a:prstGeom prst="rect">
            <a:avLst/>
          </a:prstGeom>
          <a:noFill/>
          <a:ln/>
        </p:spPr>
        <p:txBody>
          <a:bodyPr wrap="square" lIns="0" tIns="0" rIns="0" bIns="0" rtlCol="0" anchor="t"/>
          <a:lstStyle/>
          <a:p>
            <a:pPr indent="0" marL="0">
              <a:buNone/>
            </a:pPr>
            <a:r>
              <a:rPr lang="en-US" sz="1500" b="1" dirty="0">
                <a:solidFill>
                  <a:schemeClr val="tx1"/>
                </a:solidFill>
              </a:rPr>
              <a:t>Optimising PDFs without corrupting them</a:t>
            </a:r>
            <a:endParaRPr lang="en-US" sz="1500" dirty="0"/>
          </a:p>
        </p:txBody>
      </p:sp>
      <p:sp>
        <p:nvSpPr>
          <p:cNvPr id="29" name="Text 23"/>
          <p:cNvSpPr txBox="1"/>
          <p:nvPr/>
        </p:nvSpPr>
        <p:spPr>
          <a:xfrm>
            <a:off x="3977640" y="5321808"/>
            <a:ext cx="3474720" cy="777240"/>
          </a:xfrm>
          <a:prstGeom prst="rect">
            <a:avLst/>
          </a:prstGeom>
          <a:noFill/>
          <a:ln/>
        </p:spPr>
        <p:txBody>
          <a:bodyPr wrap="square" lIns="0" tIns="0" rIns="0" bIns="0" rtlCol="0" anchor="t"/>
          <a:lstStyle/>
          <a:p>
            <a:pPr indent="0" marL="0">
              <a:buNone/>
            </a:pPr>
            <a:r>
              <a:rPr lang="en-US" sz="1400" dirty="0">
                <a:solidFill>
                  <a:schemeClr val="accent2"/>
                </a:solidFill>
              </a:rPr>
              <a:t>Compressing signed or encrypted PDFs breaks their signatures and can leave files unreadable.</a:t>
            </a:r>
            <a:endParaRPr lang="en-US" sz="1400" dirty="0"/>
          </a:p>
        </p:txBody>
      </p:sp>
      <p:sp>
        <p:nvSpPr>
          <p:cNvPr id="30" name="Text 24"/>
          <p:cNvSpPr txBox="1"/>
          <p:nvPr/>
        </p:nvSpPr>
        <p:spPr>
          <a:xfrm>
            <a:off x="7726680" y="5321808"/>
            <a:ext cx="3916375" cy="777240"/>
          </a:xfrm>
          <a:prstGeom prst="rect">
            <a:avLst/>
          </a:prstGeom>
          <a:noFill/>
          <a:ln/>
        </p:spPr>
        <p:txBody>
          <a:bodyPr wrap="square" lIns="0" tIns="0" rIns="0" bIns="0" rtlCol="0" anchor="t"/>
          <a:lstStyle/>
          <a:p>
            <a:pPr indent="0" marL="0">
              <a:buNone/>
            </a:pPr>
            <a:r>
              <a:rPr lang="en-US" sz="1400" dirty="0">
                <a:solidFill>
                  <a:schemeClr val="tx1"/>
                </a:solidFill>
              </a:rPr>
              <a:t>Pre-checks detect </a:t>
            </a:r>
            <a:pPr indent="0" marL="0">
              <a:buNone/>
            </a:pPr>
            <a:r>
              <a:rPr lang="en-US" sz="1200" b="1" dirty="0">
                <a:solidFill>
                  <a:schemeClr val="tx1"/>
                </a:solidFill>
                <a:latin typeface="Courier New" pitchFamily="34" charset="0"/>
                <a:ea typeface="Courier New" pitchFamily="34" charset="-122"/>
                <a:cs typeface="Courier New" pitchFamily="34" charset="-120"/>
              </a:rPr>
              <a:t>/ByteRange</a:t>
            </a:r>
            <a:pPr indent="0" marL="0">
              <a:buNone/>
            </a:pPr>
            <a:r>
              <a:rPr lang="en-US" sz="1400" dirty="0">
                <a:solidFill>
                  <a:schemeClr val="tx1"/>
                </a:solidFill>
              </a:rPr>
              <a:t> signatures and </a:t>
            </a:r>
            <a:pPr indent="0" marL="0">
              <a:buNone/>
            </a:pPr>
            <a:r>
              <a:rPr lang="en-US" sz="1200" b="1" dirty="0">
                <a:solidFill>
                  <a:schemeClr val="tx1"/>
                </a:solidFill>
                <a:latin typeface="Courier New" pitchFamily="34" charset="0"/>
                <a:ea typeface="Courier New" pitchFamily="34" charset="-122"/>
                <a:cs typeface="Courier New" pitchFamily="34" charset="-120"/>
              </a:rPr>
              <a:t>/Encrypt</a:t>
            </a:r>
            <a:pPr indent="0" marL="0">
              <a:buNone/>
            </a:pPr>
            <a:r>
              <a:rPr lang="en-US" sz="1400" dirty="0">
                <a:solidFill>
                  <a:schemeClr val="tx1"/>
                </a:solidFill>
              </a:rPr>
              <a:t> dictionaries and skip those files; everything else is optimised.</a:t>
            </a:r>
            <a:endParaRPr lang="en-US" sz="1400" dirty="0"/>
          </a:p>
        </p:txBody>
      </p:sp>
      <p:sp>
        <p:nvSpPr>
          <p:cNvPr id="31" name="Shape 25"/>
          <p:cNvSpPr/>
          <p:nvPr/>
        </p:nvSpPr>
        <p:spPr>
          <a:xfrm>
            <a:off x="548640" y="6172200"/>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Roadmap: from vault to knowledge platform</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What we plan to build next to make FileMind enterprise-ready.</a:t>
            </a:r>
            <a:endParaRPr lang="en-US" sz="1500" dirty="0"/>
          </a:p>
        </p:txBody>
      </p:sp>
      <p:sp>
        <p:nvSpPr>
          <p:cNvPr id="4" name="Shape 2"/>
          <p:cNvSpPr/>
          <p:nvPr/>
        </p:nvSpPr>
        <p:spPr>
          <a:xfrm>
            <a:off x="850392" y="1892808"/>
            <a:ext cx="0" cy="3584448"/>
          </a:xfrm>
          <a:prstGeom prst="line">
            <a:avLst/>
          </a:prstGeom>
          <a:noFill/>
          <a:ln w="9525">
            <a:solidFill>
              <a:srgbClr val="B8BEC7"/>
            </a:solidFill>
            <a:prstDash val="solid"/>
          </a:ln>
        </p:spPr>
      </p:sp>
      <p:sp>
        <p:nvSpPr>
          <p:cNvPr id="5" name="Shape 3"/>
          <p:cNvSpPr/>
          <p:nvPr/>
        </p:nvSpPr>
        <p:spPr>
          <a:xfrm>
            <a:off x="731520" y="1801368"/>
            <a:ext cx="237744" cy="237744"/>
          </a:xfrm>
          <a:prstGeom prst="ellipse">
            <a:avLst/>
          </a:prstGeom>
          <a:solidFill>
            <a:schemeClr val="accent1"/>
          </a:solidFill>
          <a:ln w="12700">
            <a:solidFill>
              <a:schemeClr val="accent1"/>
            </a:solidFill>
            <a:prstDash val="solid"/>
          </a:ln>
        </p:spPr>
      </p:sp>
      <p:sp>
        <p:nvSpPr>
          <p:cNvPr id="6" name="Text 4"/>
          <p:cNvSpPr txBox="1"/>
          <p:nvPr/>
        </p:nvSpPr>
        <p:spPr>
          <a:xfrm>
            <a:off x="1234440" y="1810512"/>
            <a:ext cx="169164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PHASE 01 · LIVE</a:t>
            </a:r>
            <a:endParaRPr lang="en-US" sz="1050" dirty="0"/>
          </a:p>
        </p:txBody>
      </p:sp>
      <p:sp>
        <p:nvSpPr>
          <p:cNvPr id="7" name="Text 5"/>
          <p:cNvSpPr txBox="1"/>
          <p:nvPr/>
        </p:nvSpPr>
        <p:spPr>
          <a:xfrm>
            <a:off x="3017520" y="1783080"/>
            <a:ext cx="8625535" cy="292608"/>
          </a:xfrm>
          <a:prstGeom prst="rect">
            <a:avLst/>
          </a:prstGeom>
          <a:noFill/>
          <a:ln/>
        </p:spPr>
        <p:txBody>
          <a:bodyPr wrap="square" lIns="0" tIns="0" rIns="0" bIns="0" rtlCol="0" anchor="t"/>
          <a:lstStyle/>
          <a:p>
            <a:pPr indent="0" marL="0">
              <a:buNone/>
            </a:pPr>
            <a:r>
              <a:rPr lang="en-US" sz="1600" b="1" dirty="0">
                <a:solidFill>
                  <a:schemeClr val="tx1"/>
                </a:solidFill>
              </a:rPr>
              <a:t>AI document vault</a:t>
            </a:r>
            <a:endParaRPr lang="en-US" sz="1600" dirty="0"/>
          </a:p>
        </p:txBody>
      </p:sp>
      <p:sp>
        <p:nvSpPr>
          <p:cNvPr id="8" name="Text 6"/>
          <p:cNvSpPr txBox="1"/>
          <p:nvPr/>
        </p:nvSpPr>
        <p:spPr>
          <a:xfrm>
            <a:off x="3017520" y="2093976"/>
            <a:ext cx="8625535" cy="502920"/>
          </a:xfrm>
          <a:prstGeom prst="rect">
            <a:avLst/>
          </a:prstGeom>
          <a:noFill/>
          <a:ln/>
        </p:spPr>
        <p:txBody>
          <a:bodyPr wrap="square" lIns="0" tIns="0" rIns="0" bIns="0" rtlCol="0" anchor="t"/>
          <a:lstStyle/>
          <a:p>
            <a:pPr indent="0" marL="0">
              <a:buNone/>
            </a:pPr>
            <a:r>
              <a:rPr lang="en-US" sz="1400" dirty="0">
                <a:solidFill>
                  <a:schemeClr val="accent2"/>
                </a:solidFill>
              </a:rPr>
              <a:t>Batch ingestion, Gemini extraction, semantic search and RLS isolation: everything shown in this deck.</a:t>
            </a:r>
            <a:endParaRPr lang="en-US" sz="1400" dirty="0"/>
          </a:p>
        </p:txBody>
      </p:sp>
      <p:sp>
        <p:nvSpPr>
          <p:cNvPr id="9" name="Shape 7"/>
          <p:cNvSpPr/>
          <p:nvPr/>
        </p:nvSpPr>
        <p:spPr>
          <a:xfrm>
            <a:off x="731520" y="2697480"/>
            <a:ext cx="237744" cy="237744"/>
          </a:xfrm>
          <a:prstGeom prst="ellipse">
            <a:avLst/>
          </a:prstGeom>
          <a:solidFill>
            <a:schemeClr val="bg1"/>
          </a:solidFill>
          <a:ln w="12700">
            <a:solidFill>
              <a:schemeClr val="tx1"/>
            </a:solidFill>
            <a:prstDash val="solid"/>
          </a:ln>
        </p:spPr>
      </p:sp>
      <p:sp>
        <p:nvSpPr>
          <p:cNvPr id="10" name="Text 8"/>
          <p:cNvSpPr txBox="1"/>
          <p:nvPr/>
        </p:nvSpPr>
        <p:spPr>
          <a:xfrm>
            <a:off x="1234440" y="2706624"/>
            <a:ext cx="169164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PHASE 02</a:t>
            </a:r>
            <a:endParaRPr lang="en-US" sz="1050" dirty="0"/>
          </a:p>
        </p:txBody>
      </p:sp>
      <p:sp>
        <p:nvSpPr>
          <p:cNvPr id="11" name="Text 9"/>
          <p:cNvSpPr txBox="1"/>
          <p:nvPr/>
        </p:nvSpPr>
        <p:spPr>
          <a:xfrm>
            <a:off x="3017520" y="2679192"/>
            <a:ext cx="8625535" cy="292608"/>
          </a:xfrm>
          <a:prstGeom prst="rect">
            <a:avLst/>
          </a:prstGeom>
          <a:noFill/>
          <a:ln/>
        </p:spPr>
        <p:txBody>
          <a:bodyPr wrap="square" lIns="0" tIns="0" rIns="0" bIns="0" rtlCol="0" anchor="t"/>
          <a:lstStyle/>
          <a:p>
            <a:pPr indent="0" marL="0">
              <a:buNone/>
            </a:pPr>
            <a:r>
              <a:rPr lang="en-US" sz="1600" b="1" dirty="0">
                <a:solidFill>
                  <a:schemeClr val="tx1"/>
                </a:solidFill>
              </a:rPr>
              <a:t>Cross-document synthesis &amp; multi-PDF Q&amp;A</a:t>
            </a:r>
            <a:endParaRPr lang="en-US" sz="1600" dirty="0"/>
          </a:p>
        </p:txBody>
      </p:sp>
      <p:sp>
        <p:nvSpPr>
          <p:cNvPr id="12" name="Text 10"/>
          <p:cNvSpPr txBox="1"/>
          <p:nvPr/>
        </p:nvSpPr>
        <p:spPr>
          <a:xfrm>
            <a:off x="3017520" y="2990088"/>
            <a:ext cx="8625535" cy="502920"/>
          </a:xfrm>
          <a:prstGeom prst="rect">
            <a:avLst/>
          </a:prstGeom>
          <a:noFill/>
          <a:ln/>
        </p:spPr>
        <p:txBody>
          <a:bodyPr wrap="square" lIns="0" tIns="0" rIns="0" bIns="0" rtlCol="0" anchor="t"/>
          <a:lstStyle/>
          <a:p>
            <a:pPr indent="0" marL="0">
              <a:buNone/>
            </a:pPr>
            <a:r>
              <a:rPr lang="en-US" sz="1400" dirty="0">
                <a:solidFill>
                  <a:schemeClr val="accent2"/>
                </a:solidFill>
              </a:rPr>
              <a:t>Ask one question across the whole vault, e.g. ‘Compare revenue growth and profit margins across the Q1, Q2 and Q3 reports’, and get a comparative summary.</a:t>
            </a:r>
            <a:endParaRPr lang="en-US" sz="1400" dirty="0"/>
          </a:p>
        </p:txBody>
      </p:sp>
      <p:sp>
        <p:nvSpPr>
          <p:cNvPr id="13" name="Shape 11"/>
          <p:cNvSpPr/>
          <p:nvPr/>
        </p:nvSpPr>
        <p:spPr>
          <a:xfrm>
            <a:off x="731520" y="3593592"/>
            <a:ext cx="237744" cy="237744"/>
          </a:xfrm>
          <a:prstGeom prst="ellipse">
            <a:avLst/>
          </a:prstGeom>
          <a:solidFill>
            <a:schemeClr val="bg1"/>
          </a:solidFill>
          <a:ln w="12700">
            <a:solidFill>
              <a:schemeClr val="tx1"/>
            </a:solidFill>
            <a:prstDash val="solid"/>
          </a:ln>
        </p:spPr>
      </p:sp>
      <p:sp>
        <p:nvSpPr>
          <p:cNvPr id="14" name="Text 12"/>
          <p:cNvSpPr txBox="1"/>
          <p:nvPr/>
        </p:nvSpPr>
        <p:spPr>
          <a:xfrm>
            <a:off x="1234440" y="3602736"/>
            <a:ext cx="169164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PHASE 03</a:t>
            </a:r>
            <a:endParaRPr lang="en-US" sz="1050" dirty="0"/>
          </a:p>
        </p:txBody>
      </p:sp>
      <p:sp>
        <p:nvSpPr>
          <p:cNvPr id="15" name="Text 13"/>
          <p:cNvSpPr txBox="1"/>
          <p:nvPr/>
        </p:nvSpPr>
        <p:spPr>
          <a:xfrm>
            <a:off x="3017520" y="3575304"/>
            <a:ext cx="8625535" cy="292608"/>
          </a:xfrm>
          <a:prstGeom prst="rect">
            <a:avLst/>
          </a:prstGeom>
          <a:noFill/>
          <a:ln/>
        </p:spPr>
        <p:txBody>
          <a:bodyPr wrap="square" lIns="0" tIns="0" rIns="0" bIns="0" rtlCol="0" anchor="t"/>
          <a:lstStyle/>
          <a:p>
            <a:pPr indent="0" marL="0">
              <a:buNone/>
            </a:pPr>
            <a:r>
              <a:rPr lang="en-US" sz="1600" b="1" dirty="0">
                <a:solidFill>
                  <a:schemeClr val="tx1"/>
                </a:solidFill>
              </a:rPr>
              <a:t>Visual citations &amp; bounding-box viewer</a:t>
            </a:r>
            <a:endParaRPr lang="en-US" sz="1600" dirty="0"/>
          </a:p>
        </p:txBody>
      </p:sp>
      <p:sp>
        <p:nvSpPr>
          <p:cNvPr id="16" name="Text 14"/>
          <p:cNvSpPr txBox="1"/>
          <p:nvPr/>
        </p:nvSpPr>
        <p:spPr>
          <a:xfrm>
            <a:off x="3017520" y="3886200"/>
            <a:ext cx="8625535" cy="502920"/>
          </a:xfrm>
          <a:prstGeom prst="rect">
            <a:avLst/>
          </a:prstGeom>
          <a:noFill/>
          <a:ln/>
        </p:spPr>
        <p:txBody>
          <a:bodyPr wrap="square" lIns="0" tIns="0" rIns="0" bIns="0" rtlCol="0" anchor="t"/>
          <a:lstStyle/>
          <a:p>
            <a:pPr indent="0" marL="0">
              <a:buNone/>
            </a:pPr>
            <a:r>
              <a:rPr lang="en-US" sz="1400" dirty="0">
                <a:solidFill>
                  <a:schemeClr val="accent2"/>
                </a:solidFill>
              </a:rPr>
              <a:t>Highlight the exact sentence and bounding box on the original PDF page for every generated answer, so each citation can be verified.</a:t>
            </a:r>
            <a:endParaRPr lang="en-US" sz="1400" dirty="0"/>
          </a:p>
        </p:txBody>
      </p:sp>
      <p:sp>
        <p:nvSpPr>
          <p:cNvPr id="17" name="Shape 15"/>
          <p:cNvSpPr/>
          <p:nvPr/>
        </p:nvSpPr>
        <p:spPr>
          <a:xfrm>
            <a:off x="731520" y="4489704"/>
            <a:ext cx="237744" cy="237744"/>
          </a:xfrm>
          <a:prstGeom prst="ellipse">
            <a:avLst/>
          </a:prstGeom>
          <a:solidFill>
            <a:schemeClr val="bg1"/>
          </a:solidFill>
          <a:ln w="12700">
            <a:solidFill>
              <a:schemeClr val="tx1"/>
            </a:solidFill>
            <a:prstDash val="solid"/>
          </a:ln>
        </p:spPr>
      </p:sp>
      <p:sp>
        <p:nvSpPr>
          <p:cNvPr id="18" name="Text 16"/>
          <p:cNvSpPr txBox="1"/>
          <p:nvPr/>
        </p:nvSpPr>
        <p:spPr>
          <a:xfrm>
            <a:off x="1234440" y="4498848"/>
            <a:ext cx="169164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PHASE 04</a:t>
            </a:r>
            <a:endParaRPr lang="en-US" sz="1050" dirty="0"/>
          </a:p>
        </p:txBody>
      </p:sp>
      <p:sp>
        <p:nvSpPr>
          <p:cNvPr id="19" name="Text 17"/>
          <p:cNvSpPr txBox="1"/>
          <p:nvPr/>
        </p:nvSpPr>
        <p:spPr>
          <a:xfrm>
            <a:off x="3017520" y="4471416"/>
            <a:ext cx="8625535" cy="292608"/>
          </a:xfrm>
          <a:prstGeom prst="rect">
            <a:avLst/>
          </a:prstGeom>
          <a:noFill/>
          <a:ln/>
        </p:spPr>
        <p:txBody>
          <a:bodyPr wrap="square" lIns="0" tIns="0" rIns="0" bIns="0" rtlCol="0" anchor="t"/>
          <a:lstStyle/>
          <a:p>
            <a:pPr indent="0" marL="0">
              <a:buNone/>
            </a:pPr>
            <a:r>
              <a:rPr lang="en-US" sz="1600" b="1" dirty="0">
                <a:solidFill>
                  <a:schemeClr val="tx1"/>
                </a:solidFill>
              </a:rPr>
              <a:t>Local &amp; air-gapped LLM execution</a:t>
            </a:r>
            <a:endParaRPr lang="en-US" sz="1600" dirty="0"/>
          </a:p>
        </p:txBody>
      </p:sp>
      <p:sp>
        <p:nvSpPr>
          <p:cNvPr id="20" name="Text 18"/>
          <p:cNvSpPr txBox="1"/>
          <p:nvPr/>
        </p:nvSpPr>
        <p:spPr>
          <a:xfrm>
            <a:off x="3017520" y="4782312"/>
            <a:ext cx="8625535" cy="502920"/>
          </a:xfrm>
          <a:prstGeom prst="rect">
            <a:avLst/>
          </a:prstGeom>
          <a:noFill/>
          <a:ln/>
        </p:spPr>
        <p:txBody>
          <a:bodyPr wrap="square" lIns="0" tIns="0" rIns="0" bIns="0" rtlCol="0" anchor="t"/>
          <a:lstStyle/>
          <a:p>
            <a:pPr indent="0" marL="0">
              <a:buNone/>
            </a:pPr>
            <a:r>
              <a:rPr lang="en-US" sz="1400" dirty="0">
                <a:solidFill>
                  <a:schemeClr val="accent2"/>
                </a:solidFill>
              </a:rPr>
              <a:t>Ollama and vLLM integration for fully offline inference in sensitive legal, defence and HIPAA-regulated medical environments.</a:t>
            </a:r>
            <a:endParaRPr lang="en-US" sz="1400" dirty="0"/>
          </a:p>
        </p:txBody>
      </p:sp>
      <p:sp>
        <p:nvSpPr>
          <p:cNvPr id="21" name="Shape 19"/>
          <p:cNvSpPr/>
          <p:nvPr/>
        </p:nvSpPr>
        <p:spPr>
          <a:xfrm>
            <a:off x="731520" y="5385816"/>
            <a:ext cx="237744" cy="237744"/>
          </a:xfrm>
          <a:prstGeom prst="ellipse">
            <a:avLst/>
          </a:prstGeom>
          <a:solidFill>
            <a:schemeClr val="bg1"/>
          </a:solidFill>
          <a:ln w="12700">
            <a:solidFill>
              <a:schemeClr val="tx1"/>
            </a:solidFill>
            <a:prstDash val="solid"/>
          </a:ln>
        </p:spPr>
      </p:sp>
      <p:sp>
        <p:nvSpPr>
          <p:cNvPr id="22" name="Text 20"/>
          <p:cNvSpPr txBox="1"/>
          <p:nvPr/>
        </p:nvSpPr>
        <p:spPr>
          <a:xfrm>
            <a:off x="1234440" y="5394960"/>
            <a:ext cx="169164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PHASE 05</a:t>
            </a:r>
            <a:endParaRPr lang="en-US" sz="1050" dirty="0"/>
          </a:p>
        </p:txBody>
      </p:sp>
      <p:sp>
        <p:nvSpPr>
          <p:cNvPr id="23" name="Text 21"/>
          <p:cNvSpPr txBox="1"/>
          <p:nvPr/>
        </p:nvSpPr>
        <p:spPr>
          <a:xfrm>
            <a:off x="3017520" y="5367528"/>
            <a:ext cx="8625535" cy="292608"/>
          </a:xfrm>
          <a:prstGeom prst="rect">
            <a:avLst/>
          </a:prstGeom>
          <a:noFill/>
          <a:ln/>
        </p:spPr>
        <p:txBody>
          <a:bodyPr wrap="square" lIns="0" tIns="0" rIns="0" bIns="0" rtlCol="0" anchor="t"/>
          <a:lstStyle/>
          <a:p>
            <a:pPr indent="0" marL="0">
              <a:buNone/>
            </a:pPr>
            <a:r>
              <a:rPr lang="en-US" sz="1600" b="1" dirty="0">
                <a:solidFill>
                  <a:schemeClr val="tx1"/>
                </a:solidFill>
              </a:rPr>
              <a:t>Team workspaces &amp; role-based access</a:t>
            </a:r>
            <a:endParaRPr lang="en-US" sz="1600" dirty="0"/>
          </a:p>
        </p:txBody>
      </p:sp>
      <p:sp>
        <p:nvSpPr>
          <p:cNvPr id="24" name="Text 22"/>
          <p:cNvSpPr txBox="1"/>
          <p:nvPr/>
        </p:nvSpPr>
        <p:spPr>
          <a:xfrm>
            <a:off x="3017520" y="5678424"/>
            <a:ext cx="8625535" cy="502920"/>
          </a:xfrm>
          <a:prstGeom prst="rect">
            <a:avLst/>
          </a:prstGeom>
          <a:noFill/>
          <a:ln/>
        </p:spPr>
        <p:txBody>
          <a:bodyPr wrap="square" lIns="0" tIns="0" rIns="0" bIns="0" rtlCol="0" anchor="t"/>
          <a:lstStyle/>
          <a:p>
            <a:pPr indent="0" marL="0">
              <a:buNone/>
            </a:pPr>
            <a:r>
              <a:rPr lang="en-US" sz="1400" dirty="0">
                <a:solidFill>
                  <a:schemeClr val="accent2"/>
                </a:solidFill>
              </a:rPr>
              <a:t>Admin, Contributor and Read-only Reviewer roles, with cryptographic audit logs of document access and metadata changes.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21792"/>
          </a:xfrm>
          <a:prstGeom prst="rect">
            <a:avLst/>
          </a:prstGeom>
          <a:noFill/>
          <a:ln/>
        </p:spPr>
        <p:txBody>
          <a:bodyPr wrap="square" lIns="0" tIns="0" rIns="0" bIns="0" rtlCol="0" anchor="t"/>
          <a:lstStyle/>
          <a:p>
            <a:pPr algn="l" indent="0" marL="0">
              <a:buNone/>
            </a:pPr>
            <a:r>
              <a:rPr lang="en-US" sz="3400" b="1" dirty="0">
                <a:solidFill>
                  <a:schemeClr val="tx1"/>
                </a:solidFill>
              </a:rPr>
              <a:t>Live demo: what you’ll see</a:t>
            </a:r>
            <a:endParaRPr lang="en-US" sz="3400" dirty="0"/>
          </a:p>
        </p:txBody>
      </p:sp>
      <p:sp>
        <p:nvSpPr>
          <p:cNvPr id="3" name="Text 0"/>
          <p:cNvSpPr/>
          <p:nvPr>
            <p:ph idx="101" type="body" hasCustomPrompt="1"/>
          </p:nvPr>
        </p:nvSpPr>
        <p:spPr>
          <a:xfrm>
            <a:off x="548640" y="1042416"/>
            <a:ext cx="11094415" cy="365760"/>
          </a:xfrm>
          <a:prstGeom prst="rect">
            <a:avLst/>
          </a:prstGeom>
          <a:noFill/>
          <a:ln/>
        </p:spPr>
        <p:txBody>
          <a:bodyPr wrap="square" lIns="0" tIns="0" rIns="0" bIns="0" rtlCol="0" anchor="t"/>
          <a:lstStyle/>
          <a:p>
            <a:pPr indent="0" marL="0">
              <a:buNone/>
            </a:pPr>
            <a:r>
              <a:rPr lang="en-US" sz="1500" dirty="0">
                <a:solidFill>
                  <a:schemeClr val="accent2"/>
                </a:solidFill>
              </a:rPr>
              <a:t>We’ll run the app live with a real batch of invoices, research papers and legal agreements.</a:t>
            </a:r>
            <a:endParaRPr lang="en-US" sz="1500" dirty="0"/>
          </a:p>
        </p:txBody>
      </p:sp>
      <p:sp>
        <p:nvSpPr>
          <p:cNvPr id="4" name="Shape 2"/>
          <p:cNvSpPr/>
          <p:nvPr/>
        </p:nvSpPr>
        <p:spPr>
          <a:xfrm>
            <a:off x="548640" y="1810512"/>
            <a:ext cx="566928" cy="566928"/>
          </a:xfrm>
          <a:prstGeom prst="ellipse">
            <a:avLst/>
          </a:prstGeom>
          <a:solidFill>
            <a:schemeClr val="accent1"/>
          </a:solidFill>
          <a:ln/>
        </p:spPr>
      </p:sp>
      <p:sp>
        <p:nvSpPr>
          <p:cNvPr id="5" name="Text 3"/>
          <p:cNvSpPr txBox="1"/>
          <p:nvPr/>
        </p:nvSpPr>
        <p:spPr>
          <a:xfrm>
            <a:off x="548640" y="1810512"/>
            <a:ext cx="566928" cy="566928"/>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1371600" y="1828800"/>
            <a:ext cx="6035040" cy="329184"/>
          </a:xfrm>
          <a:prstGeom prst="rect">
            <a:avLst/>
          </a:prstGeom>
          <a:noFill/>
          <a:ln/>
        </p:spPr>
        <p:txBody>
          <a:bodyPr wrap="square" lIns="0" tIns="0" rIns="0" bIns="0" rtlCol="0" anchor="t"/>
          <a:lstStyle/>
          <a:p>
            <a:pPr indent="0" marL="0">
              <a:buNone/>
            </a:pPr>
            <a:r>
              <a:rPr lang="en-US" sz="1800" b="1" dirty="0">
                <a:solidFill>
                  <a:schemeClr val="tx1"/>
                </a:solidFill>
              </a:rPr>
              <a:t>Live ingestion walkthrough</a:t>
            </a:r>
            <a:endParaRPr lang="en-US" sz="1800" dirty="0"/>
          </a:p>
        </p:txBody>
      </p:sp>
      <p:sp>
        <p:nvSpPr>
          <p:cNvPr id="7" name="Text 5"/>
          <p:cNvSpPr txBox="1"/>
          <p:nvPr/>
        </p:nvSpPr>
        <p:spPr>
          <a:xfrm>
            <a:off x="1371600" y="2212848"/>
            <a:ext cx="5852160" cy="685800"/>
          </a:xfrm>
          <a:prstGeom prst="rect">
            <a:avLst/>
          </a:prstGeom>
          <a:noFill/>
          <a:ln/>
        </p:spPr>
        <p:txBody>
          <a:bodyPr wrap="square" lIns="0" tIns="0" rIns="0" bIns="0" rtlCol="0" anchor="t"/>
          <a:lstStyle/>
          <a:p>
            <a:pPr indent="0" marL="0">
              <a:buNone/>
            </a:pPr>
            <a:r>
              <a:rPr lang="en-US" sz="1400" dirty="0">
                <a:solidFill>
                  <a:schemeClr val="accent2"/>
                </a:solidFill>
              </a:rPr>
              <a:t>Drag a mixed batch of test invoices, papers and contracts into the running web app and watch per-file progress.</a:t>
            </a:r>
            <a:endParaRPr lang="en-US" sz="1400" dirty="0"/>
          </a:p>
        </p:txBody>
      </p:sp>
      <p:sp>
        <p:nvSpPr>
          <p:cNvPr id="8" name="Shape 6"/>
          <p:cNvSpPr/>
          <p:nvPr/>
        </p:nvSpPr>
        <p:spPr>
          <a:xfrm>
            <a:off x="548640" y="3227832"/>
            <a:ext cx="566928" cy="566928"/>
          </a:xfrm>
          <a:prstGeom prst="ellipse">
            <a:avLst/>
          </a:prstGeom>
          <a:solidFill>
            <a:schemeClr val="accent1"/>
          </a:solidFill>
          <a:ln/>
        </p:spPr>
      </p:sp>
      <p:sp>
        <p:nvSpPr>
          <p:cNvPr id="9" name="Text 7"/>
          <p:cNvSpPr txBox="1"/>
          <p:nvPr/>
        </p:nvSpPr>
        <p:spPr>
          <a:xfrm>
            <a:off x="548640" y="3227832"/>
            <a:ext cx="566928" cy="566928"/>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371600" y="3246120"/>
            <a:ext cx="6035040" cy="329184"/>
          </a:xfrm>
          <a:prstGeom prst="rect">
            <a:avLst/>
          </a:prstGeom>
          <a:noFill/>
          <a:ln/>
        </p:spPr>
        <p:txBody>
          <a:bodyPr wrap="square" lIns="0" tIns="0" rIns="0" bIns="0" rtlCol="0" anchor="t"/>
          <a:lstStyle/>
          <a:p>
            <a:pPr indent="0" marL="0">
              <a:buNone/>
            </a:pPr>
            <a:r>
              <a:rPr lang="en-US" sz="1800" b="1" dirty="0">
                <a:solidFill>
                  <a:schemeClr val="tx1"/>
                </a:solidFill>
              </a:rPr>
              <a:t>Real-time multimodal extraction</a:t>
            </a:r>
            <a:endParaRPr lang="en-US" sz="1800" dirty="0"/>
          </a:p>
        </p:txBody>
      </p:sp>
      <p:sp>
        <p:nvSpPr>
          <p:cNvPr id="11" name="Text 9"/>
          <p:cNvSpPr txBox="1"/>
          <p:nvPr/>
        </p:nvSpPr>
        <p:spPr>
          <a:xfrm>
            <a:off x="1371600" y="3630168"/>
            <a:ext cx="5852160" cy="685800"/>
          </a:xfrm>
          <a:prstGeom prst="rect">
            <a:avLst/>
          </a:prstGeom>
          <a:noFill/>
          <a:ln/>
        </p:spPr>
        <p:txBody>
          <a:bodyPr wrap="square" lIns="0" tIns="0" rIns="0" bIns="0" rtlCol="0" anchor="t"/>
          <a:lstStyle/>
          <a:p>
            <a:pPr indent="0" marL="0">
              <a:buNone/>
            </a:pPr>
            <a:r>
              <a:rPr lang="en-US" sz="1400" dirty="0">
                <a:solidFill>
                  <a:schemeClr val="accent2"/>
                </a:solidFill>
              </a:rPr>
              <a:t>See Gemini classify each document, extract structured key-values and index pages on the fly.</a:t>
            </a:r>
            <a:endParaRPr lang="en-US" sz="1400" dirty="0"/>
          </a:p>
        </p:txBody>
      </p:sp>
      <p:sp>
        <p:nvSpPr>
          <p:cNvPr id="12" name="Shape 10"/>
          <p:cNvSpPr/>
          <p:nvPr/>
        </p:nvSpPr>
        <p:spPr>
          <a:xfrm>
            <a:off x="548640" y="4645152"/>
            <a:ext cx="566928" cy="566928"/>
          </a:xfrm>
          <a:prstGeom prst="ellipse">
            <a:avLst/>
          </a:prstGeom>
          <a:solidFill>
            <a:schemeClr val="accent1"/>
          </a:solidFill>
          <a:ln/>
        </p:spPr>
      </p:sp>
      <p:sp>
        <p:nvSpPr>
          <p:cNvPr id="13" name="Text 11"/>
          <p:cNvSpPr txBox="1"/>
          <p:nvPr/>
        </p:nvSpPr>
        <p:spPr>
          <a:xfrm>
            <a:off x="548640" y="4645152"/>
            <a:ext cx="566928" cy="566928"/>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3</a:t>
            </a:r>
            <a:endParaRPr lang="en-US" sz="2000" dirty="0"/>
          </a:p>
        </p:txBody>
      </p:sp>
      <p:sp>
        <p:nvSpPr>
          <p:cNvPr id="14" name="Text 12"/>
          <p:cNvSpPr txBox="1"/>
          <p:nvPr/>
        </p:nvSpPr>
        <p:spPr>
          <a:xfrm>
            <a:off x="1371600" y="4663440"/>
            <a:ext cx="6035040" cy="329184"/>
          </a:xfrm>
          <a:prstGeom prst="rect">
            <a:avLst/>
          </a:prstGeom>
          <a:noFill/>
          <a:ln/>
        </p:spPr>
        <p:txBody>
          <a:bodyPr wrap="square" lIns="0" tIns="0" rIns="0" bIns="0" rtlCol="0" anchor="t"/>
          <a:lstStyle/>
          <a:p>
            <a:pPr indent="0" marL="0">
              <a:buNone/>
            </a:pPr>
            <a:r>
              <a:rPr lang="en-US" sz="1800" b="1" dirty="0">
                <a:solidFill>
                  <a:schemeClr val="tx1"/>
                </a:solidFill>
              </a:rPr>
              <a:t>Semantic search &amp; snippet matching</a:t>
            </a:r>
            <a:endParaRPr lang="en-US" sz="1800" dirty="0"/>
          </a:p>
        </p:txBody>
      </p:sp>
      <p:sp>
        <p:nvSpPr>
          <p:cNvPr id="15" name="Text 13"/>
          <p:cNvSpPr txBox="1"/>
          <p:nvPr/>
        </p:nvSpPr>
        <p:spPr>
          <a:xfrm>
            <a:off x="1371600" y="5047488"/>
            <a:ext cx="5852160" cy="685800"/>
          </a:xfrm>
          <a:prstGeom prst="rect">
            <a:avLst/>
          </a:prstGeom>
          <a:noFill/>
          <a:ln/>
        </p:spPr>
        <p:txBody>
          <a:bodyPr wrap="square" lIns="0" tIns="0" rIns="0" bIns="0" rtlCol="0" anchor="t"/>
          <a:lstStyle/>
          <a:p>
            <a:pPr indent="0" marL="0">
              <a:buNone/>
            </a:pPr>
            <a:r>
              <a:rPr lang="en-US" sz="1400" dirty="0">
                <a:solidFill>
                  <a:schemeClr val="accent2"/>
                </a:solidFill>
              </a:rPr>
              <a:t>Search by concept in plain language and get sub-200 ms vector results with highlighted snippets.</a:t>
            </a:r>
            <a:endParaRPr lang="en-US" sz="1400" dirty="0"/>
          </a:p>
        </p:txBody>
      </p:sp>
      <p:sp>
        <p:nvSpPr>
          <p:cNvPr id="16" name="Shape 14"/>
          <p:cNvSpPr/>
          <p:nvPr/>
        </p:nvSpPr>
        <p:spPr>
          <a:xfrm>
            <a:off x="7589520" y="1764792"/>
            <a:ext cx="4053535" cy="4160520"/>
          </a:xfrm>
          <a:prstGeom prst="roundRect">
            <a:avLst>
              <a:gd name="adj" fmla="val 2707"/>
            </a:avLst>
          </a:prstGeom>
          <a:solidFill>
            <a:schemeClr val="bg2"/>
          </a:solidFill>
          <a:ln/>
        </p:spPr>
      </p:sp>
      <p:sp>
        <p:nvSpPr>
          <p:cNvPr id="17" name="Text 15"/>
          <p:cNvSpPr txBox="1"/>
          <p:nvPr/>
        </p:nvSpPr>
        <p:spPr>
          <a:xfrm>
            <a:off x="7955280" y="2112264"/>
            <a:ext cx="3322015"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TRY IT YOURSELF</a:t>
            </a:r>
            <a:endParaRPr lang="en-US" sz="1050" dirty="0"/>
          </a:p>
        </p:txBody>
      </p:sp>
      <p:sp>
        <p:nvSpPr>
          <p:cNvPr id="18" name="Text 16"/>
          <p:cNvSpPr txBox="1"/>
          <p:nvPr/>
        </p:nvSpPr>
        <p:spPr>
          <a:xfrm>
            <a:off x="7955280" y="2386584"/>
            <a:ext cx="3322015" cy="365760"/>
          </a:xfrm>
          <a:prstGeom prst="rect">
            <a:avLst/>
          </a:prstGeom>
          <a:noFill/>
          <a:ln/>
        </p:spPr>
        <p:txBody>
          <a:bodyPr wrap="square" lIns="0" tIns="0" rIns="0" bIns="0" rtlCol="0" anchor="t"/>
          <a:lstStyle/>
          <a:p>
            <a:pPr indent="0" marL="0">
              <a:buNone/>
            </a:pPr>
            <a:r>
              <a:rPr lang="en-US" sz="2000" b="1" dirty="0">
                <a:solidFill>
                  <a:schemeClr val="tx1"/>
                </a:solidFill>
              </a:rPr>
              <a:t>Resources</a:t>
            </a:r>
            <a:endParaRPr lang="en-US" sz="2000" dirty="0"/>
          </a:p>
        </p:txBody>
      </p:sp>
      <p:sp>
        <p:nvSpPr>
          <p:cNvPr id="19" name="Shape 17"/>
          <p:cNvSpPr/>
          <p:nvPr/>
        </p:nvSpPr>
        <p:spPr>
          <a:xfrm>
            <a:off x="7955280" y="3090672"/>
            <a:ext cx="420624" cy="420624"/>
          </a:xfrm>
          <a:prstGeom prst="ellipse">
            <a:avLst/>
          </a:prstGeom>
          <a:solidFill>
            <a:schemeClr val="bg1"/>
          </a:solidFill>
          <a:ln/>
        </p:spPr>
      </p:sp>
      <p:pic>
        <p:nvPicPr>
          <p:cNvPr id="20" name="Image 0" descr="Icon">    </p:cNvPr>
          <p:cNvPicPr>
            <a:picLocks noChangeAspect="1"/>
          </p:cNvPicPr>
          <p:nvPr/>
        </p:nvPicPr>
        <p:blipFill>
          <a:blip r:embed="rId1"/>
          <a:stretch>
            <a:fillRect/>
          </a:stretch>
        </p:blipFill>
        <p:spPr>
          <a:xfrm>
            <a:off x="8060436" y="3195828"/>
            <a:ext cx="210312" cy="210312"/>
          </a:xfrm>
          <a:prstGeom prst="rect">
            <a:avLst/>
          </a:prstGeom>
        </p:spPr>
      </p:pic>
      <p:sp>
        <p:nvSpPr>
          <p:cNvPr id="21" name="Text 18"/>
          <p:cNvSpPr txBox="1"/>
          <p:nvPr/>
        </p:nvSpPr>
        <p:spPr>
          <a:xfrm>
            <a:off x="8522208" y="3063240"/>
            <a:ext cx="2773375" cy="256032"/>
          </a:xfrm>
          <a:prstGeom prst="rect">
            <a:avLst/>
          </a:prstGeom>
          <a:noFill/>
          <a:ln/>
        </p:spPr>
        <p:txBody>
          <a:bodyPr wrap="square" lIns="0" tIns="0" rIns="0" bIns="0" rtlCol="0" anchor="t"/>
          <a:lstStyle/>
          <a:p>
            <a:pPr indent="0" marL="0">
              <a:buNone/>
            </a:pPr>
            <a:r>
              <a:rPr lang="en-US" sz="1300" dirty="0">
                <a:solidFill>
                  <a:schemeClr val="accent2"/>
                </a:solidFill>
              </a:rPr>
              <a:t>Source code</a:t>
            </a:r>
            <a:endParaRPr lang="en-US" sz="1300" dirty="0"/>
          </a:p>
        </p:txBody>
      </p:sp>
      <p:sp>
        <p:nvSpPr>
          <p:cNvPr id="22" name="Text 19"/>
          <p:cNvSpPr txBox="1"/>
          <p:nvPr/>
        </p:nvSpPr>
        <p:spPr>
          <a:xfrm>
            <a:off x="8522208" y="3319272"/>
            <a:ext cx="2956255" cy="457200"/>
          </a:xfrm>
          <a:prstGeom prst="rect">
            <a:avLst/>
          </a:prstGeom>
          <a:noFill/>
          <a:ln/>
        </p:spPr>
        <p:txBody>
          <a:bodyPr wrap="square" lIns="0" tIns="0" rIns="0" bIns="0" rtlCol="0" anchor="t"/>
          <a:lstStyle/>
          <a:p>
            <a:pPr indent="0" marL="0">
              <a:buNone/>
            </a:pPr>
            <a:r>
              <a:rPr lang="en-US" sz="950" b="1" dirty="0">
                <a:solidFill>
                  <a:schemeClr val="tx1"/>
                </a:solidFill>
                <a:latin typeface="Courier New" pitchFamily="34" charset="0"/>
                <a:ea typeface="Courier New" pitchFamily="34" charset="-122"/>
                <a:cs typeface="Courier New" pitchFamily="34" charset="-120"/>
              </a:rPr>
              <a:t>github.com/jitendarswami63-ai/file-mind</a:t>
            </a:r>
            <a:endParaRPr lang="en-US" sz="1200" dirty="0"/>
          </a:p>
        </p:txBody>
      </p:sp>
      <p:sp>
        <p:nvSpPr>
          <p:cNvPr id="23" name="Shape 20"/>
          <p:cNvSpPr/>
          <p:nvPr/>
        </p:nvSpPr>
        <p:spPr>
          <a:xfrm>
            <a:off x="7955280" y="3986784"/>
            <a:ext cx="420624" cy="420624"/>
          </a:xfrm>
          <a:prstGeom prst="ellipse">
            <a:avLst/>
          </a:prstGeom>
          <a:solidFill>
            <a:schemeClr val="bg1"/>
          </a:solidFill>
          <a:ln/>
        </p:spPr>
      </p:sp>
      <p:pic>
        <p:nvPicPr>
          <p:cNvPr id="24" name="Image 1" descr="Icon">    </p:cNvPr>
          <p:cNvPicPr>
            <a:picLocks noChangeAspect="1"/>
          </p:cNvPicPr>
          <p:nvPr/>
        </p:nvPicPr>
        <p:blipFill>
          <a:blip r:embed="rId2"/>
          <a:stretch>
            <a:fillRect/>
          </a:stretch>
        </p:blipFill>
        <p:spPr>
          <a:xfrm>
            <a:off x="8060436" y="4091940"/>
            <a:ext cx="210312" cy="210312"/>
          </a:xfrm>
          <a:prstGeom prst="rect">
            <a:avLst/>
          </a:prstGeom>
        </p:spPr>
      </p:pic>
      <p:sp>
        <p:nvSpPr>
          <p:cNvPr id="25" name="Text 21"/>
          <p:cNvSpPr txBox="1"/>
          <p:nvPr/>
        </p:nvSpPr>
        <p:spPr>
          <a:xfrm>
            <a:off x="8522208" y="3959352"/>
            <a:ext cx="2773375" cy="256032"/>
          </a:xfrm>
          <a:prstGeom prst="rect">
            <a:avLst/>
          </a:prstGeom>
          <a:noFill/>
          <a:ln/>
        </p:spPr>
        <p:txBody>
          <a:bodyPr wrap="square" lIns="0" tIns="0" rIns="0" bIns="0" rtlCol="0" anchor="t"/>
          <a:lstStyle/>
          <a:p>
            <a:pPr indent="0" marL="0">
              <a:buNone/>
            </a:pPr>
            <a:r>
              <a:rPr lang="en-US" sz="1300" dirty="0">
                <a:solidFill>
                  <a:schemeClr val="accent2"/>
                </a:solidFill>
              </a:rPr>
              <a:t>Live demo</a:t>
            </a:r>
            <a:endParaRPr lang="en-US" sz="1300" dirty="0"/>
          </a:p>
        </p:txBody>
      </p:sp>
      <p:sp>
        <p:nvSpPr>
          <p:cNvPr id="26" name="Text 22"/>
          <p:cNvSpPr txBox="1"/>
          <p:nvPr/>
        </p:nvSpPr>
        <p:spPr>
          <a:xfrm>
            <a:off x="8522208" y="4215384"/>
            <a:ext cx="2956255" cy="45720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filemind.vercel.app</a:t>
            </a:r>
            <a:endParaRPr lang="en-US" sz="1200" dirty="0"/>
          </a:p>
        </p:txBody>
      </p:sp>
      <p:sp>
        <p:nvSpPr>
          <p:cNvPr id="27" name="Shape 23"/>
          <p:cNvSpPr/>
          <p:nvPr/>
        </p:nvSpPr>
        <p:spPr>
          <a:xfrm>
            <a:off x="7955280" y="4882896"/>
            <a:ext cx="420624" cy="420624"/>
          </a:xfrm>
          <a:prstGeom prst="ellipse">
            <a:avLst/>
          </a:prstGeom>
          <a:solidFill>
            <a:schemeClr val="bg1"/>
          </a:solidFill>
          <a:ln/>
        </p:spPr>
      </p:sp>
      <p:pic>
        <p:nvPicPr>
          <p:cNvPr id="28" name="Image 2" descr="Icon">    </p:cNvPr>
          <p:cNvPicPr>
            <a:picLocks noChangeAspect="1"/>
          </p:cNvPicPr>
          <p:nvPr/>
        </p:nvPicPr>
        <p:blipFill>
          <a:blip r:embed="rId3"/>
          <a:stretch>
            <a:fillRect/>
          </a:stretch>
        </p:blipFill>
        <p:spPr>
          <a:xfrm>
            <a:off x="8060436" y="4988052"/>
            <a:ext cx="210312" cy="210312"/>
          </a:xfrm>
          <a:prstGeom prst="rect">
            <a:avLst/>
          </a:prstGeom>
        </p:spPr>
      </p:pic>
      <p:sp>
        <p:nvSpPr>
          <p:cNvPr id="29" name="Text 24"/>
          <p:cNvSpPr txBox="1"/>
          <p:nvPr/>
        </p:nvSpPr>
        <p:spPr>
          <a:xfrm>
            <a:off x="8522208" y="4855464"/>
            <a:ext cx="2773375" cy="256032"/>
          </a:xfrm>
          <a:prstGeom prst="rect">
            <a:avLst/>
          </a:prstGeom>
          <a:noFill/>
          <a:ln/>
        </p:spPr>
        <p:txBody>
          <a:bodyPr wrap="square" lIns="0" tIns="0" rIns="0" bIns="0" rtlCol="0" anchor="t"/>
          <a:lstStyle/>
          <a:p>
            <a:pPr indent="0" marL="0">
              <a:buNone/>
            </a:pPr>
            <a:r>
              <a:rPr lang="en-US" sz="1300" dirty="0">
                <a:solidFill>
                  <a:schemeClr val="accent2"/>
                </a:solidFill>
              </a:rPr>
              <a:t>Test documents</a:t>
            </a:r>
            <a:endParaRPr lang="en-US" sz="1300" dirty="0"/>
          </a:p>
        </p:txBody>
      </p:sp>
      <p:sp>
        <p:nvSpPr>
          <p:cNvPr id="30" name="Text 25"/>
          <p:cNvSpPr txBox="1"/>
          <p:nvPr/>
        </p:nvSpPr>
        <p:spPr>
          <a:xfrm>
            <a:off x="8522208" y="5111496"/>
            <a:ext cx="2956255" cy="457200"/>
          </a:xfrm>
          <a:prstGeom prst="rect">
            <a:avLst/>
          </a:prstGeom>
          <a:noFill/>
          <a:ln/>
        </p:spPr>
        <p:txBody>
          <a:bodyPr wrap="square" lIns="0" tIns="0" rIns="0" bIns="0" rtlCol="0" anchor="t"/>
          <a:lstStyle/>
          <a:p>
            <a:pPr indent="0" marL="0">
              <a:buNone/>
            </a:pPr>
            <a:r>
              <a:rPr lang="en-US" sz="1300" dirty="0">
                <a:solidFill>
                  <a:schemeClr val="tx1"/>
                </a:solidFill>
              </a:rPr>
              <a:t>Invoices, research papers and legal agreements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960120"/>
            <a:ext cx="11094415" cy="701040"/>
          </a:xfrm>
          <a:prstGeom prst="rect">
            <a:avLst/>
          </a:prstGeom>
          <a:noFill/>
          <a:ln/>
        </p:spPr>
        <p:txBody>
          <a:bodyPr wrap="square" lIns="0" tIns="0" rIns="0" bIns="0" rtlCol="0" anchor="t"/>
          <a:lstStyle/>
          <a:p>
            <a:pPr indent="0" marL="0">
              <a:buNone/>
            </a:pPr>
            <a:r>
              <a:rPr lang="en-US" sz="4600" b="1" dirty="0">
                <a:solidFill>
                  <a:schemeClr val="tx1"/>
                </a:solidFill>
                <a:latin typeface="Arial" pitchFamily="34" charset="0"/>
                <a:ea typeface="Arial" pitchFamily="34" charset="-122"/>
                <a:cs typeface="Arial" pitchFamily="34" charset="-120"/>
              </a:rPr>
              <a:t>Stop searching for documents.</a:t>
            </a:r>
            <a:endParaRPr lang="en-US" sz="4600" dirty="0"/>
          </a:p>
        </p:txBody>
      </p:sp>
      <p:sp>
        <p:nvSpPr>
          <p:cNvPr id="3" name="Shape 1"/>
          <p:cNvSpPr/>
          <p:nvPr/>
        </p:nvSpPr>
        <p:spPr>
          <a:xfrm>
            <a:off x="2006892" y="1912366"/>
            <a:ext cx="4517212" cy="373888"/>
          </a:xfrm>
          <a:prstGeom prst="rect">
            <a:avLst/>
          </a:prstGeom>
          <a:solidFill>
            <a:schemeClr val="accent1"/>
          </a:solidFill>
          <a:ln/>
        </p:spPr>
      </p:sp>
      <p:sp>
        <p:nvSpPr>
          <p:cNvPr id="4" name="Text 2"/>
          <p:cNvSpPr txBox="1"/>
          <p:nvPr/>
        </p:nvSpPr>
        <p:spPr>
          <a:xfrm>
            <a:off x="548640" y="1661160"/>
            <a:ext cx="11094415" cy="701040"/>
          </a:xfrm>
          <a:prstGeom prst="rect">
            <a:avLst/>
          </a:prstGeom>
          <a:noFill/>
          <a:ln/>
        </p:spPr>
        <p:txBody>
          <a:bodyPr wrap="square" lIns="0" tIns="0" rIns="0" bIns="0" rtlCol="0" anchor="t"/>
          <a:lstStyle/>
          <a:p>
            <a:pPr indent="0" marL="0">
              <a:buNone/>
            </a:pPr>
            <a:r>
              <a:rPr lang="en-US" sz="4600" b="1" dirty="0">
                <a:solidFill>
                  <a:schemeClr val="tx1"/>
                </a:solidFill>
                <a:latin typeface="Arial" pitchFamily="34" charset="0"/>
                <a:ea typeface="Arial" pitchFamily="34" charset="-122"/>
                <a:cs typeface="Arial" pitchFamily="34" charset="-120"/>
              </a:rPr>
              <a:t>Start finding answers.</a:t>
            </a:r>
            <a:endParaRPr lang="en-US" sz="4600" dirty="0"/>
          </a:p>
        </p:txBody>
      </p:sp>
      <p:sp>
        <p:nvSpPr>
          <p:cNvPr id="5" name="Shape 3"/>
          <p:cNvSpPr/>
          <p:nvPr/>
        </p:nvSpPr>
        <p:spPr>
          <a:xfrm>
            <a:off x="548640" y="3063240"/>
            <a:ext cx="2567864" cy="2240280"/>
          </a:xfrm>
          <a:prstGeom prst="roundRect">
            <a:avLst>
              <a:gd name="adj" fmla="val 4898"/>
            </a:avLst>
          </a:prstGeom>
          <a:solidFill>
            <a:schemeClr val="bg2"/>
          </a:solidFill>
          <a:ln/>
        </p:spPr>
      </p:sp>
      <p:sp>
        <p:nvSpPr>
          <p:cNvPr id="6" name="Shape 4"/>
          <p:cNvSpPr/>
          <p:nvPr/>
        </p:nvSpPr>
        <p:spPr>
          <a:xfrm>
            <a:off x="822960" y="3337560"/>
            <a:ext cx="457200" cy="457200"/>
          </a:xfrm>
          <a:prstGeom prst="ellipse">
            <a:avLst/>
          </a:prstGeom>
          <a:solidFill>
            <a:schemeClr val="bg1"/>
          </a:solidFill>
          <a:ln/>
        </p:spPr>
      </p:sp>
      <p:pic>
        <p:nvPicPr>
          <p:cNvPr id="7" name="Image 0" descr="Icon">    </p:cNvPr>
          <p:cNvPicPr>
            <a:picLocks noChangeAspect="1"/>
          </p:cNvPicPr>
          <p:nvPr/>
        </p:nvPicPr>
        <p:blipFill>
          <a:blip r:embed="rId1"/>
          <a:stretch>
            <a:fillRect/>
          </a:stretch>
        </p:blipFill>
        <p:spPr>
          <a:xfrm>
            <a:off x="937260" y="3451860"/>
            <a:ext cx="228600" cy="228600"/>
          </a:xfrm>
          <a:prstGeom prst="rect">
            <a:avLst/>
          </a:prstGeom>
        </p:spPr>
      </p:pic>
      <p:sp>
        <p:nvSpPr>
          <p:cNvPr id="8" name="Text 5"/>
          <p:cNvSpPr txBox="1"/>
          <p:nvPr/>
        </p:nvSpPr>
        <p:spPr>
          <a:xfrm>
            <a:off x="822960" y="3959352"/>
            <a:ext cx="2019224" cy="310896"/>
          </a:xfrm>
          <a:prstGeom prst="rect">
            <a:avLst/>
          </a:prstGeom>
          <a:noFill/>
          <a:ln/>
        </p:spPr>
        <p:txBody>
          <a:bodyPr wrap="square" lIns="0" tIns="0" rIns="0" bIns="0" rtlCol="0" anchor="t"/>
          <a:lstStyle/>
          <a:p>
            <a:pPr indent="0" marL="0">
              <a:buNone/>
            </a:pPr>
            <a:r>
              <a:rPr lang="en-US" sz="1600" b="1" dirty="0">
                <a:solidFill>
                  <a:schemeClr val="tx1"/>
                </a:solidFill>
              </a:rPr>
              <a:t>Problem solved</a:t>
            </a:r>
            <a:endParaRPr lang="en-US" sz="1600" dirty="0"/>
          </a:p>
        </p:txBody>
      </p:sp>
      <p:sp>
        <p:nvSpPr>
          <p:cNvPr id="9" name="Text 6"/>
          <p:cNvSpPr txBox="1"/>
          <p:nvPr/>
        </p:nvSpPr>
        <p:spPr>
          <a:xfrm>
            <a:off x="822960" y="4306824"/>
            <a:ext cx="2019224" cy="868680"/>
          </a:xfrm>
          <a:prstGeom prst="rect">
            <a:avLst/>
          </a:prstGeom>
          <a:noFill/>
          <a:ln/>
        </p:spPr>
        <p:txBody>
          <a:bodyPr wrap="square" lIns="0" tIns="0" rIns="0" bIns="0" rtlCol="0" anchor="t"/>
          <a:lstStyle/>
          <a:p>
            <a:pPr indent="0" marL="0">
              <a:buNone/>
            </a:pPr>
            <a:r>
              <a:rPr lang="en-US" sz="1400" dirty="0">
                <a:solidFill>
                  <a:schemeClr val="accent2"/>
                </a:solidFill>
              </a:rPr>
              <a:t>Passive, unsearchable folders become an active AI document vault.</a:t>
            </a:r>
            <a:endParaRPr lang="en-US" sz="1400" dirty="0"/>
          </a:p>
        </p:txBody>
      </p:sp>
      <p:sp>
        <p:nvSpPr>
          <p:cNvPr id="10" name="Shape 7"/>
          <p:cNvSpPr/>
          <p:nvPr/>
        </p:nvSpPr>
        <p:spPr>
          <a:xfrm>
            <a:off x="3390824" y="3063240"/>
            <a:ext cx="2567864" cy="2240280"/>
          </a:xfrm>
          <a:prstGeom prst="roundRect">
            <a:avLst>
              <a:gd name="adj" fmla="val 4898"/>
            </a:avLst>
          </a:prstGeom>
          <a:solidFill>
            <a:schemeClr val="bg2"/>
          </a:solidFill>
          <a:ln/>
        </p:spPr>
      </p:sp>
      <p:sp>
        <p:nvSpPr>
          <p:cNvPr id="11" name="Shape 8"/>
          <p:cNvSpPr/>
          <p:nvPr/>
        </p:nvSpPr>
        <p:spPr>
          <a:xfrm>
            <a:off x="3665144" y="3337560"/>
            <a:ext cx="457200" cy="457200"/>
          </a:xfrm>
          <a:prstGeom prst="ellipse">
            <a:avLst/>
          </a:prstGeom>
          <a:solidFill>
            <a:schemeClr val="bg1"/>
          </a:solidFill>
          <a:ln/>
        </p:spPr>
      </p:sp>
      <p:pic>
        <p:nvPicPr>
          <p:cNvPr id="12" name="Image 1" descr="Icon">    </p:cNvPr>
          <p:cNvPicPr>
            <a:picLocks noChangeAspect="1"/>
          </p:cNvPicPr>
          <p:nvPr/>
        </p:nvPicPr>
        <p:blipFill>
          <a:blip r:embed="rId2"/>
          <a:stretch>
            <a:fillRect/>
          </a:stretch>
        </p:blipFill>
        <p:spPr>
          <a:xfrm>
            <a:off x="3779444" y="3451860"/>
            <a:ext cx="228600" cy="228600"/>
          </a:xfrm>
          <a:prstGeom prst="rect">
            <a:avLst/>
          </a:prstGeom>
        </p:spPr>
      </p:pic>
      <p:sp>
        <p:nvSpPr>
          <p:cNvPr id="13" name="Text 9"/>
          <p:cNvSpPr txBox="1"/>
          <p:nvPr/>
        </p:nvSpPr>
        <p:spPr>
          <a:xfrm>
            <a:off x="3665144" y="3959352"/>
            <a:ext cx="2019224" cy="310896"/>
          </a:xfrm>
          <a:prstGeom prst="rect">
            <a:avLst/>
          </a:prstGeom>
          <a:noFill/>
          <a:ln/>
        </p:spPr>
        <p:txBody>
          <a:bodyPr wrap="square" lIns="0" tIns="0" rIns="0" bIns="0" rtlCol="0" anchor="t"/>
          <a:lstStyle/>
          <a:p>
            <a:pPr indent="0" marL="0">
              <a:buNone/>
            </a:pPr>
            <a:r>
              <a:rPr lang="en-US" sz="1600" b="1" dirty="0">
                <a:solidFill>
                  <a:schemeClr val="tx1"/>
                </a:solidFill>
              </a:rPr>
              <a:t>Production quality</a:t>
            </a:r>
            <a:endParaRPr lang="en-US" sz="1600" dirty="0"/>
          </a:p>
        </p:txBody>
      </p:sp>
      <p:sp>
        <p:nvSpPr>
          <p:cNvPr id="14" name="Text 10"/>
          <p:cNvSpPr txBox="1"/>
          <p:nvPr/>
        </p:nvSpPr>
        <p:spPr>
          <a:xfrm>
            <a:off x="3665144" y="4306824"/>
            <a:ext cx="2019224" cy="868680"/>
          </a:xfrm>
          <a:prstGeom prst="rect">
            <a:avLst/>
          </a:prstGeom>
          <a:noFill/>
          <a:ln/>
        </p:spPr>
        <p:txBody>
          <a:bodyPr wrap="square" lIns="0" tIns="0" rIns="0" bIns="0" rtlCol="0" anchor="t"/>
          <a:lstStyle/>
          <a:p>
            <a:pPr indent="0" marL="0">
              <a:buNone/>
            </a:pPr>
            <a:r>
              <a:rPr lang="en-US" sz="1400" dirty="0">
                <a:solidFill>
                  <a:schemeClr val="accent2"/>
                </a:solidFill>
              </a:rPr>
              <a:t>Next.js 16, Supabase PostgreSQL and Gemini, backed by test suites.</a:t>
            </a:r>
            <a:endParaRPr lang="en-US" sz="1400" dirty="0"/>
          </a:p>
        </p:txBody>
      </p:sp>
      <p:sp>
        <p:nvSpPr>
          <p:cNvPr id="15" name="Shape 11"/>
          <p:cNvSpPr/>
          <p:nvPr/>
        </p:nvSpPr>
        <p:spPr>
          <a:xfrm>
            <a:off x="6233008" y="3063240"/>
            <a:ext cx="2567864" cy="2240280"/>
          </a:xfrm>
          <a:prstGeom prst="roundRect">
            <a:avLst>
              <a:gd name="adj" fmla="val 4898"/>
            </a:avLst>
          </a:prstGeom>
          <a:solidFill>
            <a:schemeClr val="bg2"/>
          </a:solidFill>
          <a:ln/>
        </p:spPr>
      </p:sp>
      <p:sp>
        <p:nvSpPr>
          <p:cNvPr id="16" name="Shape 12"/>
          <p:cNvSpPr/>
          <p:nvPr/>
        </p:nvSpPr>
        <p:spPr>
          <a:xfrm>
            <a:off x="6507328" y="3337560"/>
            <a:ext cx="457200" cy="457200"/>
          </a:xfrm>
          <a:prstGeom prst="ellipse">
            <a:avLst/>
          </a:prstGeom>
          <a:solidFill>
            <a:schemeClr val="bg1"/>
          </a:solidFill>
          <a:ln/>
        </p:spPr>
      </p:sp>
      <p:pic>
        <p:nvPicPr>
          <p:cNvPr id="17" name="Image 2" descr="Icon">    </p:cNvPr>
          <p:cNvPicPr>
            <a:picLocks noChangeAspect="1"/>
          </p:cNvPicPr>
          <p:nvPr/>
        </p:nvPicPr>
        <p:blipFill>
          <a:blip r:embed="rId3"/>
          <a:stretch>
            <a:fillRect/>
          </a:stretch>
        </p:blipFill>
        <p:spPr>
          <a:xfrm>
            <a:off x="6621628" y="3451860"/>
            <a:ext cx="228600" cy="228600"/>
          </a:xfrm>
          <a:prstGeom prst="rect">
            <a:avLst/>
          </a:prstGeom>
        </p:spPr>
      </p:pic>
      <p:sp>
        <p:nvSpPr>
          <p:cNvPr id="18" name="Text 13"/>
          <p:cNvSpPr txBox="1"/>
          <p:nvPr/>
        </p:nvSpPr>
        <p:spPr>
          <a:xfrm>
            <a:off x="6507328" y="3959352"/>
            <a:ext cx="2019224" cy="310896"/>
          </a:xfrm>
          <a:prstGeom prst="rect">
            <a:avLst/>
          </a:prstGeom>
          <a:noFill/>
          <a:ln/>
        </p:spPr>
        <p:txBody>
          <a:bodyPr wrap="square" lIns="0" tIns="0" rIns="0" bIns="0" rtlCol="0" anchor="t"/>
          <a:lstStyle/>
          <a:p>
            <a:pPr indent="0" marL="0">
              <a:buNone/>
            </a:pPr>
            <a:r>
              <a:rPr lang="en-US" sz="1600" b="1" dirty="0">
                <a:solidFill>
                  <a:schemeClr val="tx1"/>
                </a:solidFill>
              </a:rPr>
              <a:t>Resilient at scale</a:t>
            </a:r>
            <a:endParaRPr lang="en-US" sz="1600" dirty="0"/>
          </a:p>
        </p:txBody>
      </p:sp>
      <p:sp>
        <p:nvSpPr>
          <p:cNvPr id="19" name="Text 14"/>
          <p:cNvSpPr txBox="1"/>
          <p:nvPr/>
        </p:nvSpPr>
        <p:spPr>
          <a:xfrm>
            <a:off x="6507328" y="4306824"/>
            <a:ext cx="2019224" cy="868680"/>
          </a:xfrm>
          <a:prstGeom prst="rect">
            <a:avLst/>
          </a:prstGeom>
          <a:noFill/>
          <a:ln/>
        </p:spPr>
        <p:txBody>
          <a:bodyPr wrap="square" lIns="0" tIns="0" rIns="0" bIns="0" rtlCol="0" anchor="t"/>
          <a:lstStyle/>
          <a:p>
            <a:pPr indent="0" marL="0">
              <a:buNone/>
            </a:pPr>
            <a:r>
              <a:rPr lang="en-US" sz="1400" dirty="0">
                <a:solidFill>
                  <a:schemeClr val="accent2"/>
                </a:solidFill>
              </a:rPr>
              <a:t>Tested on 150-file batches with automated recovery and advisory locks.</a:t>
            </a:r>
            <a:endParaRPr lang="en-US" sz="1400" dirty="0"/>
          </a:p>
        </p:txBody>
      </p:sp>
      <p:sp>
        <p:nvSpPr>
          <p:cNvPr id="20" name="Shape 15"/>
          <p:cNvSpPr/>
          <p:nvPr/>
        </p:nvSpPr>
        <p:spPr>
          <a:xfrm>
            <a:off x="9075191" y="3063240"/>
            <a:ext cx="2567864" cy="2240280"/>
          </a:xfrm>
          <a:prstGeom prst="roundRect">
            <a:avLst>
              <a:gd name="adj" fmla="val 4898"/>
            </a:avLst>
          </a:prstGeom>
          <a:solidFill>
            <a:schemeClr val="bg2"/>
          </a:solidFill>
          <a:ln/>
        </p:spPr>
      </p:sp>
      <p:sp>
        <p:nvSpPr>
          <p:cNvPr id="21" name="Shape 16"/>
          <p:cNvSpPr/>
          <p:nvPr/>
        </p:nvSpPr>
        <p:spPr>
          <a:xfrm>
            <a:off x="9349511" y="3337560"/>
            <a:ext cx="457200" cy="457200"/>
          </a:xfrm>
          <a:prstGeom prst="ellipse">
            <a:avLst/>
          </a:prstGeom>
          <a:solidFill>
            <a:schemeClr val="bg1"/>
          </a:solidFill>
          <a:ln/>
        </p:spPr>
      </p:sp>
      <p:pic>
        <p:nvPicPr>
          <p:cNvPr id="22" name="Image 3" descr="Icon">    </p:cNvPr>
          <p:cNvPicPr>
            <a:picLocks noChangeAspect="1"/>
          </p:cNvPicPr>
          <p:nvPr/>
        </p:nvPicPr>
        <p:blipFill>
          <a:blip r:embed="rId4"/>
          <a:stretch>
            <a:fillRect/>
          </a:stretch>
        </p:blipFill>
        <p:spPr>
          <a:xfrm>
            <a:off x="9463811" y="3451860"/>
            <a:ext cx="228600" cy="228600"/>
          </a:xfrm>
          <a:prstGeom prst="rect">
            <a:avLst/>
          </a:prstGeom>
        </p:spPr>
      </p:pic>
      <p:sp>
        <p:nvSpPr>
          <p:cNvPr id="23" name="Text 17"/>
          <p:cNvSpPr txBox="1"/>
          <p:nvPr/>
        </p:nvSpPr>
        <p:spPr>
          <a:xfrm>
            <a:off x="9349511" y="3959352"/>
            <a:ext cx="2019224" cy="310896"/>
          </a:xfrm>
          <a:prstGeom prst="rect">
            <a:avLst/>
          </a:prstGeom>
          <a:noFill/>
          <a:ln/>
        </p:spPr>
        <p:txBody>
          <a:bodyPr wrap="square" lIns="0" tIns="0" rIns="0" bIns="0" rtlCol="0" anchor="t"/>
          <a:lstStyle/>
          <a:p>
            <a:pPr indent="0" marL="0">
              <a:buNone/>
            </a:pPr>
            <a:r>
              <a:rPr lang="en-US" sz="1600" b="1" dirty="0">
                <a:solidFill>
                  <a:schemeClr val="tx1"/>
                </a:solidFill>
              </a:rPr>
              <a:t>Privacy by design</a:t>
            </a:r>
            <a:endParaRPr lang="en-US" sz="1600" dirty="0"/>
          </a:p>
        </p:txBody>
      </p:sp>
      <p:sp>
        <p:nvSpPr>
          <p:cNvPr id="24" name="Text 18"/>
          <p:cNvSpPr txBox="1"/>
          <p:nvPr/>
        </p:nvSpPr>
        <p:spPr>
          <a:xfrm>
            <a:off x="9349511" y="4306824"/>
            <a:ext cx="2019224" cy="868680"/>
          </a:xfrm>
          <a:prstGeom prst="rect">
            <a:avLst/>
          </a:prstGeom>
          <a:noFill/>
          <a:ln/>
        </p:spPr>
        <p:txBody>
          <a:bodyPr wrap="square" lIns="0" tIns="0" rIns="0" bIns="0" rtlCol="0" anchor="t"/>
          <a:lstStyle/>
          <a:p>
            <a:pPr indent="0" marL="0">
              <a:buNone/>
            </a:pPr>
            <a:r>
              <a:rPr lang="en-US" sz="1400" dirty="0">
                <a:solidFill>
                  <a:schemeClr val="accent2"/>
                </a:solidFill>
              </a:rPr>
              <a:t>Row-Level Security keeps every user’s vault strictly isolated.</a:t>
            </a:r>
            <a:endParaRPr lang="en-US" sz="1400" dirty="0"/>
          </a:p>
        </p:txBody>
      </p:sp>
      <p:sp>
        <p:nvSpPr>
          <p:cNvPr id="25" name="Shape 19"/>
          <p:cNvSpPr/>
          <p:nvPr/>
        </p:nvSpPr>
        <p:spPr>
          <a:xfrm>
            <a:off x="548640" y="5623560"/>
            <a:ext cx="11094415" cy="0"/>
          </a:xfrm>
          <a:prstGeom prst="line">
            <a:avLst/>
          </a:prstGeom>
          <a:noFill/>
          <a:ln w="9525">
            <a:solidFill>
              <a:schemeClr val="accent5"/>
            </a:solidFill>
            <a:prstDash val="solid"/>
          </a:ln>
        </p:spPr>
      </p:sp>
      <p:sp>
        <p:nvSpPr>
          <p:cNvPr id="26" name="Text 20"/>
          <p:cNvSpPr txBox="1"/>
          <p:nvPr/>
        </p:nvSpPr>
        <p:spPr>
          <a:xfrm>
            <a:off x="548640" y="5833872"/>
            <a:ext cx="5486400" cy="41148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Thank you. Questions welcome.</a:t>
            </a:r>
            <a:endParaRPr lang="en-US" sz="2200" dirty="0"/>
          </a:p>
        </p:txBody>
      </p:sp>
      <p:sp>
        <p:nvSpPr>
          <p:cNvPr id="27" name="Text 21"/>
          <p:cNvSpPr txBox="1"/>
          <p:nvPr/>
        </p:nvSpPr>
        <p:spPr>
          <a:xfrm>
            <a:off x="6156655" y="5833872"/>
            <a:ext cx="5486400" cy="411480"/>
          </a:xfrm>
          <a:prstGeom prst="rect">
            <a:avLst/>
          </a:prstGeom>
          <a:noFill/>
          <a:ln/>
        </p:spPr>
        <p:txBody>
          <a:bodyPr wrap="square" lIns="0" tIns="0" rIns="0" bIns="0" rtlCol="0" anchor="ctr"/>
          <a:lstStyle/>
          <a:p>
            <a:pPr algn="r" indent="0" marL="0">
              <a:buNone/>
            </a:pPr>
            <a:r>
              <a:rPr lang="en-US" sz="1200" dirty="0" b="1">
                <a:solidFill>
                  <a:schemeClr val="accent2"/>
                </a:solidFill>
              </a:rPr>
              <a:t>Jitendar (Team Lead)  ·  Kaushal Verma  ·  Vishal</a:t>
            </a:r>
            <a:endParaRPr lang="en-US" sz="1200" dirty="0"/>
          </a:p>
          <a:p>
            <a:pPr algn="r"/>
            <a:r>
              <a:rPr sz="1050">
                <a:solidFill>
                  <a:schemeClr val="accent2"/>
                </a:solidFill>
              </a:rPr>
              <a:t>Roll: 25001011024 (IT)  ·  25001011027 (IT)  ·  25001015070 (ENC)</a:t>
            </a:r>
          </a:p>
          <a:p>
            <a:pPr algn="r"/>
            <a:r>
              <a:rPr sz="1050">
                <a:solidFill>
                  <a:schemeClr val="accent2"/>
                </a:solidFill>
              </a:rPr>
              <a:t>J.C. Bose University of Science and Technology, YMCA</a:t>
            </a:r>
          </a:p>
        </p:txBody>
      </p:sp>
    </p:spTree>
  </p:cSld>
  <p:clrMapOvr>
    <a:masterClrMapping/>
  </p:clrMapOvr>
</p:sld>
</file>

<file path=ppt/theme/theme1.xml><?xml version="1.0" encoding="utf-8"?>
<a:theme xmlns:a="http://schemas.openxmlformats.org/drawingml/2006/main" name="FileMind">
  <a:themeElements>
    <a:clrScheme name="FileMind">
      <a:dk1>
        <a:srgbClr val="14171C"/>
      </a:dk1>
      <a:lt1>
        <a:srgbClr val="FFFFFF"/>
      </a:lt1>
      <a:dk2>
        <a:srgbClr val="0E1116"/>
      </a:dk2>
      <a:lt2>
        <a:srgbClr val="F2F4F7"/>
      </a:lt2>
      <a:accent1>
        <a:srgbClr val="FFC233"/>
      </a:accent1>
      <a:accent2>
        <a:srgbClr val="5A6270"/>
      </a:accent2>
      <a:accent3>
        <a:srgbClr val="8F5F00"/>
      </a:accent3>
      <a:accent4>
        <a:srgbClr val="252B36"/>
      </a:accent4>
      <a:accent5>
        <a:srgbClr val="DDE1E6"/>
      </a:accent5>
      <a:accent6>
        <a:srgbClr val="A0A8B6"/>
      </a:accent6>
      <a:hlink>
        <a:srgbClr val="8F5F00"/>
      </a:hlink>
      <a:folHlink>
        <a:srgbClr val="5A6270"/>
      </a:folHlink>
    </a:clrScheme>
    <a:fontScheme name="FileMin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FileMind: AI-Powered PDF Vault &amp; Retrieval Engine</dc:title>
  <dc:subject>PptxGenJS Presentation</dc:subject>
  <dc:creator>FileMind Team</dc:creator>
  <cp:lastModifiedBy>FileMind Team</cp:lastModifiedBy>
  <cp:revision>1</cp:revision>
  <dcterms:created xsi:type="dcterms:W3CDTF">2026-10-24T21:27:52Z</dcterms:created>
  <dcterms:modified xsi:type="dcterms:W3CDTF">2026-10-24T21:27:52Z</dcterms:modified>
</cp:coreProperties>
</file>